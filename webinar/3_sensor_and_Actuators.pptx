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60" r:id="rId2"/>
    <p:sldId id="261" r:id="rId3"/>
    <p:sldId id="268" r:id="rId4"/>
    <p:sldId id="273" r:id="rId5"/>
    <p:sldId id="269" r:id="rId6"/>
    <p:sldId id="270" r:id="rId7"/>
    <p:sldId id="271" r:id="rId8"/>
    <p:sldId id="272" r:id="rId9"/>
    <p:sldId id="274" r:id="rId10"/>
    <p:sldId id="275" r:id="rId11"/>
    <p:sldId id="276" r:id="rId12"/>
    <p:sldId id="277" r:id="rId13"/>
    <p:sldId id="278" r:id="rId14"/>
    <p:sldId id="279" r:id="rId15"/>
    <p:sldId id="280" r:id="rId16"/>
    <p:sldId id="284" r:id="rId17"/>
    <p:sldId id="262" r:id="rId18"/>
    <p:sldId id="281" r:id="rId19"/>
    <p:sldId id="282" r:id="rId20"/>
    <p:sldId id="263" r:id="rId21"/>
    <p:sldId id="283" r:id="rId22"/>
    <p:sldId id="285" r:id="rId23"/>
    <p:sldId id="286" r:id="rId24"/>
    <p:sldId id="288" r:id="rId25"/>
    <p:sldId id="289" r:id="rId26"/>
    <p:sldId id="292" r:id="rId27"/>
    <p:sldId id="290" r:id="rId28"/>
    <p:sldId id="291"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sorterViewPr>
    <p:cViewPr varScale="1">
      <p:scale>
        <a:sx n="100" d="100"/>
        <a:sy n="100" d="100"/>
      </p:scale>
      <p:origin x="0" y="-801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75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9/3/2020</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9/3/2020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9/3/2020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9/3/2020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9/3/2020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9/3/2020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9/3/2020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9/3/2020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9/3/2020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9/3/2020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9/3/2020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9/3/2020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9/3/2020</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2" Type="http://schemas.openxmlformats.org/officeDocument/2006/relationships/hyperlink" Target="http://www.polytechnichub.com/what-is-thermocouple/" TargetMode="Externa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jpe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jpe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hyperlink" Target="http://www.esp32learning.com/code/esp32-and-mlx90614-infrared-thermometer-example.php" TargetMode="Externa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4.jpeg"/><Relationship Id="rId7" Type="http://schemas.openxmlformats.org/officeDocument/2006/relationships/image" Target="../media/image21.jpeg"/><Relationship Id="rId2" Type="http://schemas.openxmlformats.org/officeDocument/2006/relationships/image" Target="../media/image13.jpeg"/><Relationship Id="rId1" Type="http://schemas.openxmlformats.org/officeDocument/2006/relationships/slideLayout" Target="../slideLayouts/slideLayout6.xml"/><Relationship Id="rId6" Type="http://schemas.openxmlformats.org/officeDocument/2006/relationships/image" Target="../media/image20.jpeg"/><Relationship Id="rId5" Type="http://schemas.openxmlformats.org/officeDocument/2006/relationships/image" Target="../media/image19.pn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0.jpeg"/><Relationship Id="rId1" Type="http://schemas.openxmlformats.org/officeDocument/2006/relationships/slideLayout" Target="../slideLayouts/slideLayout6.xml"/><Relationship Id="rId5" Type="http://schemas.openxmlformats.org/officeDocument/2006/relationships/image" Target="../media/image23.png"/><Relationship Id="rId4" Type="http://schemas.openxmlformats.org/officeDocument/2006/relationships/image" Target="../media/image14.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22.jpeg"/><Relationship Id="rId1" Type="http://schemas.openxmlformats.org/officeDocument/2006/relationships/slideLayout" Target="../slideLayouts/slideLayout6.xml"/><Relationship Id="rId5" Type="http://schemas.openxmlformats.org/officeDocument/2006/relationships/image" Target="../media/image23.png"/><Relationship Id="rId4" Type="http://schemas.openxmlformats.org/officeDocument/2006/relationships/image" Target="../media/image14.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347E9-C92F-4AAB-9ACB-46499099CF0A}"/>
              </a:ext>
            </a:extLst>
          </p:cNvPr>
          <p:cNvSpPr>
            <a:spLocks noGrp="1"/>
          </p:cNvSpPr>
          <p:nvPr>
            <p:ph type="ctrTitle"/>
          </p:nvPr>
        </p:nvSpPr>
        <p:spPr>
          <a:xfrm>
            <a:off x="2048702" y="1917494"/>
            <a:ext cx="8791575" cy="2387600"/>
          </a:xfrm>
        </p:spPr>
        <p:txBody>
          <a:bodyPr/>
          <a:lstStyle/>
          <a:p>
            <a:r>
              <a:rPr lang="en-IN" sz="4800" dirty="0"/>
              <a:t>Introduction to Sensors &amp; Actuators  for IoT</a:t>
            </a:r>
            <a:br>
              <a:rPr lang="en-IN" sz="4800" dirty="0"/>
            </a:br>
            <a:endParaRPr lang="en-IN" dirty="0"/>
          </a:p>
        </p:txBody>
      </p:sp>
    </p:spTree>
    <p:extLst>
      <p:ext uri="{BB962C8B-B14F-4D97-AF65-F5344CB8AC3E}">
        <p14:creationId xmlns:p14="http://schemas.microsoft.com/office/powerpoint/2010/main" val="18161956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1E351-A049-4500-B46E-D1136A93DBEA}"/>
              </a:ext>
            </a:extLst>
          </p:cNvPr>
          <p:cNvSpPr>
            <a:spLocks noGrp="1"/>
          </p:cNvSpPr>
          <p:nvPr>
            <p:ph type="title"/>
          </p:nvPr>
        </p:nvSpPr>
        <p:spPr>
          <a:xfrm>
            <a:off x="1141413" y="618518"/>
            <a:ext cx="9905998" cy="839221"/>
          </a:xfrm>
        </p:spPr>
        <p:txBody>
          <a:bodyPr/>
          <a:lstStyle/>
          <a:p>
            <a:r>
              <a:rPr lang="en-US" dirty="0"/>
              <a:t>What are sensors </a:t>
            </a:r>
            <a:endParaRPr lang="en-IN" dirty="0"/>
          </a:p>
        </p:txBody>
      </p:sp>
      <p:sp>
        <p:nvSpPr>
          <p:cNvPr id="3" name="TextBox 2">
            <a:extLst>
              <a:ext uri="{FF2B5EF4-FFF2-40B4-BE49-F238E27FC236}">
                <a16:creationId xmlns:a16="http://schemas.microsoft.com/office/drawing/2014/main" id="{1E19A8F2-D9A5-42BD-9DDC-26F812E79313}"/>
              </a:ext>
            </a:extLst>
          </p:cNvPr>
          <p:cNvSpPr txBox="1"/>
          <p:nvPr/>
        </p:nvSpPr>
        <p:spPr>
          <a:xfrm>
            <a:off x="1338470" y="1636693"/>
            <a:ext cx="9024730" cy="3046988"/>
          </a:xfrm>
          <a:prstGeom prst="rect">
            <a:avLst/>
          </a:prstGeom>
          <a:noFill/>
          <a:ln>
            <a:solidFill>
              <a:srgbClr val="FFFF00"/>
            </a:solidFill>
          </a:ln>
        </p:spPr>
        <p:txBody>
          <a:bodyPr wrap="square" rtlCol="0">
            <a:spAutoFit/>
          </a:bodyPr>
          <a:lstStyle/>
          <a:p>
            <a:r>
              <a:rPr lang="en-US" sz="3200" dirty="0"/>
              <a:t>A  Sensor is a device that detect a change in the surrounding and transform it into another form (Say into an electrical pulse, or an action). However it should in no way impact the environment and change the change the process which is causing the temperature</a:t>
            </a:r>
            <a:endParaRPr lang="en-IN" sz="3200" dirty="0"/>
          </a:p>
        </p:txBody>
      </p:sp>
      <p:sp>
        <p:nvSpPr>
          <p:cNvPr id="4" name="TextBox 3">
            <a:extLst>
              <a:ext uri="{FF2B5EF4-FFF2-40B4-BE49-F238E27FC236}">
                <a16:creationId xmlns:a16="http://schemas.microsoft.com/office/drawing/2014/main" id="{F6425517-B7B6-4769-A927-894667531705}"/>
              </a:ext>
            </a:extLst>
          </p:cNvPr>
          <p:cNvSpPr txBox="1"/>
          <p:nvPr/>
        </p:nvSpPr>
        <p:spPr>
          <a:xfrm>
            <a:off x="1338470" y="4902342"/>
            <a:ext cx="9024730" cy="954107"/>
          </a:xfrm>
          <a:prstGeom prst="rect">
            <a:avLst/>
          </a:prstGeom>
          <a:noFill/>
          <a:ln>
            <a:solidFill>
              <a:srgbClr val="FFFF00"/>
            </a:solidFill>
          </a:ln>
        </p:spPr>
        <p:txBody>
          <a:bodyPr wrap="square" rtlCol="0">
            <a:spAutoFit/>
          </a:bodyPr>
          <a:lstStyle/>
          <a:p>
            <a:r>
              <a:rPr lang="en-US" sz="2800" dirty="0"/>
              <a:t>A sensor can  be electronic, mechanical, electrical or anything…</a:t>
            </a:r>
            <a:endParaRPr lang="en-IN" sz="2800" dirty="0"/>
          </a:p>
        </p:txBody>
      </p:sp>
    </p:spTree>
    <p:extLst>
      <p:ext uri="{BB962C8B-B14F-4D97-AF65-F5344CB8AC3E}">
        <p14:creationId xmlns:p14="http://schemas.microsoft.com/office/powerpoint/2010/main" val="15506216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8AA9E-FAFF-4FCC-A15B-7B7B50528313}"/>
              </a:ext>
            </a:extLst>
          </p:cNvPr>
          <p:cNvSpPr>
            <a:spLocks noGrp="1"/>
          </p:cNvSpPr>
          <p:nvPr>
            <p:ph type="title"/>
          </p:nvPr>
        </p:nvSpPr>
        <p:spPr>
          <a:xfrm>
            <a:off x="1141413" y="291548"/>
            <a:ext cx="9905998" cy="927652"/>
          </a:xfrm>
        </p:spPr>
        <p:txBody>
          <a:bodyPr/>
          <a:lstStyle/>
          <a:p>
            <a:r>
              <a:rPr lang="en-US" dirty="0"/>
              <a:t>what are sensor for IoT</a:t>
            </a:r>
            <a:endParaRPr lang="en-IN" dirty="0"/>
          </a:p>
        </p:txBody>
      </p:sp>
      <p:sp>
        <p:nvSpPr>
          <p:cNvPr id="4" name="TextBox 3">
            <a:extLst>
              <a:ext uri="{FF2B5EF4-FFF2-40B4-BE49-F238E27FC236}">
                <a16:creationId xmlns:a16="http://schemas.microsoft.com/office/drawing/2014/main" id="{E4C58AC8-B039-4CB3-BF47-398192DC7CCB}"/>
              </a:ext>
            </a:extLst>
          </p:cNvPr>
          <p:cNvSpPr txBox="1"/>
          <p:nvPr/>
        </p:nvSpPr>
        <p:spPr>
          <a:xfrm>
            <a:off x="1141413" y="1311966"/>
            <a:ext cx="9024730" cy="1569660"/>
          </a:xfrm>
          <a:prstGeom prst="rect">
            <a:avLst/>
          </a:prstGeom>
          <a:noFill/>
          <a:ln>
            <a:solidFill>
              <a:srgbClr val="FFFF00"/>
            </a:solidFill>
          </a:ln>
        </p:spPr>
        <p:txBody>
          <a:bodyPr wrap="square" rtlCol="0">
            <a:spAutoFit/>
          </a:bodyPr>
          <a:lstStyle/>
          <a:p>
            <a:r>
              <a:rPr lang="en-US" sz="3200" dirty="0"/>
              <a:t>A  Sensor that can  measure the change in environment and transform into electrical signal that represent the measurement.</a:t>
            </a:r>
            <a:endParaRPr lang="en-IN" sz="3200" dirty="0"/>
          </a:p>
        </p:txBody>
      </p:sp>
      <p:sp>
        <p:nvSpPr>
          <p:cNvPr id="5" name="TextBox 4">
            <a:extLst>
              <a:ext uri="{FF2B5EF4-FFF2-40B4-BE49-F238E27FC236}">
                <a16:creationId xmlns:a16="http://schemas.microsoft.com/office/drawing/2014/main" id="{814809DD-C0C7-41EA-A0E8-685563F243EE}"/>
              </a:ext>
            </a:extLst>
          </p:cNvPr>
          <p:cNvSpPr txBox="1"/>
          <p:nvPr/>
        </p:nvSpPr>
        <p:spPr>
          <a:xfrm>
            <a:off x="1141414" y="3110758"/>
            <a:ext cx="9024730" cy="1292662"/>
          </a:xfrm>
          <a:prstGeom prst="rect">
            <a:avLst/>
          </a:prstGeom>
          <a:noFill/>
          <a:ln>
            <a:solidFill>
              <a:srgbClr val="FFFF00"/>
            </a:solidFill>
          </a:ln>
        </p:spPr>
        <p:txBody>
          <a:bodyPr wrap="square" rtlCol="0">
            <a:spAutoFit/>
          </a:bodyPr>
          <a:lstStyle/>
          <a:p>
            <a:r>
              <a:rPr lang="en-US" dirty="0"/>
              <a:t>Example: </a:t>
            </a:r>
          </a:p>
          <a:p>
            <a:r>
              <a:rPr lang="en-US" sz="2000" dirty="0"/>
              <a:t>A temperature sensor can measure the current temperature in the room. Or the temperature  of the liquid in which it is dipped or Temperature of the surface which is in contact.</a:t>
            </a:r>
            <a:endParaRPr lang="en-IN" sz="2000" dirty="0"/>
          </a:p>
        </p:txBody>
      </p:sp>
      <p:sp>
        <p:nvSpPr>
          <p:cNvPr id="7" name="TextBox 6">
            <a:extLst>
              <a:ext uri="{FF2B5EF4-FFF2-40B4-BE49-F238E27FC236}">
                <a16:creationId xmlns:a16="http://schemas.microsoft.com/office/drawing/2014/main" id="{2F2A5C69-3F42-4E8A-A0FD-E9654CFA7F87}"/>
              </a:ext>
            </a:extLst>
          </p:cNvPr>
          <p:cNvSpPr txBox="1"/>
          <p:nvPr/>
        </p:nvSpPr>
        <p:spPr>
          <a:xfrm>
            <a:off x="1141413" y="4761204"/>
            <a:ext cx="9024730" cy="1569660"/>
          </a:xfrm>
          <a:prstGeom prst="rect">
            <a:avLst/>
          </a:prstGeom>
          <a:noFill/>
          <a:ln>
            <a:solidFill>
              <a:srgbClr val="FFFF00"/>
            </a:solidFill>
          </a:ln>
        </p:spPr>
        <p:txBody>
          <a:bodyPr wrap="square" rtlCol="0">
            <a:spAutoFit/>
          </a:bodyPr>
          <a:lstStyle/>
          <a:p>
            <a:r>
              <a:rPr lang="en-US" sz="2400" dirty="0"/>
              <a:t>A  Sensor is a device that detect a change in the surrounding and transform it into another form (Say into an electrical pulse, or an action). However a sensor should in no way impact the environment and change or influence  the process which is causing the change.</a:t>
            </a:r>
            <a:endParaRPr lang="en-IN" sz="2400" dirty="0"/>
          </a:p>
        </p:txBody>
      </p:sp>
    </p:spTree>
    <p:extLst>
      <p:ext uri="{BB962C8B-B14F-4D97-AF65-F5344CB8AC3E}">
        <p14:creationId xmlns:p14="http://schemas.microsoft.com/office/powerpoint/2010/main" val="3276256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C6D1-6441-4B64-8455-28713D6882FA}"/>
              </a:ext>
            </a:extLst>
          </p:cNvPr>
          <p:cNvSpPr>
            <a:spLocks noGrp="1"/>
          </p:cNvSpPr>
          <p:nvPr>
            <p:ph type="title"/>
          </p:nvPr>
        </p:nvSpPr>
        <p:spPr>
          <a:xfrm>
            <a:off x="1141456" y="609600"/>
            <a:ext cx="9905955" cy="2623930"/>
          </a:xfrm>
        </p:spPr>
        <p:txBody>
          <a:bodyPr/>
          <a:lstStyle/>
          <a:p>
            <a:r>
              <a:rPr lang="en-US" dirty="0"/>
              <a:t>Let us take the design of simple temperature sensor take the discussion forward</a:t>
            </a:r>
            <a:endParaRPr lang="en-IN" dirty="0"/>
          </a:p>
        </p:txBody>
      </p:sp>
      <p:pic>
        <p:nvPicPr>
          <p:cNvPr id="2050" name="Picture 2" descr="Mercury Thermometer Fahrenheit Images, Stock Photos &amp; Vectors ...">
            <a:extLst>
              <a:ext uri="{FF2B5EF4-FFF2-40B4-BE49-F238E27FC236}">
                <a16:creationId xmlns:a16="http://schemas.microsoft.com/office/drawing/2014/main" id="{58EDD959-E996-4939-8760-C9259C03AC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1334" y="3233529"/>
            <a:ext cx="7972839" cy="30664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98499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7651C-61A7-4739-8CBE-18012C3487BD}"/>
              </a:ext>
            </a:extLst>
          </p:cNvPr>
          <p:cNvSpPr>
            <a:spLocks noGrp="1"/>
          </p:cNvSpPr>
          <p:nvPr>
            <p:ph type="title"/>
          </p:nvPr>
        </p:nvSpPr>
        <p:spPr>
          <a:xfrm>
            <a:off x="1143001" y="234205"/>
            <a:ext cx="9905998" cy="627186"/>
          </a:xfrm>
        </p:spPr>
        <p:txBody>
          <a:bodyPr/>
          <a:lstStyle/>
          <a:p>
            <a:r>
              <a:rPr lang="en-US" dirty="0"/>
              <a:t>Background of sensors</a:t>
            </a:r>
            <a:endParaRPr lang="en-IN" dirty="0"/>
          </a:p>
        </p:txBody>
      </p:sp>
      <p:sp>
        <p:nvSpPr>
          <p:cNvPr id="4" name="TextBox 3">
            <a:extLst>
              <a:ext uri="{FF2B5EF4-FFF2-40B4-BE49-F238E27FC236}">
                <a16:creationId xmlns:a16="http://schemas.microsoft.com/office/drawing/2014/main" id="{A7998A75-49A4-4F04-9463-CB3FFA3A5201}"/>
              </a:ext>
            </a:extLst>
          </p:cNvPr>
          <p:cNvSpPr txBox="1"/>
          <p:nvPr/>
        </p:nvSpPr>
        <p:spPr>
          <a:xfrm>
            <a:off x="1143001" y="1169865"/>
            <a:ext cx="9024730" cy="1200329"/>
          </a:xfrm>
          <a:prstGeom prst="rect">
            <a:avLst/>
          </a:prstGeom>
          <a:noFill/>
          <a:ln>
            <a:solidFill>
              <a:srgbClr val="FFFF00"/>
            </a:solidFill>
          </a:ln>
        </p:spPr>
        <p:txBody>
          <a:bodyPr wrap="square" rtlCol="0">
            <a:spAutoFit/>
          </a:bodyPr>
          <a:lstStyle/>
          <a:p>
            <a:r>
              <a:rPr lang="en-US" sz="2400" dirty="0"/>
              <a:t>Sensors existed much before days of electronics and  computers. Those days they  played a dual role of taking the measurement as well turning that into a action.</a:t>
            </a:r>
            <a:endParaRPr lang="en-IN" sz="2400" dirty="0"/>
          </a:p>
        </p:txBody>
      </p:sp>
      <p:pic>
        <p:nvPicPr>
          <p:cNvPr id="1026" name="Picture 2">
            <a:extLst>
              <a:ext uri="{FF2B5EF4-FFF2-40B4-BE49-F238E27FC236}">
                <a16:creationId xmlns:a16="http://schemas.microsoft.com/office/drawing/2014/main" id="{3D74DA24-FB63-4505-9587-BA432010DE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7774" y="3301599"/>
            <a:ext cx="7051141" cy="237241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08C28B2-E2FB-4854-8F40-B0397FC42D79}"/>
              </a:ext>
            </a:extLst>
          </p:cNvPr>
          <p:cNvSpPr txBox="1"/>
          <p:nvPr/>
        </p:nvSpPr>
        <p:spPr>
          <a:xfrm>
            <a:off x="927651" y="3301599"/>
            <a:ext cx="3405809" cy="1754326"/>
          </a:xfrm>
          <a:prstGeom prst="rect">
            <a:avLst/>
          </a:prstGeom>
          <a:noFill/>
          <a:ln>
            <a:solidFill>
              <a:srgbClr val="FFFF00"/>
            </a:solidFill>
          </a:ln>
        </p:spPr>
        <p:txBody>
          <a:bodyPr wrap="square" rtlCol="0">
            <a:spAutoFit/>
          </a:bodyPr>
          <a:lstStyle/>
          <a:p>
            <a:pPr algn="just"/>
            <a:r>
              <a:rPr lang="en-US" dirty="0" err="1">
                <a:latin typeface="Bookman Old Style" panose="02050604050505020204" pitchFamily="18" charset="0"/>
              </a:rPr>
              <a:t>Bimetalic</a:t>
            </a:r>
            <a:r>
              <a:rPr lang="en-US" dirty="0">
                <a:latin typeface="Bookman Old Style" panose="02050604050505020204" pitchFamily="18" charset="0"/>
              </a:rPr>
              <a:t> stirp used in </a:t>
            </a:r>
            <a:r>
              <a:rPr lang="en-US" dirty="0" err="1">
                <a:latin typeface="Bookman Old Style" panose="02050604050505020204" pitchFamily="18" charset="0"/>
              </a:rPr>
              <a:t>tradtional</a:t>
            </a:r>
            <a:r>
              <a:rPr lang="en-US" dirty="0">
                <a:latin typeface="Bookman Old Style" panose="02050604050505020204" pitchFamily="18" charset="0"/>
              </a:rPr>
              <a:t> iron boxes are a good example of mechanical sensor. This was heavily used in many equipment for temperature control</a:t>
            </a:r>
            <a:endParaRPr lang="en-IN" dirty="0">
              <a:latin typeface="Bookman Old Style" panose="02050604050505020204" pitchFamily="18" charset="0"/>
            </a:endParaRPr>
          </a:p>
        </p:txBody>
      </p:sp>
    </p:spTree>
    <p:extLst>
      <p:ext uri="{BB962C8B-B14F-4D97-AF65-F5344CB8AC3E}">
        <p14:creationId xmlns:p14="http://schemas.microsoft.com/office/powerpoint/2010/main" val="19058617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120B49-FBFB-4E07-A348-BEF38F250C30}"/>
              </a:ext>
            </a:extLst>
          </p:cNvPr>
          <p:cNvSpPr txBox="1"/>
          <p:nvPr/>
        </p:nvSpPr>
        <p:spPr>
          <a:xfrm>
            <a:off x="1014835" y="604490"/>
            <a:ext cx="9918207" cy="923330"/>
          </a:xfrm>
          <a:prstGeom prst="rect">
            <a:avLst/>
          </a:prstGeom>
          <a:noFill/>
        </p:spPr>
        <p:txBody>
          <a:bodyPr wrap="square" rtlCol="0">
            <a:spAutoFit/>
          </a:bodyPr>
          <a:lstStyle/>
          <a:p>
            <a:r>
              <a:rPr lang="en-US" dirty="0" err="1"/>
              <a:t>Bimetaloc</a:t>
            </a:r>
            <a:r>
              <a:rPr lang="en-US" dirty="0"/>
              <a:t> strip was invented by…  John Harrison, an eighteenth-century clockmaker who made it for his third marine chronometer (H3) of 1759 to compensate for temperature-induced changes in the balance spring.</a:t>
            </a:r>
          </a:p>
        </p:txBody>
      </p:sp>
      <p:pic>
        <p:nvPicPr>
          <p:cNvPr id="2050" name="Picture 2">
            <a:extLst>
              <a:ext uri="{FF2B5EF4-FFF2-40B4-BE49-F238E27FC236}">
                <a16:creationId xmlns:a16="http://schemas.microsoft.com/office/drawing/2014/main" id="{848C315E-D55F-438C-9F8F-1964383221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7616" y="2319985"/>
            <a:ext cx="5645426" cy="376545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CCCBF68-DCB6-4D56-8D34-DB7AE35D6CDC}"/>
              </a:ext>
            </a:extLst>
          </p:cNvPr>
          <p:cNvSpPr txBox="1"/>
          <p:nvPr/>
        </p:nvSpPr>
        <p:spPr>
          <a:xfrm>
            <a:off x="1646584" y="4771637"/>
            <a:ext cx="3375990" cy="1200329"/>
          </a:xfrm>
          <a:prstGeom prst="rect">
            <a:avLst/>
          </a:prstGeom>
          <a:noFill/>
        </p:spPr>
        <p:txBody>
          <a:bodyPr wrap="square">
            <a:spAutoFit/>
          </a:bodyPr>
          <a:lstStyle/>
          <a:p>
            <a:r>
              <a:rPr lang="en-IN" dirty="0"/>
              <a:t>Harrison's solution revolutionized navigation and greatly increased the safety of long-distance sea travel.</a:t>
            </a:r>
          </a:p>
        </p:txBody>
      </p:sp>
      <p:pic>
        <p:nvPicPr>
          <p:cNvPr id="2052" name="Picture 4">
            <a:extLst>
              <a:ext uri="{FF2B5EF4-FFF2-40B4-BE49-F238E27FC236}">
                <a16:creationId xmlns:a16="http://schemas.microsoft.com/office/drawing/2014/main" id="{C8C51C49-1517-4CB8-8B65-08A8EF7EBF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8958" y="2014983"/>
            <a:ext cx="2095500" cy="2619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90450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25D37-D37A-44D3-822E-61E4E3D62459}"/>
              </a:ext>
            </a:extLst>
          </p:cNvPr>
          <p:cNvSpPr>
            <a:spLocks noGrp="1"/>
          </p:cNvSpPr>
          <p:nvPr>
            <p:ph type="title"/>
          </p:nvPr>
        </p:nvSpPr>
        <p:spPr>
          <a:xfrm>
            <a:off x="1141412" y="402602"/>
            <a:ext cx="9905998" cy="746456"/>
          </a:xfrm>
        </p:spPr>
        <p:txBody>
          <a:bodyPr/>
          <a:lstStyle/>
          <a:p>
            <a:pPr algn="ctr"/>
            <a:r>
              <a:rPr lang="en-US" dirty="0"/>
              <a:t>Can we build a sensor of our own ?</a:t>
            </a:r>
            <a:endParaRPr lang="en-IN" dirty="0"/>
          </a:p>
        </p:txBody>
      </p:sp>
      <p:sp>
        <p:nvSpPr>
          <p:cNvPr id="4" name="TextBox 3">
            <a:extLst>
              <a:ext uri="{FF2B5EF4-FFF2-40B4-BE49-F238E27FC236}">
                <a16:creationId xmlns:a16="http://schemas.microsoft.com/office/drawing/2014/main" id="{065F1A44-2C88-4B0A-A3F2-EF41DF52F38C}"/>
              </a:ext>
            </a:extLst>
          </p:cNvPr>
          <p:cNvSpPr txBox="1"/>
          <p:nvPr/>
        </p:nvSpPr>
        <p:spPr>
          <a:xfrm>
            <a:off x="1141412" y="3209946"/>
            <a:ext cx="6061246" cy="3416320"/>
          </a:xfrm>
          <a:prstGeom prst="rect">
            <a:avLst/>
          </a:prstGeom>
          <a:noFill/>
          <a:ln>
            <a:solidFill>
              <a:srgbClr val="00B050"/>
            </a:solidFill>
          </a:ln>
        </p:spPr>
        <p:txBody>
          <a:bodyPr wrap="square" rtlCol="0">
            <a:spAutoFit/>
          </a:bodyPr>
          <a:lstStyle/>
          <a:p>
            <a:pPr algn="just"/>
            <a:endParaRPr lang="en-US" dirty="0"/>
          </a:p>
          <a:p>
            <a:pPr algn="just"/>
            <a:r>
              <a:rPr lang="en-US" dirty="0"/>
              <a:t>Many of the sensors which were used in industries where manually build. Semiconductor sensors which arrived lately has  some advantages over the manually build one.</a:t>
            </a:r>
          </a:p>
          <a:p>
            <a:pPr algn="just"/>
            <a:endParaRPr lang="en-US" dirty="0"/>
          </a:p>
          <a:p>
            <a:pPr algn="just"/>
            <a:r>
              <a:rPr lang="en-US" dirty="0"/>
              <a:t>A simple temperature sensor can be build with a few meters of copper wire. Here the variation of electrical resistance in metal is used to measure temperature.</a:t>
            </a:r>
          </a:p>
          <a:p>
            <a:pPr algn="just"/>
            <a:endParaRPr lang="en-US" dirty="0"/>
          </a:p>
          <a:p>
            <a:pPr algn="just"/>
            <a:r>
              <a:rPr lang="en-US" dirty="0"/>
              <a:t>Resistance thermometers, are build using this kind of sensor. (RTD Resistance Temperature Detectors)</a:t>
            </a:r>
          </a:p>
          <a:p>
            <a:pPr algn="just"/>
            <a:endParaRPr lang="en-IN" dirty="0"/>
          </a:p>
        </p:txBody>
      </p:sp>
      <p:pic>
        <p:nvPicPr>
          <p:cNvPr id="3074" name="Picture 2" descr="values for conductors at any temperature other than the standard temperature (usually specified at 20 Celsius) on the specific resistance table must be determined through yet another formula">
            <a:extLst>
              <a:ext uri="{FF2B5EF4-FFF2-40B4-BE49-F238E27FC236}">
                <a16:creationId xmlns:a16="http://schemas.microsoft.com/office/drawing/2014/main" id="{E66FDC4F-619E-4691-BF64-DFCFA4C109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40367" y="4081670"/>
            <a:ext cx="3622191" cy="2661201"/>
          </a:xfrm>
          <a:prstGeom prst="rect">
            <a:avLst/>
          </a:prstGeom>
          <a:noFill/>
          <a:ln>
            <a:solidFill>
              <a:srgbClr val="00B050"/>
            </a:solidFill>
          </a:ln>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85BEE8A-FD70-418B-8C47-8F6BAFF8CEA1}"/>
              </a:ext>
            </a:extLst>
          </p:cNvPr>
          <p:cNvSpPr txBox="1"/>
          <p:nvPr/>
        </p:nvSpPr>
        <p:spPr>
          <a:xfrm>
            <a:off x="765000" y="1713257"/>
            <a:ext cx="10472843" cy="707886"/>
          </a:xfrm>
          <a:prstGeom prst="rect">
            <a:avLst/>
          </a:prstGeom>
          <a:gradFill>
            <a:gsLst>
              <a:gs pos="14000">
                <a:srgbClr val="92D050"/>
              </a:gs>
              <a:gs pos="43000">
                <a:schemeClr val="accent4">
                  <a:lumMod val="89000"/>
                </a:schemeClr>
              </a:gs>
              <a:gs pos="70000">
                <a:schemeClr val="accent4">
                  <a:lumMod val="75000"/>
                </a:schemeClr>
              </a:gs>
              <a:gs pos="37000">
                <a:schemeClr val="accent4">
                  <a:lumMod val="70000"/>
                </a:schemeClr>
              </a:gs>
            </a:gsLst>
            <a:path path="circle">
              <a:fillToRect l="50000" t="50000" r="50000" b="50000"/>
            </a:path>
          </a:gradFill>
          <a:ln>
            <a:solidFill>
              <a:srgbClr val="00B050"/>
            </a:solidFill>
          </a:ln>
        </p:spPr>
        <p:txBody>
          <a:bodyPr wrap="square">
            <a:spAutoFit/>
          </a:bodyPr>
          <a:lstStyle/>
          <a:p>
            <a:pPr algn="ctr"/>
            <a:r>
              <a:rPr lang="en-US" sz="4000" dirty="0"/>
              <a:t>Yes it is possible to build sensors of your own </a:t>
            </a:r>
          </a:p>
        </p:txBody>
      </p:sp>
      <p:pic>
        <p:nvPicPr>
          <p:cNvPr id="1026" name="Picture 2" descr="Two-wire resistance thermometer">
            <a:extLst>
              <a:ext uri="{FF2B5EF4-FFF2-40B4-BE49-F238E27FC236}">
                <a16:creationId xmlns:a16="http://schemas.microsoft.com/office/drawing/2014/main" id="{5BA6DF83-A843-40ED-B886-8AC526562B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28433" y="2809585"/>
            <a:ext cx="1991968" cy="9959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93836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0F24F-3E1C-4EFF-A427-2561882B9E27}"/>
              </a:ext>
            </a:extLst>
          </p:cNvPr>
          <p:cNvSpPr>
            <a:spLocks noGrp="1"/>
          </p:cNvSpPr>
          <p:nvPr>
            <p:ph type="title"/>
          </p:nvPr>
        </p:nvSpPr>
        <p:spPr>
          <a:xfrm>
            <a:off x="1143001" y="273961"/>
            <a:ext cx="9905998" cy="931987"/>
          </a:xfrm>
        </p:spPr>
        <p:txBody>
          <a:bodyPr/>
          <a:lstStyle/>
          <a:p>
            <a:r>
              <a:rPr lang="en-US" dirty="0"/>
              <a:t>Another way to measure Temperature</a:t>
            </a:r>
            <a:endParaRPr lang="en-IN" dirty="0"/>
          </a:p>
        </p:txBody>
      </p:sp>
      <p:cxnSp>
        <p:nvCxnSpPr>
          <p:cNvPr id="4" name="Straight Connector 3">
            <a:extLst>
              <a:ext uri="{FF2B5EF4-FFF2-40B4-BE49-F238E27FC236}">
                <a16:creationId xmlns:a16="http://schemas.microsoft.com/office/drawing/2014/main" id="{624E707F-2BFA-4D3B-B4F6-A0614E10E2A0}"/>
              </a:ext>
            </a:extLst>
          </p:cNvPr>
          <p:cNvCxnSpPr>
            <a:cxnSpLocks/>
          </p:cNvCxnSpPr>
          <p:nvPr/>
        </p:nvCxnSpPr>
        <p:spPr>
          <a:xfrm flipV="1">
            <a:off x="2447778" y="2686934"/>
            <a:ext cx="1406769" cy="1406769"/>
          </a:xfrm>
          <a:prstGeom prst="line">
            <a:avLst/>
          </a:prstGeom>
          <a:ln w="7302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0B58239-1039-405E-85B7-BEB0421340FF}"/>
              </a:ext>
            </a:extLst>
          </p:cNvPr>
          <p:cNvCxnSpPr/>
          <p:nvPr/>
        </p:nvCxnSpPr>
        <p:spPr>
          <a:xfrm>
            <a:off x="2447778" y="4149974"/>
            <a:ext cx="1477108" cy="1392702"/>
          </a:xfrm>
          <a:prstGeom prst="line">
            <a:avLst/>
          </a:prstGeom>
          <a:ln w="889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1D874AA-7CE0-4301-8035-9E1068EF1D8C}"/>
              </a:ext>
            </a:extLst>
          </p:cNvPr>
          <p:cNvCxnSpPr>
            <a:cxnSpLocks/>
          </p:cNvCxnSpPr>
          <p:nvPr/>
        </p:nvCxnSpPr>
        <p:spPr>
          <a:xfrm>
            <a:off x="3854547" y="2686934"/>
            <a:ext cx="1641084" cy="0"/>
          </a:xfrm>
          <a:prstGeom prst="line">
            <a:avLst/>
          </a:prstGeom>
          <a:ln w="7302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30BFAC5-17EF-492B-B2F1-9D7A215034F4}"/>
              </a:ext>
            </a:extLst>
          </p:cNvPr>
          <p:cNvCxnSpPr>
            <a:cxnSpLocks/>
          </p:cNvCxnSpPr>
          <p:nvPr/>
        </p:nvCxnSpPr>
        <p:spPr>
          <a:xfrm>
            <a:off x="3922539" y="5540336"/>
            <a:ext cx="5062026" cy="0"/>
          </a:xfrm>
          <a:prstGeom prst="line">
            <a:avLst/>
          </a:prstGeom>
          <a:ln w="889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7417B727-261A-4AD7-8819-C23415CBE563}"/>
              </a:ext>
            </a:extLst>
          </p:cNvPr>
          <p:cNvCxnSpPr>
            <a:cxnSpLocks/>
          </p:cNvCxnSpPr>
          <p:nvPr/>
        </p:nvCxnSpPr>
        <p:spPr>
          <a:xfrm>
            <a:off x="7362238" y="2686934"/>
            <a:ext cx="1530885" cy="0"/>
          </a:xfrm>
          <a:prstGeom prst="line">
            <a:avLst/>
          </a:prstGeom>
          <a:ln w="7302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00122CB-CE8D-41AC-9C28-AE2EE4AF961A}"/>
              </a:ext>
            </a:extLst>
          </p:cNvPr>
          <p:cNvCxnSpPr>
            <a:cxnSpLocks/>
          </p:cNvCxnSpPr>
          <p:nvPr/>
        </p:nvCxnSpPr>
        <p:spPr>
          <a:xfrm>
            <a:off x="8893123" y="2686934"/>
            <a:ext cx="1456009" cy="1385670"/>
          </a:xfrm>
          <a:prstGeom prst="line">
            <a:avLst/>
          </a:prstGeom>
          <a:ln w="7302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5D38548-6667-441D-89C8-DD78245BC0C9}"/>
              </a:ext>
            </a:extLst>
          </p:cNvPr>
          <p:cNvCxnSpPr>
            <a:cxnSpLocks/>
          </p:cNvCxnSpPr>
          <p:nvPr/>
        </p:nvCxnSpPr>
        <p:spPr>
          <a:xfrm flipV="1">
            <a:off x="8984565" y="4133567"/>
            <a:ext cx="1406769" cy="1406769"/>
          </a:xfrm>
          <a:prstGeom prst="line">
            <a:avLst/>
          </a:prstGeom>
          <a:ln w="88900">
            <a:solidFill>
              <a:srgbClr val="FFFF00"/>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3EAB9BAC-3B17-44D3-AE5F-E3F49B383088}"/>
              </a:ext>
            </a:extLst>
          </p:cNvPr>
          <p:cNvPicPr>
            <a:picLocks noChangeAspect="1"/>
          </p:cNvPicPr>
          <p:nvPr/>
        </p:nvPicPr>
        <p:blipFill>
          <a:blip r:embed="rId2"/>
          <a:stretch>
            <a:fillRect/>
          </a:stretch>
        </p:blipFill>
        <p:spPr>
          <a:xfrm>
            <a:off x="5495631" y="1180734"/>
            <a:ext cx="1866607" cy="1705550"/>
          </a:xfrm>
          <a:prstGeom prst="rect">
            <a:avLst/>
          </a:prstGeom>
        </p:spPr>
      </p:pic>
      <p:sp>
        <p:nvSpPr>
          <p:cNvPr id="12" name="Oval 11">
            <a:extLst>
              <a:ext uri="{FF2B5EF4-FFF2-40B4-BE49-F238E27FC236}">
                <a16:creationId xmlns:a16="http://schemas.microsoft.com/office/drawing/2014/main" id="{E99B651E-F25B-4B51-B0DA-AE887D65655A}"/>
              </a:ext>
            </a:extLst>
          </p:cNvPr>
          <p:cNvSpPr/>
          <p:nvPr/>
        </p:nvSpPr>
        <p:spPr>
          <a:xfrm>
            <a:off x="2208628" y="3977641"/>
            <a:ext cx="309489" cy="284871"/>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3912A869-A936-48D8-9D24-A5C94D3F922D}"/>
              </a:ext>
            </a:extLst>
          </p:cNvPr>
          <p:cNvSpPr/>
          <p:nvPr/>
        </p:nvSpPr>
        <p:spPr>
          <a:xfrm>
            <a:off x="10194387" y="3987606"/>
            <a:ext cx="309489" cy="284871"/>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4" name="Picture 13">
            <a:extLst>
              <a:ext uri="{FF2B5EF4-FFF2-40B4-BE49-F238E27FC236}">
                <a16:creationId xmlns:a16="http://schemas.microsoft.com/office/drawing/2014/main" id="{2F716EDC-5E7B-4A94-8DA0-E06520E30F9D}"/>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10976"/>
                    </a14:imgEffect>
                    <a14:imgEffect>
                      <a14:saturation sat="383000"/>
                    </a14:imgEffect>
                  </a14:imgLayer>
                </a14:imgProps>
              </a:ext>
            </a:extLst>
          </a:blip>
          <a:stretch>
            <a:fillRect/>
          </a:stretch>
        </p:blipFill>
        <p:spPr>
          <a:xfrm>
            <a:off x="1970205" y="4272477"/>
            <a:ext cx="419100" cy="1828800"/>
          </a:xfrm>
          <a:prstGeom prst="rect">
            <a:avLst/>
          </a:prstGeom>
          <a:solidFill>
            <a:srgbClr val="FFFF00"/>
          </a:solidFill>
          <a:effectLst>
            <a:reflection blurRad="584200" endPos="0" dist="50800" dir="5400000" sy="-100000" algn="bl" rotWithShape="0"/>
          </a:effectLst>
        </p:spPr>
      </p:pic>
      <p:sp>
        <p:nvSpPr>
          <p:cNvPr id="15" name="TextBox 14">
            <a:extLst>
              <a:ext uri="{FF2B5EF4-FFF2-40B4-BE49-F238E27FC236}">
                <a16:creationId xmlns:a16="http://schemas.microsoft.com/office/drawing/2014/main" id="{A5069BEC-8115-464E-86E3-7F6CEE73B1AE}"/>
              </a:ext>
            </a:extLst>
          </p:cNvPr>
          <p:cNvSpPr txBox="1"/>
          <p:nvPr/>
        </p:nvSpPr>
        <p:spPr>
          <a:xfrm>
            <a:off x="2808482" y="2029485"/>
            <a:ext cx="1866607" cy="369332"/>
          </a:xfrm>
          <a:prstGeom prst="rect">
            <a:avLst/>
          </a:prstGeom>
          <a:noFill/>
        </p:spPr>
        <p:txBody>
          <a:bodyPr wrap="square" rtlCol="0">
            <a:spAutoFit/>
          </a:bodyPr>
          <a:lstStyle/>
          <a:p>
            <a:r>
              <a:rPr lang="en-US" dirty="0"/>
              <a:t>Metal Wire – A </a:t>
            </a:r>
            <a:endParaRPr lang="en-IN" dirty="0"/>
          </a:p>
        </p:txBody>
      </p:sp>
      <p:sp>
        <p:nvSpPr>
          <p:cNvPr id="16" name="TextBox 15">
            <a:extLst>
              <a:ext uri="{FF2B5EF4-FFF2-40B4-BE49-F238E27FC236}">
                <a16:creationId xmlns:a16="http://schemas.microsoft.com/office/drawing/2014/main" id="{6E691290-B623-4D0C-BF6A-7E7F68F1B845}"/>
              </a:ext>
            </a:extLst>
          </p:cNvPr>
          <p:cNvSpPr txBox="1"/>
          <p:nvPr/>
        </p:nvSpPr>
        <p:spPr>
          <a:xfrm>
            <a:off x="2989235" y="5747239"/>
            <a:ext cx="1866607" cy="369332"/>
          </a:xfrm>
          <a:prstGeom prst="rect">
            <a:avLst/>
          </a:prstGeom>
          <a:noFill/>
        </p:spPr>
        <p:txBody>
          <a:bodyPr wrap="square" rtlCol="0">
            <a:spAutoFit/>
          </a:bodyPr>
          <a:lstStyle/>
          <a:p>
            <a:r>
              <a:rPr lang="en-US" dirty="0"/>
              <a:t>Metal Wire – B </a:t>
            </a:r>
            <a:endParaRPr lang="en-IN" dirty="0"/>
          </a:p>
        </p:txBody>
      </p:sp>
      <p:sp>
        <p:nvSpPr>
          <p:cNvPr id="3" name="TextBox 2">
            <a:extLst>
              <a:ext uri="{FF2B5EF4-FFF2-40B4-BE49-F238E27FC236}">
                <a16:creationId xmlns:a16="http://schemas.microsoft.com/office/drawing/2014/main" id="{EE60FE00-3D0C-408A-B5B1-CA72B215BD95}"/>
              </a:ext>
            </a:extLst>
          </p:cNvPr>
          <p:cNvSpPr txBox="1"/>
          <p:nvPr/>
        </p:nvSpPr>
        <p:spPr>
          <a:xfrm>
            <a:off x="806695" y="3429004"/>
            <a:ext cx="1401934" cy="369332"/>
          </a:xfrm>
          <a:prstGeom prst="rect">
            <a:avLst/>
          </a:prstGeom>
          <a:noFill/>
        </p:spPr>
        <p:txBody>
          <a:bodyPr wrap="square" rtlCol="0">
            <a:spAutoFit/>
          </a:bodyPr>
          <a:lstStyle/>
          <a:p>
            <a:r>
              <a:rPr lang="en-US" b="1" dirty="0"/>
              <a:t>Hot Junction </a:t>
            </a:r>
            <a:endParaRPr lang="en-IN" b="1" dirty="0"/>
          </a:p>
        </p:txBody>
      </p:sp>
      <p:sp>
        <p:nvSpPr>
          <p:cNvPr id="18" name="TextBox 17">
            <a:extLst>
              <a:ext uri="{FF2B5EF4-FFF2-40B4-BE49-F238E27FC236}">
                <a16:creationId xmlns:a16="http://schemas.microsoft.com/office/drawing/2014/main" id="{419BFB54-8B4A-48B0-8489-E1E3976B426B}"/>
              </a:ext>
            </a:extLst>
          </p:cNvPr>
          <p:cNvSpPr txBox="1"/>
          <p:nvPr/>
        </p:nvSpPr>
        <p:spPr>
          <a:xfrm>
            <a:off x="10318653" y="3411041"/>
            <a:ext cx="1561364" cy="369332"/>
          </a:xfrm>
          <a:prstGeom prst="rect">
            <a:avLst/>
          </a:prstGeom>
          <a:noFill/>
        </p:spPr>
        <p:txBody>
          <a:bodyPr wrap="square" rtlCol="0">
            <a:spAutoFit/>
          </a:bodyPr>
          <a:lstStyle/>
          <a:p>
            <a:r>
              <a:rPr lang="en-US" b="1" dirty="0"/>
              <a:t>Cold Junction </a:t>
            </a:r>
            <a:endParaRPr lang="en-IN" b="1" dirty="0"/>
          </a:p>
        </p:txBody>
      </p:sp>
      <p:sp>
        <p:nvSpPr>
          <p:cNvPr id="20" name="TextBox 19">
            <a:extLst>
              <a:ext uri="{FF2B5EF4-FFF2-40B4-BE49-F238E27FC236}">
                <a16:creationId xmlns:a16="http://schemas.microsoft.com/office/drawing/2014/main" id="{57E809FF-989A-4C4A-9D92-18765FAB202C}"/>
              </a:ext>
            </a:extLst>
          </p:cNvPr>
          <p:cNvSpPr txBox="1"/>
          <p:nvPr/>
        </p:nvSpPr>
        <p:spPr>
          <a:xfrm>
            <a:off x="7362238" y="1294551"/>
            <a:ext cx="3388116" cy="646331"/>
          </a:xfrm>
          <a:prstGeom prst="rect">
            <a:avLst/>
          </a:prstGeom>
          <a:noFill/>
        </p:spPr>
        <p:txBody>
          <a:bodyPr wrap="square" rtlCol="0">
            <a:spAutoFit/>
          </a:bodyPr>
          <a:lstStyle/>
          <a:p>
            <a:r>
              <a:rPr lang="en-US" b="1" dirty="0"/>
              <a:t>Voltage </a:t>
            </a:r>
            <a:r>
              <a:rPr lang="en-US" b="1" dirty="0" err="1"/>
              <a:t>Proporational</a:t>
            </a:r>
            <a:r>
              <a:rPr lang="en-US" b="1" dirty="0"/>
              <a:t> to difference in Temperature </a:t>
            </a:r>
            <a:endParaRPr lang="en-IN" b="1" dirty="0"/>
          </a:p>
        </p:txBody>
      </p:sp>
    </p:spTree>
    <p:extLst>
      <p:ext uri="{BB962C8B-B14F-4D97-AF65-F5344CB8AC3E}">
        <p14:creationId xmlns:p14="http://schemas.microsoft.com/office/powerpoint/2010/main" val="41731081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2CC8F-247B-4D11-AF51-B95B7EE244A3}"/>
              </a:ext>
            </a:extLst>
          </p:cNvPr>
          <p:cNvSpPr>
            <a:spLocks noGrp="1"/>
          </p:cNvSpPr>
          <p:nvPr>
            <p:ph type="title"/>
          </p:nvPr>
        </p:nvSpPr>
        <p:spPr>
          <a:xfrm>
            <a:off x="1143001" y="293409"/>
            <a:ext cx="9905998" cy="703845"/>
          </a:xfrm>
        </p:spPr>
        <p:txBody>
          <a:bodyPr/>
          <a:lstStyle/>
          <a:p>
            <a:r>
              <a:rPr lang="en-US" dirty="0"/>
              <a:t>Comparison on RTD with Thermocouple</a:t>
            </a:r>
            <a:endParaRPr lang="en-IN" dirty="0"/>
          </a:p>
        </p:txBody>
      </p:sp>
      <p:graphicFrame>
        <p:nvGraphicFramePr>
          <p:cNvPr id="3" name="Table 3">
            <a:extLst>
              <a:ext uri="{FF2B5EF4-FFF2-40B4-BE49-F238E27FC236}">
                <a16:creationId xmlns:a16="http://schemas.microsoft.com/office/drawing/2014/main" id="{E5154B69-7A29-4FB4-9A2D-0A2BC91A8FE5}"/>
              </a:ext>
            </a:extLst>
          </p:cNvPr>
          <p:cNvGraphicFramePr>
            <a:graphicFrameLocks noGrp="1"/>
          </p:cNvGraphicFramePr>
          <p:nvPr>
            <p:extLst>
              <p:ext uri="{D42A27DB-BD31-4B8C-83A1-F6EECF244321}">
                <p14:modId xmlns:p14="http://schemas.microsoft.com/office/powerpoint/2010/main" val="3321285109"/>
              </p:ext>
            </p:extLst>
          </p:nvPr>
        </p:nvGraphicFramePr>
        <p:xfrm>
          <a:off x="847455" y="1745395"/>
          <a:ext cx="10631781" cy="4115351"/>
        </p:xfrm>
        <a:graphic>
          <a:graphicData uri="http://schemas.openxmlformats.org/drawingml/2006/table">
            <a:tbl>
              <a:tblPr firstRow="1" bandRow="1">
                <a:tableStyleId>{5C22544A-7EE6-4342-B048-85BDC9FD1C3A}</a:tableStyleId>
              </a:tblPr>
              <a:tblGrid>
                <a:gridCol w="541932">
                  <a:extLst>
                    <a:ext uri="{9D8B030D-6E8A-4147-A177-3AD203B41FA5}">
                      <a16:colId xmlns:a16="http://schemas.microsoft.com/office/drawing/2014/main" val="3974620041"/>
                    </a:ext>
                  </a:extLst>
                </a:gridCol>
                <a:gridCol w="4513943">
                  <a:extLst>
                    <a:ext uri="{9D8B030D-6E8A-4147-A177-3AD203B41FA5}">
                      <a16:colId xmlns:a16="http://schemas.microsoft.com/office/drawing/2014/main" val="2548266"/>
                    </a:ext>
                  </a:extLst>
                </a:gridCol>
                <a:gridCol w="5575906">
                  <a:extLst>
                    <a:ext uri="{9D8B030D-6E8A-4147-A177-3AD203B41FA5}">
                      <a16:colId xmlns:a16="http://schemas.microsoft.com/office/drawing/2014/main" val="4027141325"/>
                    </a:ext>
                  </a:extLst>
                </a:gridCol>
              </a:tblGrid>
              <a:tr h="547639">
                <a:tc>
                  <a:txBody>
                    <a:bodyPr/>
                    <a:lstStyle/>
                    <a:p>
                      <a:r>
                        <a:rPr lang="en-US" dirty="0"/>
                        <a:t>No</a:t>
                      </a:r>
                      <a:endParaRPr lang="en-IN" dirty="0"/>
                    </a:p>
                  </a:txBody>
                  <a:tcPr/>
                </a:tc>
                <a:tc>
                  <a:txBody>
                    <a:bodyPr/>
                    <a:lstStyle/>
                    <a:p>
                      <a:pPr algn="ctr"/>
                      <a:r>
                        <a:rPr lang="en-US" dirty="0"/>
                        <a:t>Advantages</a:t>
                      </a:r>
                      <a:endParaRPr lang="en-IN" dirty="0"/>
                    </a:p>
                  </a:txBody>
                  <a:tcPr/>
                </a:tc>
                <a:tc>
                  <a:txBody>
                    <a:bodyPr/>
                    <a:lstStyle/>
                    <a:p>
                      <a:pPr algn="ctr"/>
                      <a:r>
                        <a:rPr lang="en-US" dirty="0"/>
                        <a:t>Disadvantages</a:t>
                      </a:r>
                      <a:endParaRPr lang="en-IN" dirty="0"/>
                    </a:p>
                  </a:txBody>
                  <a:tcPr/>
                </a:tc>
                <a:extLst>
                  <a:ext uri="{0D108BD9-81ED-4DB2-BD59-A6C34878D82A}">
                    <a16:rowId xmlns:a16="http://schemas.microsoft.com/office/drawing/2014/main" val="1190470499"/>
                  </a:ext>
                </a:extLst>
              </a:tr>
              <a:tr h="668268">
                <a:tc>
                  <a:txBody>
                    <a:bodyPr/>
                    <a:lstStyle/>
                    <a:p>
                      <a:r>
                        <a:rPr lang="en-US" dirty="0"/>
                        <a:t>1</a:t>
                      </a:r>
                      <a:endParaRPr lang="en-IN" dirty="0"/>
                    </a:p>
                  </a:txBody>
                  <a:tcPr/>
                </a:tc>
                <a:tc>
                  <a:txBody>
                    <a:bodyPr/>
                    <a:lstStyle/>
                    <a:p>
                      <a:pPr fontAlgn="base"/>
                      <a:r>
                        <a:rPr lang="en-US" sz="1800" b="0" i="0" kern="1200" dirty="0">
                          <a:solidFill>
                            <a:schemeClr val="dk1"/>
                          </a:solidFill>
                          <a:effectLst/>
                          <a:latin typeface="+mn-lt"/>
                          <a:ea typeface="+mn-ea"/>
                          <a:cs typeface="+mn-cs"/>
                        </a:rPr>
                        <a:t>The </a:t>
                      </a:r>
                      <a:r>
                        <a:rPr lang="en-US" sz="1800" b="0" i="0" u="none" strike="noStrike" kern="1200" dirty="0">
                          <a:solidFill>
                            <a:schemeClr val="dk1"/>
                          </a:solidFill>
                          <a:effectLst/>
                          <a:latin typeface="+mn-lt"/>
                          <a:ea typeface="+mn-ea"/>
                          <a:cs typeface="+mn-cs"/>
                          <a:hlinkClick r:id="rId2"/>
                        </a:rPr>
                        <a:t>thermocouple</a:t>
                      </a:r>
                      <a:r>
                        <a:rPr lang="en-US" sz="1800" b="0" i="0" kern="1200" dirty="0">
                          <a:solidFill>
                            <a:schemeClr val="dk1"/>
                          </a:solidFill>
                          <a:effectLst/>
                          <a:latin typeface="+mn-lt"/>
                          <a:ea typeface="+mn-ea"/>
                          <a:cs typeface="+mn-cs"/>
                        </a:rPr>
                        <a:t> is less expensive than RTD.</a:t>
                      </a:r>
                    </a:p>
                  </a:txBody>
                  <a:tcPr/>
                </a:tc>
                <a:tc>
                  <a:txBody>
                    <a:bodyPr/>
                    <a:lstStyle/>
                    <a:p>
                      <a:r>
                        <a:rPr lang="en-US" sz="1800" b="0" i="0" kern="1200" dirty="0">
                          <a:solidFill>
                            <a:schemeClr val="dk1"/>
                          </a:solidFill>
                          <a:effectLst/>
                          <a:latin typeface="+mn-lt"/>
                          <a:ea typeface="+mn-ea"/>
                          <a:cs typeface="+mn-cs"/>
                        </a:rPr>
                        <a:t>The stray voltage pick up is possible</a:t>
                      </a:r>
                      <a:endParaRPr lang="en-IN" dirty="0"/>
                    </a:p>
                  </a:txBody>
                  <a:tcPr/>
                </a:tc>
                <a:extLst>
                  <a:ext uri="{0D108BD9-81ED-4DB2-BD59-A6C34878D82A}">
                    <a16:rowId xmlns:a16="http://schemas.microsoft.com/office/drawing/2014/main" val="452865020"/>
                  </a:ext>
                </a:extLst>
              </a:tr>
              <a:tr h="603548">
                <a:tc>
                  <a:txBody>
                    <a:bodyPr/>
                    <a:lstStyle/>
                    <a:p>
                      <a:r>
                        <a:rPr lang="en-US" dirty="0"/>
                        <a:t>2</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It has wide temperature ranges and good reproducibility, It has rugged construction</a:t>
                      </a:r>
                    </a:p>
                  </a:txBody>
                  <a:tcPr/>
                </a:tc>
                <a:tc>
                  <a:txBody>
                    <a:bodyPr/>
                    <a:lstStyle/>
                    <a:p>
                      <a:pPr fontAlgn="base"/>
                      <a:r>
                        <a:rPr lang="en-US" sz="1800" b="0" i="0" kern="1200" dirty="0">
                          <a:solidFill>
                            <a:schemeClr val="dk1"/>
                          </a:solidFill>
                          <a:effectLst/>
                          <a:latin typeface="+mn-lt"/>
                          <a:ea typeface="+mn-ea"/>
                          <a:cs typeface="+mn-cs"/>
                        </a:rPr>
                        <a:t>As output voltage is very small, it needs amplification.</a:t>
                      </a:r>
                    </a:p>
                  </a:txBody>
                  <a:tcPr/>
                </a:tc>
                <a:extLst>
                  <a:ext uri="{0D108BD9-81ED-4DB2-BD59-A6C34878D82A}">
                    <a16:rowId xmlns:a16="http://schemas.microsoft.com/office/drawing/2014/main" val="342554617"/>
                  </a:ext>
                </a:extLst>
              </a:tr>
              <a:tr h="668268">
                <a:tc>
                  <a:txBody>
                    <a:bodyPr/>
                    <a:lstStyle/>
                    <a:p>
                      <a:r>
                        <a:rPr lang="en-US" dirty="0"/>
                        <a:t>3</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The temperature range is 270 to 2700 degree Celsius</a:t>
                      </a:r>
                    </a:p>
                  </a:txBody>
                  <a:tcPr/>
                </a:tc>
                <a:tc>
                  <a:txBody>
                    <a:bodyPr/>
                    <a:lstStyle/>
                    <a:p>
                      <a:pPr fontAlgn="base"/>
                      <a:r>
                        <a:rPr lang="en-US" sz="1800" b="0" i="0" kern="1200" dirty="0">
                          <a:solidFill>
                            <a:schemeClr val="dk1"/>
                          </a:solidFill>
                          <a:effectLst/>
                          <a:latin typeface="+mn-lt"/>
                          <a:ea typeface="+mn-ea"/>
                          <a:cs typeface="+mn-cs"/>
                        </a:rPr>
                        <a:t>The cold junction and lead compensation is essential.</a:t>
                      </a:r>
                    </a:p>
                  </a:txBody>
                  <a:tcPr/>
                </a:tc>
                <a:extLst>
                  <a:ext uri="{0D108BD9-81ED-4DB2-BD59-A6C34878D82A}">
                    <a16:rowId xmlns:a16="http://schemas.microsoft.com/office/drawing/2014/main" val="3773038486"/>
                  </a:ext>
                </a:extLst>
              </a:tr>
              <a:tr h="429583">
                <a:tc>
                  <a:txBody>
                    <a:bodyPr/>
                    <a:lstStyle/>
                    <a:p>
                      <a:r>
                        <a:rPr lang="en-US" dirty="0"/>
                        <a:t>4</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It does not required bridge circuit.</a:t>
                      </a:r>
                    </a:p>
                  </a:txBody>
                  <a:tcPr/>
                </a:tc>
                <a:tc>
                  <a:txBody>
                    <a:bodyPr/>
                    <a:lstStyle/>
                    <a:p>
                      <a:pPr fontAlgn="base"/>
                      <a:r>
                        <a:rPr lang="en-IN" sz="1800" b="0" i="0" kern="1200" dirty="0">
                          <a:solidFill>
                            <a:schemeClr val="dk1"/>
                          </a:solidFill>
                          <a:effectLst/>
                          <a:latin typeface="+mn-lt"/>
                          <a:ea typeface="+mn-ea"/>
                          <a:cs typeface="+mn-cs"/>
                        </a:rPr>
                        <a:t>It shows non linearity.</a:t>
                      </a:r>
                    </a:p>
                  </a:txBody>
                  <a:tcPr/>
                </a:tc>
                <a:extLst>
                  <a:ext uri="{0D108BD9-81ED-4DB2-BD59-A6C34878D82A}">
                    <a16:rowId xmlns:a16="http://schemas.microsoft.com/office/drawing/2014/main" val="3353785490"/>
                  </a:ext>
                </a:extLst>
              </a:tr>
              <a:tr h="387171">
                <a:tc>
                  <a:txBody>
                    <a:bodyPr/>
                    <a:lstStyle/>
                    <a:p>
                      <a:r>
                        <a:rPr lang="en-US" dirty="0"/>
                        <a:t>5</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It has good accuracy.</a:t>
                      </a:r>
                    </a:p>
                  </a:txBody>
                  <a:tcPr/>
                </a:tc>
                <a:tc>
                  <a:txBody>
                    <a:bodyPr/>
                    <a:lstStyle/>
                    <a:p>
                      <a:endParaRPr lang="en-IN"/>
                    </a:p>
                  </a:txBody>
                  <a:tcPr/>
                </a:tc>
                <a:extLst>
                  <a:ext uri="{0D108BD9-81ED-4DB2-BD59-A6C34878D82A}">
                    <a16:rowId xmlns:a16="http://schemas.microsoft.com/office/drawing/2014/main" val="245124414"/>
                  </a:ext>
                </a:extLst>
              </a:tr>
              <a:tr h="387171">
                <a:tc>
                  <a:txBody>
                    <a:bodyPr/>
                    <a:lstStyle/>
                    <a:p>
                      <a:r>
                        <a:rPr lang="en-US" dirty="0"/>
                        <a:t>6</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It has high speed of response.</a:t>
                      </a:r>
                    </a:p>
                  </a:txBody>
                  <a:tcPr/>
                </a:tc>
                <a:tc>
                  <a:txBody>
                    <a:bodyPr/>
                    <a:lstStyle/>
                    <a:p>
                      <a:endParaRPr lang="en-IN" dirty="0"/>
                    </a:p>
                  </a:txBody>
                  <a:tcPr/>
                </a:tc>
                <a:extLst>
                  <a:ext uri="{0D108BD9-81ED-4DB2-BD59-A6C34878D82A}">
                    <a16:rowId xmlns:a16="http://schemas.microsoft.com/office/drawing/2014/main" val="3377372904"/>
                  </a:ext>
                </a:extLst>
              </a:tr>
              <a:tr h="387171">
                <a:tc>
                  <a:txBody>
                    <a:bodyPr/>
                    <a:lstStyle/>
                    <a:p>
                      <a:r>
                        <a:rPr lang="en-US" dirty="0"/>
                        <a:t>7</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No self heating</a:t>
                      </a:r>
                    </a:p>
                  </a:txBody>
                  <a:tcPr/>
                </a:tc>
                <a:tc>
                  <a:txBody>
                    <a:bodyPr/>
                    <a:lstStyle/>
                    <a:p>
                      <a:endParaRPr lang="en-IN" dirty="0"/>
                    </a:p>
                  </a:txBody>
                  <a:tcPr/>
                </a:tc>
                <a:extLst>
                  <a:ext uri="{0D108BD9-81ED-4DB2-BD59-A6C34878D82A}">
                    <a16:rowId xmlns:a16="http://schemas.microsoft.com/office/drawing/2014/main" val="588631835"/>
                  </a:ext>
                </a:extLst>
              </a:tr>
            </a:tbl>
          </a:graphicData>
        </a:graphic>
      </p:graphicFrame>
    </p:spTree>
    <p:extLst>
      <p:ext uri="{BB962C8B-B14F-4D97-AF65-F5344CB8AC3E}">
        <p14:creationId xmlns:p14="http://schemas.microsoft.com/office/powerpoint/2010/main" val="36416174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0523D-A899-4401-BCEE-CD6566BF4AC7}"/>
              </a:ext>
            </a:extLst>
          </p:cNvPr>
          <p:cNvSpPr>
            <a:spLocks noGrp="1"/>
          </p:cNvSpPr>
          <p:nvPr>
            <p:ph type="title"/>
          </p:nvPr>
        </p:nvSpPr>
        <p:spPr>
          <a:xfrm>
            <a:off x="1141413" y="618518"/>
            <a:ext cx="9905998" cy="799465"/>
          </a:xfrm>
        </p:spPr>
        <p:txBody>
          <a:bodyPr/>
          <a:lstStyle/>
          <a:p>
            <a:r>
              <a:rPr lang="en-US" dirty="0"/>
              <a:t>To read more …</a:t>
            </a:r>
            <a:endParaRPr lang="en-IN" dirty="0"/>
          </a:p>
        </p:txBody>
      </p:sp>
      <p:sp>
        <p:nvSpPr>
          <p:cNvPr id="4" name="TextBox 3">
            <a:extLst>
              <a:ext uri="{FF2B5EF4-FFF2-40B4-BE49-F238E27FC236}">
                <a16:creationId xmlns:a16="http://schemas.microsoft.com/office/drawing/2014/main" id="{29604A2D-5262-4CE9-9C9E-226A14765E06}"/>
              </a:ext>
            </a:extLst>
          </p:cNvPr>
          <p:cNvSpPr txBox="1"/>
          <p:nvPr/>
        </p:nvSpPr>
        <p:spPr>
          <a:xfrm>
            <a:off x="689317" y="1926352"/>
            <a:ext cx="10609381" cy="1477328"/>
          </a:xfrm>
          <a:prstGeom prst="rect">
            <a:avLst/>
          </a:prstGeom>
          <a:noFill/>
        </p:spPr>
        <p:txBody>
          <a:bodyPr wrap="square">
            <a:spAutoFit/>
          </a:bodyPr>
          <a:lstStyle/>
          <a:p>
            <a:r>
              <a:rPr lang="en-IN" dirty="0"/>
              <a:t>1.https://www.ti.com/lit/an/sbaa274/sbaa274.pdf?ts=1595152129802&amp;ref_url=https%253A%252F%252ww</a:t>
            </a:r>
          </a:p>
          <a:p>
            <a:r>
              <a:rPr lang="en-IN" dirty="0"/>
              <a:t>w.google.com%252F</a:t>
            </a:r>
          </a:p>
          <a:p>
            <a:endParaRPr lang="en-IN" dirty="0"/>
          </a:p>
          <a:p>
            <a:endParaRPr lang="en-IN" dirty="0"/>
          </a:p>
          <a:p>
            <a:endParaRPr lang="en-IN" dirty="0"/>
          </a:p>
        </p:txBody>
      </p:sp>
    </p:spTree>
    <p:extLst>
      <p:ext uri="{BB962C8B-B14F-4D97-AF65-F5344CB8AC3E}">
        <p14:creationId xmlns:p14="http://schemas.microsoft.com/office/powerpoint/2010/main" val="4044901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3C761-88CD-40D1-B712-A21BD9D0F477}"/>
              </a:ext>
            </a:extLst>
          </p:cNvPr>
          <p:cNvSpPr>
            <a:spLocks noGrp="1"/>
          </p:cNvSpPr>
          <p:nvPr>
            <p:ph type="title"/>
          </p:nvPr>
        </p:nvSpPr>
        <p:spPr>
          <a:xfrm>
            <a:off x="1143001" y="224623"/>
            <a:ext cx="9905998" cy="661642"/>
          </a:xfrm>
        </p:spPr>
        <p:txBody>
          <a:bodyPr/>
          <a:lstStyle/>
          <a:p>
            <a:r>
              <a:rPr lang="en-US" dirty="0"/>
              <a:t>Diode as a temperature sensor</a:t>
            </a:r>
            <a:endParaRPr lang="en-IN" dirty="0"/>
          </a:p>
        </p:txBody>
      </p:sp>
      <p:pic>
        <p:nvPicPr>
          <p:cNvPr id="5122" name="Picture 2" descr="Diode Temperature Sensor">
            <a:extLst>
              <a:ext uri="{FF2B5EF4-FFF2-40B4-BE49-F238E27FC236}">
                <a16:creationId xmlns:a16="http://schemas.microsoft.com/office/drawing/2014/main" id="{2D9D8578-D2D7-4DCC-86AF-22649F8FFA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2543" y="1148589"/>
            <a:ext cx="9441105" cy="51888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42661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32DAD-1230-4893-AE79-6B3DEE3DAD2A}"/>
              </a:ext>
            </a:extLst>
          </p:cNvPr>
          <p:cNvSpPr>
            <a:spLocks noGrp="1"/>
          </p:cNvSpPr>
          <p:nvPr>
            <p:ph type="title"/>
          </p:nvPr>
        </p:nvSpPr>
        <p:spPr>
          <a:xfrm>
            <a:off x="1161759" y="379367"/>
            <a:ext cx="9905998" cy="774184"/>
          </a:xfrm>
        </p:spPr>
        <p:txBody>
          <a:bodyPr/>
          <a:lstStyle/>
          <a:p>
            <a:r>
              <a:rPr lang="en-US" dirty="0"/>
              <a:t>DHT-11 Temperature sensor</a:t>
            </a:r>
            <a:endParaRPr lang="en-IN" dirty="0"/>
          </a:p>
        </p:txBody>
      </p:sp>
      <p:sp>
        <p:nvSpPr>
          <p:cNvPr id="6" name="TextBox 5">
            <a:extLst>
              <a:ext uri="{FF2B5EF4-FFF2-40B4-BE49-F238E27FC236}">
                <a16:creationId xmlns:a16="http://schemas.microsoft.com/office/drawing/2014/main" id="{09F0668C-A6CB-47FD-A3C0-E3A754709B54}"/>
              </a:ext>
            </a:extLst>
          </p:cNvPr>
          <p:cNvSpPr txBox="1"/>
          <p:nvPr/>
        </p:nvSpPr>
        <p:spPr>
          <a:xfrm>
            <a:off x="989427" y="1584909"/>
            <a:ext cx="7648135" cy="3970318"/>
          </a:xfrm>
          <a:prstGeom prst="rect">
            <a:avLst/>
          </a:prstGeom>
          <a:noFill/>
          <a:ln>
            <a:solidFill>
              <a:srgbClr val="FFFF00"/>
            </a:solidFill>
          </a:ln>
        </p:spPr>
        <p:txBody>
          <a:bodyPr wrap="square">
            <a:spAutoFit/>
          </a:bodyPr>
          <a:lstStyle/>
          <a:p>
            <a:pPr algn="just"/>
            <a:r>
              <a:rPr lang="en-IN" sz="2800" dirty="0"/>
              <a:t>The DHT11 is a basic, digital temperature and humidity sensor. It uses a capacitive humidity sensor and a thermistor to measure the surrounding air, and gives out a digital signal on the data pin (no </a:t>
            </a:r>
            <a:r>
              <a:rPr lang="en-IN" sz="2800" dirty="0" err="1"/>
              <a:t>analog</a:t>
            </a:r>
            <a:r>
              <a:rPr lang="en-IN" sz="2800" dirty="0"/>
              <a:t> input pins needed). It is simple to use, but requires careful timing to grab data. The only real downside of this sensor is you can only get new data from it once every 2 seconds, so when using the library, sensor readings can be up to 2 seconds old.</a:t>
            </a:r>
          </a:p>
        </p:txBody>
      </p:sp>
      <p:pic>
        <p:nvPicPr>
          <p:cNvPr id="7" name="Picture 6">
            <a:extLst>
              <a:ext uri="{FF2B5EF4-FFF2-40B4-BE49-F238E27FC236}">
                <a16:creationId xmlns:a16="http://schemas.microsoft.com/office/drawing/2014/main" id="{82DE28D0-2BB5-4F5B-B9BD-C7E5640B401C}"/>
              </a:ext>
            </a:extLst>
          </p:cNvPr>
          <p:cNvPicPr>
            <a:picLocks noChangeAspect="1"/>
          </p:cNvPicPr>
          <p:nvPr/>
        </p:nvPicPr>
        <p:blipFill>
          <a:blip r:embed="rId2"/>
          <a:stretch>
            <a:fillRect/>
          </a:stretch>
        </p:blipFill>
        <p:spPr>
          <a:xfrm>
            <a:off x="9696253" y="2064434"/>
            <a:ext cx="1371504" cy="2438230"/>
          </a:xfrm>
          <a:prstGeom prst="rect">
            <a:avLst/>
          </a:prstGeom>
        </p:spPr>
      </p:pic>
    </p:spTree>
    <p:extLst>
      <p:ext uri="{BB962C8B-B14F-4D97-AF65-F5344CB8AC3E}">
        <p14:creationId xmlns:p14="http://schemas.microsoft.com/office/powerpoint/2010/main" val="41784802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C9560A1-B546-4E58-AC68-33DB5B02020C}"/>
              </a:ext>
            </a:extLst>
          </p:cNvPr>
          <p:cNvPicPr>
            <a:picLocks noChangeAspect="1"/>
          </p:cNvPicPr>
          <p:nvPr/>
        </p:nvPicPr>
        <p:blipFill>
          <a:blip r:embed="rId3"/>
          <a:stretch>
            <a:fillRect/>
          </a:stretch>
        </p:blipFill>
        <p:spPr>
          <a:xfrm>
            <a:off x="499402" y="242532"/>
            <a:ext cx="1371504" cy="2438230"/>
          </a:xfrm>
          <a:prstGeom prst="rect">
            <a:avLst/>
          </a:prstGeom>
        </p:spPr>
      </p:pic>
      <p:pic>
        <p:nvPicPr>
          <p:cNvPr id="7170" name="Picture 2" descr="centiot ESP-WROOM-32 ESP32 ESP-32S Development Board Micro Controller Board Electronic Hobby Kit">
            <a:extLst>
              <a:ext uri="{FF2B5EF4-FFF2-40B4-BE49-F238E27FC236}">
                <a16:creationId xmlns:a16="http://schemas.microsoft.com/office/drawing/2014/main" id="{DE9D4AD1-8931-4245-818B-6674971948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42561" y="1278767"/>
            <a:ext cx="6464105" cy="3527288"/>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Connector 6">
            <a:extLst>
              <a:ext uri="{FF2B5EF4-FFF2-40B4-BE49-F238E27FC236}">
                <a16:creationId xmlns:a16="http://schemas.microsoft.com/office/drawing/2014/main" id="{F6B0C24F-8D8F-4F71-9E2A-FB4D3B471298}"/>
              </a:ext>
            </a:extLst>
          </p:cNvPr>
          <p:cNvCxnSpPr>
            <a:cxnSpLocks/>
          </p:cNvCxnSpPr>
          <p:nvPr/>
        </p:nvCxnSpPr>
        <p:spPr>
          <a:xfrm>
            <a:off x="759655" y="2680762"/>
            <a:ext cx="0" cy="2861909"/>
          </a:xfrm>
          <a:prstGeom prst="line">
            <a:avLst/>
          </a:prstGeom>
          <a:ln w="111125">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10" name="Straight Connector 9">
            <a:extLst>
              <a:ext uri="{FF2B5EF4-FFF2-40B4-BE49-F238E27FC236}">
                <a16:creationId xmlns:a16="http://schemas.microsoft.com/office/drawing/2014/main" id="{29BCBE9D-2E96-4730-B094-C6962A536273}"/>
              </a:ext>
            </a:extLst>
          </p:cNvPr>
          <p:cNvCxnSpPr>
            <a:cxnSpLocks/>
          </p:cNvCxnSpPr>
          <p:nvPr/>
        </p:nvCxnSpPr>
        <p:spPr>
          <a:xfrm>
            <a:off x="773723" y="5528603"/>
            <a:ext cx="5781822" cy="14068"/>
          </a:xfrm>
          <a:prstGeom prst="line">
            <a:avLst/>
          </a:prstGeom>
          <a:ln w="1111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FD1BC34-753B-48F7-B835-B8FB93BD21EB}"/>
              </a:ext>
            </a:extLst>
          </p:cNvPr>
          <p:cNvCxnSpPr/>
          <p:nvPr/>
        </p:nvCxnSpPr>
        <p:spPr>
          <a:xfrm>
            <a:off x="6555545" y="4557932"/>
            <a:ext cx="0" cy="984739"/>
          </a:xfrm>
          <a:prstGeom prst="line">
            <a:avLst/>
          </a:prstGeom>
          <a:ln w="1111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A6C47D8-26EC-48F8-B1B1-CD74694082F9}"/>
              </a:ext>
            </a:extLst>
          </p:cNvPr>
          <p:cNvCxnSpPr>
            <a:cxnSpLocks/>
          </p:cNvCxnSpPr>
          <p:nvPr/>
        </p:nvCxnSpPr>
        <p:spPr>
          <a:xfrm>
            <a:off x="1601370" y="2680762"/>
            <a:ext cx="0" cy="3092463"/>
          </a:xfrm>
          <a:prstGeom prst="line">
            <a:avLst/>
          </a:prstGeom>
          <a:ln w="111125">
            <a:solidFill>
              <a:srgbClr val="92D050"/>
            </a:solidFill>
          </a:ln>
        </p:spPr>
        <p:style>
          <a:lnRef idx="1">
            <a:schemeClr val="accent2"/>
          </a:lnRef>
          <a:fillRef idx="0">
            <a:schemeClr val="accent2"/>
          </a:fillRef>
          <a:effectRef idx="0">
            <a:schemeClr val="accent2"/>
          </a:effectRef>
          <a:fontRef idx="minor">
            <a:schemeClr val="tx1"/>
          </a:fontRef>
        </p:style>
      </p:cxnSp>
      <p:cxnSp>
        <p:nvCxnSpPr>
          <p:cNvPr id="16" name="Straight Connector 15">
            <a:extLst>
              <a:ext uri="{FF2B5EF4-FFF2-40B4-BE49-F238E27FC236}">
                <a16:creationId xmlns:a16="http://schemas.microsoft.com/office/drawing/2014/main" id="{78780E2D-9566-4EE2-8154-B4BD7F74BEE1}"/>
              </a:ext>
            </a:extLst>
          </p:cNvPr>
          <p:cNvCxnSpPr>
            <a:cxnSpLocks/>
          </p:cNvCxnSpPr>
          <p:nvPr/>
        </p:nvCxnSpPr>
        <p:spPr>
          <a:xfrm>
            <a:off x="1601370" y="5773225"/>
            <a:ext cx="5247250" cy="0"/>
          </a:xfrm>
          <a:prstGeom prst="line">
            <a:avLst/>
          </a:prstGeom>
          <a:ln w="11112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D1B2BEB-795D-4C20-82D9-A3756E1512BE}"/>
              </a:ext>
            </a:extLst>
          </p:cNvPr>
          <p:cNvCxnSpPr>
            <a:cxnSpLocks/>
          </p:cNvCxnSpPr>
          <p:nvPr/>
        </p:nvCxnSpPr>
        <p:spPr>
          <a:xfrm>
            <a:off x="6848620" y="4540363"/>
            <a:ext cx="0" cy="1232862"/>
          </a:xfrm>
          <a:prstGeom prst="line">
            <a:avLst/>
          </a:prstGeom>
          <a:ln w="11112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19EAEB1-0435-4268-89C1-FCECED701243}"/>
              </a:ext>
            </a:extLst>
          </p:cNvPr>
          <p:cNvCxnSpPr>
            <a:cxnSpLocks/>
          </p:cNvCxnSpPr>
          <p:nvPr/>
        </p:nvCxnSpPr>
        <p:spPr>
          <a:xfrm>
            <a:off x="1050384" y="2680762"/>
            <a:ext cx="0" cy="3390840"/>
          </a:xfrm>
          <a:prstGeom prst="line">
            <a:avLst/>
          </a:prstGeom>
          <a:ln w="111125">
            <a:solidFill>
              <a:srgbClr val="00B0F0"/>
            </a:solidFill>
          </a:ln>
        </p:spPr>
        <p:style>
          <a:lnRef idx="1">
            <a:schemeClr val="accent2"/>
          </a:lnRef>
          <a:fillRef idx="0">
            <a:schemeClr val="accent2"/>
          </a:fillRef>
          <a:effectRef idx="0">
            <a:schemeClr val="accent2"/>
          </a:effectRef>
          <a:fontRef idx="minor">
            <a:schemeClr val="tx1"/>
          </a:fontRef>
        </p:style>
      </p:cxnSp>
      <p:cxnSp>
        <p:nvCxnSpPr>
          <p:cNvPr id="24" name="Straight Connector 23">
            <a:extLst>
              <a:ext uri="{FF2B5EF4-FFF2-40B4-BE49-F238E27FC236}">
                <a16:creationId xmlns:a16="http://schemas.microsoft.com/office/drawing/2014/main" id="{E8C35353-8D8B-43E3-BB86-C175B0A5720D}"/>
              </a:ext>
            </a:extLst>
          </p:cNvPr>
          <p:cNvCxnSpPr>
            <a:cxnSpLocks/>
          </p:cNvCxnSpPr>
          <p:nvPr/>
        </p:nvCxnSpPr>
        <p:spPr>
          <a:xfrm>
            <a:off x="1064452" y="6057534"/>
            <a:ext cx="6714982" cy="14068"/>
          </a:xfrm>
          <a:prstGeom prst="line">
            <a:avLst/>
          </a:prstGeom>
          <a:ln w="11112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CA973BC-28C6-4BDD-B94B-D176F9889342}"/>
              </a:ext>
            </a:extLst>
          </p:cNvPr>
          <p:cNvCxnSpPr>
            <a:cxnSpLocks/>
          </p:cNvCxnSpPr>
          <p:nvPr/>
        </p:nvCxnSpPr>
        <p:spPr>
          <a:xfrm flipH="1">
            <a:off x="7779435" y="4557932"/>
            <a:ext cx="1" cy="1513670"/>
          </a:xfrm>
          <a:prstGeom prst="line">
            <a:avLst/>
          </a:prstGeom>
          <a:ln w="111125">
            <a:solidFill>
              <a:srgbClr val="00B0F0"/>
            </a:solidFill>
          </a:ln>
        </p:spPr>
        <p:style>
          <a:lnRef idx="1">
            <a:schemeClr val="accent1"/>
          </a:lnRef>
          <a:fillRef idx="0">
            <a:schemeClr val="accent1"/>
          </a:fillRef>
          <a:effectRef idx="0">
            <a:schemeClr val="accent1"/>
          </a:effectRef>
          <a:fontRef idx="minor">
            <a:schemeClr val="tx1"/>
          </a:fontRef>
        </p:style>
      </p:cxnSp>
      <p:pic>
        <p:nvPicPr>
          <p:cNvPr id="31" name="Picture 30">
            <a:extLst>
              <a:ext uri="{FF2B5EF4-FFF2-40B4-BE49-F238E27FC236}">
                <a16:creationId xmlns:a16="http://schemas.microsoft.com/office/drawing/2014/main" id="{723DC935-A69A-4FBF-A5B8-1D22F952D4C4}"/>
              </a:ext>
            </a:extLst>
          </p:cNvPr>
          <p:cNvPicPr>
            <a:picLocks noChangeAspect="1"/>
          </p:cNvPicPr>
          <p:nvPr/>
        </p:nvPicPr>
        <p:blipFill>
          <a:blip r:embed="rId5"/>
          <a:stretch>
            <a:fillRect/>
          </a:stretch>
        </p:blipFill>
        <p:spPr>
          <a:xfrm>
            <a:off x="2666229" y="2680461"/>
            <a:ext cx="2532468" cy="583235"/>
          </a:xfrm>
          <a:prstGeom prst="rect">
            <a:avLst/>
          </a:prstGeom>
        </p:spPr>
      </p:pic>
      <p:sp>
        <p:nvSpPr>
          <p:cNvPr id="32" name="TextBox 31">
            <a:extLst>
              <a:ext uri="{FF2B5EF4-FFF2-40B4-BE49-F238E27FC236}">
                <a16:creationId xmlns:a16="http://schemas.microsoft.com/office/drawing/2014/main" id="{198749E2-1612-412B-BEC5-7661AB8C5C95}"/>
              </a:ext>
            </a:extLst>
          </p:cNvPr>
          <p:cNvSpPr txBox="1"/>
          <p:nvPr/>
        </p:nvSpPr>
        <p:spPr>
          <a:xfrm>
            <a:off x="2982351" y="3429000"/>
            <a:ext cx="1846659" cy="646331"/>
          </a:xfrm>
          <a:prstGeom prst="rect">
            <a:avLst/>
          </a:prstGeom>
          <a:noFill/>
        </p:spPr>
        <p:txBody>
          <a:bodyPr wrap="none" rtlCol="0">
            <a:spAutoFit/>
          </a:bodyPr>
          <a:lstStyle/>
          <a:p>
            <a:r>
              <a:rPr lang="en-US" dirty="0"/>
              <a:t>Power from a USB</a:t>
            </a:r>
          </a:p>
          <a:p>
            <a:r>
              <a:rPr lang="en-US" dirty="0"/>
              <a:t>Mobile charger</a:t>
            </a:r>
            <a:endParaRPr lang="en-IN" dirty="0"/>
          </a:p>
        </p:txBody>
      </p:sp>
    </p:spTree>
    <p:extLst>
      <p:ext uri="{BB962C8B-B14F-4D97-AF65-F5344CB8AC3E}">
        <p14:creationId xmlns:p14="http://schemas.microsoft.com/office/powerpoint/2010/main" val="7523260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A1C52A7-4C01-43F9-8611-F10968E85A06}"/>
              </a:ext>
            </a:extLst>
          </p:cNvPr>
          <p:cNvPicPr>
            <a:picLocks noChangeAspect="1"/>
          </p:cNvPicPr>
          <p:nvPr/>
        </p:nvPicPr>
        <p:blipFill>
          <a:blip r:embed="rId3"/>
          <a:stretch>
            <a:fillRect/>
          </a:stretch>
        </p:blipFill>
        <p:spPr>
          <a:xfrm rot="-5400000">
            <a:off x="2194476" y="-1477022"/>
            <a:ext cx="6668260" cy="9622304"/>
          </a:xfrm>
          <a:prstGeom prst="rect">
            <a:avLst/>
          </a:prstGeom>
        </p:spPr>
      </p:pic>
    </p:spTree>
    <p:extLst>
      <p:ext uri="{BB962C8B-B14F-4D97-AF65-F5344CB8AC3E}">
        <p14:creationId xmlns:p14="http://schemas.microsoft.com/office/powerpoint/2010/main" val="32929445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9447393-D219-4375-A897-0C6F06BB8C58}"/>
              </a:ext>
            </a:extLst>
          </p:cNvPr>
          <p:cNvSpPr txBox="1"/>
          <p:nvPr/>
        </p:nvSpPr>
        <p:spPr>
          <a:xfrm>
            <a:off x="886265" y="787790"/>
            <a:ext cx="5908430" cy="5078313"/>
          </a:xfrm>
          <a:prstGeom prst="rect">
            <a:avLst/>
          </a:prstGeom>
          <a:noFill/>
          <a:ln w="63500">
            <a:solidFill>
              <a:srgbClr val="FFFF00"/>
            </a:solidFill>
          </a:ln>
        </p:spPr>
        <p:txBody>
          <a:bodyPr wrap="square" rtlCol="0">
            <a:spAutoFit/>
          </a:bodyPr>
          <a:lstStyle/>
          <a:p>
            <a:r>
              <a:rPr lang="en-US" dirty="0"/>
              <a:t>#include "</a:t>
            </a:r>
            <a:r>
              <a:rPr lang="en-US" dirty="0" err="1"/>
              <a:t>DHT.h</a:t>
            </a:r>
            <a:r>
              <a:rPr lang="en-US" dirty="0"/>
              <a:t>"</a:t>
            </a:r>
          </a:p>
          <a:p>
            <a:r>
              <a:rPr lang="en-US" dirty="0"/>
              <a:t>#define DHTPIN 4    </a:t>
            </a:r>
          </a:p>
          <a:p>
            <a:r>
              <a:rPr lang="en-US" dirty="0"/>
              <a:t>#define DHTTYPE DHT11  </a:t>
            </a:r>
          </a:p>
          <a:p>
            <a:r>
              <a:rPr lang="en-US" dirty="0"/>
              <a:t>DHT </a:t>
            </a:r>
            <a:r>
              <a:rPr lang="en-US" dirty="0" err="1"/>
              <a:t>dht</a:t>
            </a:r>
            <a:r>
              <a:rPr lang="en-US" dirty="0"/>
              <a:t>(DHTPIN, DHTTYPE);</a:t>
            </a:r>
          </a:p>
          <a:p>
            <a:r>
              <a:rPr lang="en-US" dirty="0"/>
              <a:t>void loop() </a:t>
            </a:r>
          </a:p>
          <a:p>
            <a:r>
              <a:rPr lang="en-US" dirty="0"/>
              <a:t>{</a:t>
            </a:r>
          </a:p>
          <a:p>
            <a:r>
              <a:rPr lang="en-US" dirty="0"/>
              <a:t>  // Wait a few seconds between measurements.</a:t>
            </a:r>
          </a:p>
          <a:p>
            <a:r>
              <a:rPr lang="en-US" dirty="0"/>
              <a:t>  delay(2000);</a:t>
            </a:r>
          </a:p>
          <a:p>
            <a:r>
              <a:rPr lang="en-US" dirty="0"/>
              <a:t>  float h = </a:t>
            </a:r>
            <a:r>
              <a:rPr lang="en-US" dirty="0" err="1"/>
              <a:t>dht.readHumidity</a:t>
            </a:r>
            <a:r>
              <a:rPr lang="en-US" dirty="0"/>
              <a:t>();</a:t>
            </a:r>
          </a:p>
          <a:p>
            <a:r>
              <a:rPr lang="en-US" dirty="0"/>
              <a:t>  float c = </a:t>
            </a:r>
            <a:r>
              <a:rPr lang="en-US" dirty="0" err="1"/>
              <a:t>dht.readTemperature</a:t>
            </a:r>
            <a:r>
              <a:rPr lang="en-US" dirty="0"/>
              <a:t>();</a:t>
            </a:r>
          </a:p>
          <a:p>
            <a:r>
              <a:rPr lang="en-US" dirty="0"/>
              <a:t>  // Check if any reads failed and exit early (to try again).</a:t>
            </a:r>
          </a:p>
          <a:p>
            <a:r>
              <a:rPr lang="en-US" dirty="0"/>
              <a:t>  if (</a:t>
            </a:r>
            <a:r>
              <a:rPr lang="en-US" dirty="0" err="1"/>
              <a:t>isnan</a:t>
            </a:r>
            <a:r>
              <a:rPr lang="en-US" dirty="0"/>
              <a:t>(h) || </a:t>
            </a:r>
            <a:r>
              <a:rPr lang="en-US" dirty="0" err="1"/>
              <a:t>isnan</a:t>
            </a:r>
            <a:r>
              <a:rPr lang="en-US" dirty="0"/>
              <a:t>(t) || </a:t>
            </a:r>
            <a:r>
              <a:rPr lang="en-US" dirty="0" err="1"/>
              <a:t>isnan</a:t>
            </a:r>
            <a:r>
              <a:rPr lang="en-US" dirty="0"/>
              <a:t>(f)) </a:t>
            </a:r>
          </a:p>
          <a:p>
            <a:r>
              <a:rPr lang="en-US" dirty="0"/>
              <a:t>  {</a:t>
            </a:r>
          </a:p>
          <a:p>
            <a:r>
              <a:rPr lang="en-US" dirty="0"/>
              <a:t>    </a:t>
            </a:r>
            <a:r>
              <a:rPr lang="en-US" dirty="0" err="1"/>
              <a:t>Serial.println</a:t>
            </a:r>
            <a:r>
              <a:rPr lang="en-US" dirty="0"/>
              <a:t>(F("Failed to read from DHT sensor!"));</a:t>
            </a:r>
          </a:p>
          <a:p>
            <a:r>
              <a:rPr lang="en-US" dirty="0"/>
              <a:t>    return;</a:t>
            </a:r>
          </a:p>
          <a:p>
            <a:r>
              <a:rPr lang="en-US" dirty="0"/>
              <a:t>  }</a:t>
            </a:r>
          </a:p>
          <a:p>
            <a:r>
              <a:rPr lang="en-US" dirty="0"/>
              <a:t>  </a:t>
            </a:r>
          </a:p>
          <a:p>
            <a:endParaRPr lang="en-IN" dirty="0"/>
          </a:p>
        </p:txBody>
      </p:sp>
      <p:sp>
        <p:nvSpPr>
          <p:cNvPr id="3" name="TextBox 2">
            <a:extLst>
              <a:ext uri="{FF2B5EF4-FFF2-40B4-BE49-F238E27FC236}">
                <a16:creationId xmlns:a16="http://schemas.microsoft.com/office/drawing/2014/main" id="{5522CF1B-C048-4436-B462-DC70E88BCD04}"/>
              </a:ext>
            </a:extLst>
          </p:cNvPr>
          <p:cNvSpPr txBox="1"/>
          <p:nvPr/>
        </p:nvSpPr>
        <p:spPr>
          <a:xfrm>
            <a:off x="6949439" y="787790"/>
            <a:ext cx="5064369" cy="3139321"/>
          </a:xfrm>
          <a:prstGeom prst="rect">
            <a:avLst/>
          </a:prstGeom>
          <a:noFill/>
          <a:ln w="63500">
            <a:solidFill>
              <a:srgbClr val="FFFF00"/>
            </a:solidFill>
          </a:ln>
        </p:spPr>
        <p:txBody>
          <a:bodyPr wrap="square" rtlCol="0">
            <a:spAutoFit/>
          </a:bodyPr>
          <a:lstStyle/>
          <a:p>
            <a:endParaRPr lang="en-US" dirty="0"/>
          </a:p>
          <a:p>
            <a:r>
              <a:rPr lang="en-US" dirty="0"/>
              <a:t>  float hic = </a:t>
            </a:r>
            <a:r>
              <a:rPr lang="en-US" dirty="0" err="1"/>
              <a:t>dht.computeHeatIndex</a:t>
            </a:r>
            <a:r>
              <a:rPr lang="en-US" dirty="0"/>
              <a:t>(t, h, false);</a:t>
            </a:r>
          </a:p>
          <a:p>
            <a:r>
              <a:rPr lang="en-US" dirty="0"/>
              <a:t>  </a:t>
            </a:r>
            <a:r>
              <a:rPr lang="en-US" dirty="0" err="1"/>
              <a:t>Serial.print</a:t>
            </a:r>
            <a:r>
              <a:rPr lang="en-US" dirty="0"/>
              <a:t>(F("Humidity: "));</a:t>
            </a:r>
          </a:p>
          <a:p>
            <a:r>
              <a:rPr lang="en-US" dirty="0"/>
              <a:t>  </a:t>
            </a:r>
            <a:r>
              <a:rPr lang="en-US" dirty="0" err="1"/>
              <a:t>Serial.print</a:t>
            </a:r>
            <a:r>
              <a:rPr lang="en-US" dirty="0"/>
              <a:t>(h);</a:t>
            </a:r>
          </a:p>
          <a:p>
            <a:r>
              <a:rPr lang="en-US" dirty="0"/>
              <a:t>  </a:t>
            </a:r>
            <a:r>
              <a:rPr lang="en-US" dirty="0" err="1"/>
              <a:t>Serial.print</a:t>
            </a:r>
            <a:r>
              <a:rPr lang="en-US" dirty="0"/>
              <a:t>(c);</a:t>
            </a:r>
          </a:p>
          <a:p>
            <a:r>
              <a:rPr lang="en-US" dirty="0"/>
              <a:t>  </a:t>
            </a:r>
            <a:r>
              <a:rPr lang="en-US" dirty="0" err="1"/>
              <a:t>Serial.print</a:t>
            </a:r>
            <a:r>
              <a:rPr lang="en-US" dirty="0"/>
              <a:t>(F("°C "));</a:t>
            </a:r>
          </a:p>
          <a:p>
            <a:r>
              <a:rPr lang="en-US" dirty="0"/>
              <a:t>  </a:t>
            </a:r>
            <a:r>
              <a:rPr lang="en-US" dirty="0" err="1"/>
              <a:t>Serial.print</a:t>
            </a:r>
            <a:r>
              <a:rPr lang="en-US" dirty="0"/>
              <a:t>(F("°F  Heat index: "));</a:t>
            </a:r>
          </a:p>
          <a:p>
            <a:r>
              <a:rPr lang="en-US" dirty="0"/>
              <a:t>  </a:t>
            </a:r>
            <a:r>
              <a:rPr lang="en-US" dirty="0" err="1"/>
              <a:t>Serial.print</a:t>
            </a:r>
            <a:r>
              <a:rPr lang="en-US" dirty="0"/>
              <a:t>(hic);</a:t>
            </a:r>
          </a:p>
          <a:p>
            <a:r>
              <a:rPr lang="en-US" dirty="0"/>
              <a:t>  </a:t>
            </a:r>
            <a:r>
              <a:rPr lang="en-US" dirty="0" err="1"/>
              <a:t>Serial.print</a:t>
            </a:r>
            <a:r>
              <a:rPr lang="en-US" dirty="0"/>
              <a:t>(F("°C "));</a:t>
            </a:r>
          </a:p>
          <a:p>
            <a:r>
              <a:rPr lang="en-US" dirty="0"/>
              <a:t>}</a:t>
            </a:r>
          </a:p>
          <a:p>
            <a:endParaRPr lang="en-IN" dirty="0"/>
          </a:p>
        </p:txBody>
      </p:sp>
    </p:spTree>
    <p:extLst>
      <p:ext uri="{BB962C8B-B14F-4D97-AF65-F5344CB8AC3E}">
        <p14:creationId xmlns:p14="http://schemas.microsoft.com/office/powerpoint/2010/main" val="29325194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30713-31F2-459C-9AD3-35DAE083AEF6}"/>
              </a:ext>
            </a:extLst>
          </p:cNvPr>
          <p:cNvSpPr>
            <a:spLocks noGrp="1"/>
          </p:cNvSpPr>
          <p:nvPr>
            <p:ph type="title"/>
          </p:nvPr>
        </p:nvSpPr>
        <p:spPr>
          <a:xfrm>
            <a:off x="1141413" y="618518"/>
            <a:ext cx="7035178" cy="547673"/>
          </a:xfrm>
        </p:spPr>
        <p:txBody>
          <a:bodyPr>
            <a:normAutofit fontScale="90000"/>
          </a:bodyPr>
          <a:lstStyle/>
          <a:p>
            <a:r>
              <a:rPr lang="en-IN" dirty="0"/>
              <a:t>Infrared Thermometer</a:t>
            </a:r>
          </a:p>
        </p:txBody>
      </p:sp>
      <p:sp>
        <p:nvSpPr>
          <p:cNvPr id="4" name="TextBox 3">
            <a:extLst>
              <a:ext uri="{FF2B5EF4-FFF2-40B4-BE49-F238E27FC236}">
                <a16:creationId xmlns:a16="http://schemas.microsoft.com/office/drawing/2014/main" id="{ECD1FC20-F2E3-490A-A1B6-8315AFBB63B1}"/>
              </a:ext>
            </a:extLst>
          </p:cNvPr>
          <p:cNvSpPr txBox="1"/>
          <p:nvPr/>
        </p:nvSpPr>
        <p:spPr>
          <a:xfrm>
            <a:off x="1141413" y="2327270"/>
            <a:ext cx="9115770" cy="369332"/>
          </a:xfrm>
          <a:prstGeom prst="rect">
            <a:avLst/>
          </a:prstGeom>
          <a:noFill/>
        </p:spPr>
        <p:txBody>
          <a:bodyPr wrap="square">
            <a:spAutoFit/>
          </a:bodyPr>
          <a:lstStyle/>
          <a:p>
            <a:r>
              <a:rPr lang="en-IN" dirty="0">
                <a:hlinkClick r:id="rId2"/>
              </a:rPr>
              <a:t>http://www.esp32learning.com/code/esp32-and-mlx90614-infrared-thermometer-example.php</a:t>
            </a:r>
            <a:endParaRPr lang="en-IN" dirty="0"/>
          </a:p>
        </p:txBody>
      </p:sp>
    </p:spTree>
    <p:extLst>
      <p:ext uri="{BB962C8B-B14F-4D97-AF65-F5344CB8AC3E}">
        <p14:creationId xmlns:p14="http://schemas.microsoft.com/office/powerpoint/2010/main" val="37753279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72E23-8F7E-4294-9E62-12CA212CDA75}"/>
              </a:ext>
            </a:extLst>
          </p:cNvPr>
          <p:cNvSpPr>
            <a:spLocks noGrp="1"/>
          </p:cNvSpPr>
          <p:nvPr>
            <p:ph type="title"/>
          </p:nvPr>
        </p:nvSpPr>
        <p:spPr>
          <a:xfrm>
            <a:off x="1298713" y="260709"/>
            <a:ext cx="9750286" cy="945239"/>
          </a:xfrm>
        </p:spPr>
        <p:txBody>
          <a:bodyPr/>
          <a:lstStyle/>
          <a:p>
            <a:r>
              <a:rPr lang="en-US" dirty="0"/>
              <a:t>What are sensor for IOT</a:t>
            </a:r>
            <a:endParaRPr lang="en-IN" dirty="0"/>
          </a:p>
        </p:txBody>
      </p:sp>
      <p:sp>
        <p:nvSpPr>
          <p:cNvPr id="3" name="TextBox 2">
            <a:extLst>
              <a:ext uri="{FF2B5EF4-FFF2-40B4-BE49-F238E27FC236}">
                <a16:creationId xmlns:a16="http://schemas.microsoft.com/office/drawing/2014/main" id="{4F48874D-A41D-477D-AE38-E786AE2DD4FE}"/>
              </a:ext>
            </a:extLst>
          </p:cNvPr>
          <p:cNvSpPr txBox="1"/>
          <p:nvPr/>
        </p:nvSpPr>
        <p:spPr>
          <a:xfrm>
            <a:off x="1298713" y="2405575"/>
            <a:ext cx="9378665" cy="1815882"/>
          </a:xfrm>
          <a:prstGeom prst="rect">
            <a:avLst/>
          </a:prstGeom>
          <a:noFill/>
          <a:ln w="73025">
            <a:solidFill>
              <a:srgbClr val="FFFF00"/>
            </a:solidFill>
          </a:ln>
        </p:spPr>
        <p:txBody>
          <a:bodyPr wrap="square" rtlCol="0">
            <a:spAutoFit/>
          </a:bodyPr>
          <a:lstStyle/>
          <a:p>
            <a:r>
              <a:rPr lang="en-US" sz="2800" dirty="0"/>
              <a:t>Practically any sensor can be used for IOT application provided the sensor can give a Digital output. In case the sensor provides  only an analog output.  In which we need to provide a Digital to Analog convertor. </a:t>
            </a:r>
            <a:endParaRPr lang="en-IN" sz="2800" dirty="0"/>
          </a:p>
        </p:txBody>
      </p:sp>
    </p:spTree>
    <p:extLst>
      <p:ext uri="{BB962C8B-B14F-4D97-AF65-F5344CB8AC3E}">
        <p14:creationId xmlns:p14="http://schemas.microsoft.com/office/powerpoint/2010/main" val="21981502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E0969-E232-4AE3-BD8C-9FA0547F132F}"/>
              </a:ext>
            </a:extLst>
          </p:cNvPr>
          <p:cNvSpPr>
            <a:spLocks noGrp="1"/>
          </p:cNvSpPr>
          <p:nvPr>
            <p:ph type="title"/>
          </p:nvPr>
        </p:nvSpPr>
        <p:spPr>
          <a:xfrm>
            <a:off x="1143001" y="196487"/>
            <a:ext cx="9905998" cy="675710"/>
          </a:xfrm>
        </p:spPr>
        <p:txBody>
          <a:bodyPr/>
          <a:lstStyle/>
          <a:p>
            <a:r>
              <a:rPr lang="en-US" dirty="0"/>
              <a:t>What cannot be used with IOT</a:t>
            </a:r>
            <a:endParaRPr lang="en-IN" dirty="0"/>
          </a:p>
        </p:txBody>
      </p:sp>
      <p:pic>
        <p:nvPicPr>
          <p:cNvPr id="9220" name="Picture 4" descr="Watt Governor - Construction And Working">
            <a:extLst>
              <a:ext uri="{FF2B5EF4-FFF2-40B4-BE49-F238E27FC236}">
                <a16:creationId xmlns:a16="http://schemas.microsoft.com/office/drawing/2014/main" id="{FD35EB07-A87D-45C1-B90A-08F2C46A7F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9782" y="872196"/>
            <a:ext cx="9168618" cy="5670511"/>
          </a:xfrm>
          <a:prstGeom prst="rect">
            <a:avLst/>
          </a:prstGeom>
          <a:noFill/>
          <a:ln w="85725">
            <a:solidFill>
              <a:srgbClr val="FFFF00"/>
            </a:solidFill>
          </a:ln>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5E48EC5-5C40-4A08-8965-60CA00935702}"/>
              </a:ext>
            </a:extLst>
          </p:cNvPr>
          <p:cNvSpPr txBox="1"/>
          <p:nvPr/>
        </p:nvSpPr>
        <p:spPr>
          <a:xfrm>
            <a:off x="10424160" y="2686929"/>
            <a:ext cx="1561514" cy="1754326"/>
          </a:xfrm>
          <a:prstGeom prst="rect">
            <a:avLst/>
          </a:prstGeom>
          <a:noFill/>
          <a:ln w="82550">
            <a:solidFill>
              <a:srgbClr val="FFFF00"/>
            </a:solidFill>
          </a:ln>
        </p:spPr>
        <p:txBody>
          <a:bodyPr wrap="square" rtlCol="0">
            <a:spAutoFit/>
          </a:bodyPr>
          <a:lstStyle/>
          <a:p>
            <a:r>
              <a:rPr lang="en-US" dirty="0"/>
              <a:t>When there </a:t>
            </a:r>
          </a:p>
          <a:p>
            <a:r>
              <a:rPr lang="en-US" dirty="0"/>
              <a:t>Was NO RPM sensors available This was the only option.</a:t>
            </a:r>
            <a:endParaRPr lang="en-IN" dirty="0"/>
          </a:p>
        </p:txBody>
      </p:sp>
    </p:spTree>
    <p:extLst>
      <p:ext uri="{BB962C8B-B14F-4D97-AF65-F5344CB8AC3E}">
        <p14:creationId xmlns:p14="http://schemas.microsoft.com/office/powerpoint/2010/main" val="15459827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63A68-6789-4645-81E6-9CFD85232DBA}"/>
              </a:ext>
            </a:extLst>
          </p:cNvPr>
          <p:cNvSpPr>
            <a:spLocks noGrp="1"/>
          </p:cNvSpPr>
          <p:nvPr>
            <p:ph type="title"/>
          </p:nvPr>
        </p:nvSpPr>
        <p:spPr>
          <a:xfrm>
            <a:off x="1143001" y="182420"/>
            <a:ext cx="9905998" cy="746048"/>
          </a:xfrm>
        </p:spPr>
        <p:txBody>
          <a:bodyPr/>
          <a:lstStyle/>
          <a:p>
            <a:r>
              <a:rPr lang="en-US" dirty="0"/>
              <a:t>Nature of sensors</a:t>
            </a:r>
            <a:endParaRPr lang="en-IN" dirty="0"/>
          </a:p>
        </p:txBody>
      </p:sp>
      <p:graphicFrame>
        <p:nvGraphicFramePr>
          <p:cNvPr id="3" name="Table 3">
            <a:extLst>
              <a:ext uri="{FF2B5EF4-FFF2-40B4-BE49-F238E27FC236}">
                <a16:creationId xmlns:a16="http://schemas.microsoft.com/office/drawing/2014/main" id="{A7FE8592-0561-4B5A-BA09-9F8F2009C34C}"/>
              </a:ext>
            </a:extLst>
          </p:cNvPr>
          <p:cNvGraphicFramePr>
            <a:graphicFrameLocks noGrp="1"/>
          </p:cNvGraphicFramePr>
          <p:nvPr>
            <p:extLst>
              <p:ext uri="{D42A27DB-BD31-4B8C-83A1-F6EECF244321}">
                <p14:modId xmlns:p14="http://schemas.microsoft.com/office/powerpoint/2010/main" val="661892141"/>
              </p:ext>
            </p:extLst>
          </p:nvPr>
        </p:nvGraphicFramePr>
        <p:xfrm>
          <a:off x="864380" y="928468"/>
          <a:ext cx="5015915" cy="5528600"/>
        </p:xfrm>
        <a:graphic>
          <a:graphicData uri="http://schemas.openxmlformats.org/drawingml/2006/table">
            <a:tbl>
              <a:tblPr firstRow="1" bandRow="1">
                <a:tableStyleId>{5C22544A-7EE6-4342-B048-85BDC9FD1C3A}</a:tableStyleId>
              </a:tblPr>
              <a:tblGrid>
                <a:gridCol w="612727">
                  <a:extLst>
                    <a:ext uri="{9D8B030D-6E8A-4147-A177-3AD203B41FA5}">
                      <a16:colId xmlns:a16="http://schemas.microsoft.com/office/drawing/2014/main" val="1054420651"/>
                    </a:ext>
                  </a:extLst>
                </a:gridCol>
                <a:gridCol w="4403188">
                  <a:extLst>
                    <a:ext uri="{9D8B030D-6E8A-4147-A177-3AD203B41FA5}">
                      <a16:colId xmlns:a16="http://schemas.microsoft.com/office/drawing/2014/main" val="2263773030"/>
                    </a:ext>
                  </a:extLst>
                </a:gridCol>
              </a:tblGrid>
              <a:tr h="502600">
                <a:tc>
                  <a:txBody>
                    <a:bodyPr/>
                    <a:lstStyle/>
                    <a:p>
                      <a:r>
                        <a:rPr lang="en-US" dirty="0"/>
                        <a:t>NO</a:t>
                      </a:r>
                      <a:endParaRPr lang="en-IN" dirty="0"/>
                    </a:p>
                  </a:txBody>
                  <a:tcPr/>
                </a:tc>
                <a:tc>
                  <a:txBody>
                    <a:bodyPr/>
                    <a:lstStyle/>
                    <a:p>
                      <a:r>
                        <a:rPr lang="en-US" dirty="0"/>
                        <a:t>Sensor Use</a:t>
                      </a:r>
                      <a:endParaRPr lang="en-IN" dirty="0"/>
                    </a:p>
                  </a:txBody>
                  <a:tcPr/>
                </a:tc>
                <a:extLst>
                  <a:ext uri="{0D108BD9-81ED-4DB2-BD59-A6C34878D82A}">
                    <a16:rowId xmlns:a16="http://schemas.microsoft.com/office/drawing/2014/main" val="1114269011"/>
                  </a:ext>
                </a:extLst>
              </a:tr>
              <a:tr h="502600">
                <a:tc>
                  <a:txBody>
                    <a:bodyPr/>
                    <a:lstStyle/>
                    <a:p>
                      <a:r>
                        <a:rPr lang="en-US" dirty="0"/>
                        <a:t>1</a:t>
                      </a:r>
                      <a:endParaRPr lang="en-IN" dirty="0"/>
                    </a:p>
                  </a:txBody>
                  <a:tcPr/>
                </a:tc>
                <a:tc>
                  <a:txBody>
                    <a:bodyPr/>
                    <a:lstStyle/>
                    <a:p>
                      <a:r>
                        <a:rPr lang="en-US" dirty="0"/>
                        <a:t> Temperature and </a:t>
                      </a:r>
                      <a:r>
                        <a:rPr lang="en-US" dirty="0" err="1"/>
                        <a:t>Humudity</a:t>
                      </a:r>
                      <a:r>
                        <a:rPr lang="en-US" dirty="0"/>
                        <a:t> </a:t>
                      </a:r>
                      <a:endParaRPr lang="en-IN" dirty="0"/>
                    </a:p>
                  </a:txBody>
                  <a:tcPr/>
                </a:tc>
                <a:extLst>
                  <a:ext uri="{0D108BD9-81ED-4DB2-BD59-A6C34878D82A}">
                    <a16:rowId xmlns:a16="http://schemas.microsoft.com/office/drawing/2014/main" val="2838796292"/>
                  </a:ext>
                </a:extLst>
              </a:tr>
              <a:tr h="502600">
                <a:tc>
                  <a:txBody>
                    <a:bodyPr/>
                    <a:lstStyle/>
                    <a:p>
                      <a:r>
                        <a:rPr lang="en-US" dirty="0"/>
                        <a:t>2</a:t>
                      </a:r>
                      <a:endParaRPr lang="en-IN" dirty="0"/>
                    </a:p>
                  </a:txBody>
                  <a:tcPr/>
                </a:tc>
                <a:tc>
                  <a:txBody>
                    <a:bodyPr/>
                    <a:lstStyle/>
                    <a:p>
                      <a:r>
                        <a:rPr lang="en-US" dirty="0"/>
                        <a:t>Water Turbidity  sensor</a:t>
                      </a:r>
                      <a:endParaRPr lang="en-IN" dirty="0"/>
                    </a:p>
                  </a:txBody>
                  <a:tcPr/>
                </a:tc>
                <a:extLst>
                  <a:ext uri="{0D108BD9-81ED-4DB2-BD59-A6C34878D82A}">
                    <a16:rowId xmlns:a16="http://schemas.microsoft.com/office/drawing/2014/main" val="1777834111"/>
                  </a:ext>
                </a:extLst>
              </a:tr>
              <a:tr h="502600">
                <a:tc>
                  <a:txBody>
                    <a:bodyPr/>
                    <a:lstStyle/>
                    <a:p>
                      <a:r>
                        <a:rPr lang="en-US" dirty="0"/>
                        <a:t>3</a:t>
                      </a:r>
                      <a:endParaRPr lang="en-IN" dirty="0"/>
                    </a:p>
                  </a:txBody>
                  <a:tcPr/>
                </a:tc>
                <a:tc>
                  <a:txBody>
                    <a:bodyPr/>
                    <a:lstStyle/>
                    <a:p>
                      <a:r>
                        <a:rPr lang="en-US" dirty="0"/>
                        <a:t>Air quality(Co2, methane,  </a:t>
                      </a:r>
                      <a:r>
                        <a:rPr lang="en-US" dirty="0" err="1"/>
                        <a:t>etc</a:t>
                      </a:r>
                      <a:r>
                        <a:rPr lang="en-US" dirty="0"/>
                        <a:t>) </a:t>
                      </a:r>
                      <a:endParaRPr lang="en-IN" dirty="0"/>
                    </a:p>
                  </a:txBody>
                  <a:tcPr/>
                </a:tc>
                <a:extLst>
                  <a:ext uri="{0D108BD9-81ED-4DB2-BD59-A6C34878D82A}">
                    <a16:rowId xmlns:a16="http://schemas.microsoft.com/office/drawing/2014/main" val="4084974812"/>
                  </a:ext>
                </a:extLst>
              </a:tr>
              <a:tr h="502600">
                <a:tc>
                  <a:txBody>
                    <a:bodyPr/>
                    <a:lstStyle/>
                    <a:p>
                      <a:r>
                        <a:rPr lang="en-US" dirty="0"/>
                        <a:t>4</a:t>
                      </a:r>
                      <a:endParaRPr lang="en-IN" dirty="0"/>
                    </a:p>
                  </a:txBody>
                  <a:tcPr/>
                </a:tc>
                <a:tc>
                  <a:txBody>
                    <a:bodyPr/>
                    <a:lstStyle/>
                    <a:p>
                      <a:r>
                        <a:rPr lang="en-US" dirty="0"/>
                        <a:t>Dust Sensor</a:t>
                      </a:r>
                      <a:endParaRPr lang="en-IN" dirty="0"/>
                    </a:p>
                  </a:txBody>
                  <a:tcPr/>
                </a:tc>
                <a:extLst>
                  <a:ext uri="{0D108BD9-81ED-4DB2-BD59-A6C34878D82A}">
                    <a16:rowId xmlns:a16="http://schemas.microsoft.com/office/drawing/2014/main" val="2260305272"/>
                  </a:ext>
                </a:extLst>
              </a:tr>
              <a:tr h="502600">
                <a:tc>
                  <a:txBody>
                    <a:bodyPr/>
                    <a:lstStyle/>
                    <a:p>
                      <a:r>
                        <a:rPr lang="en-US" dirty="0"/>
                        <a:t>5</a:t>
                      </a:r>
                      <a:endParaRPr lang="en-IN" dirty="0"/>
                    </a:p>
                  </a:txBody>
                  <a:tcPr/>
                </a:tc>
                <a:tc>
                  <a:txBody>
                    <a:bodyPr/>
                    <a:lstStyle/>
                    <a:p>
                      <a:r>
                        <a:rPr lang="en-US" dirty="0"/>
                        <a:t>Current Sensor</a:t>
                      </a:r>
                      <a:endParaRPr lang="en-IN" dirty="0"/>
                    </a:p>
                  </a:txBody>
                  <a:tcPr/>
                </a:tc>
                <a:extLst>
                  <a:ext uri="{0D108BD9-81ED-4DB2-BD59-A6C34878D82A}">
                    <a16:rowId xmlns:a16="http://schemas.microsoft.com/office/drawing/2014/main" val="2105227511"/>
                  </a:ext>
                </a:extLst>
              </a:tr>
              <a:tr h="502600">
                <a:tc>
                  <a:txBody>
                    <a:bodyPr/>
                    <a:lstStyle/>
                    <a:p>
                      <a:r>
                        <a:rPr lang="en-US" dirty="0"/>
                        <a:t>6 </a:t>
                      </a:r>
                      <a:endParaRPr lang="en-IN" dirty="0"/>
                    </a:p>
                  </a:txBody>
                  <a:tcPr/>
                </a:tc>
                <a:tc>
                  <a:txBody>
                    <a:bodyPr/>
                    <a:lstStyle/>
                    <a:p>
                      <a:r>
                        <a:rPr lang="en-US" dirty="0"/>
                        <a:t>pH and  TDS sensor</a:t>
                      </a:r>
                      <a:endParaRPr lang="en-IN" dirty="0"/>
                    </a:p>
                  </a:txBody>
                  <a:tcPr/>
                </a:tc>
                <a:extLst>
                  <a:ext uri="{0D108BD9-81ED-4DB2-BD59-A6C34878D82A}">
                    <a16:rowId xmlns:a16="http://schemas.microsoft.com/office/drawing/2014/main" val="824469222"/>
                  </a:ext>
                </a:extLst>
              </a:tr>
              <a:tr h="502600">
                <a:tc>
                  <a:txBody>
                    <a:bodyPr/>
                    <a:lstStyle/>
                    <a:p>
                      <a:r>
                        <a:rPr lang="en-US" dirty="0"/>
                        <a:t>7</a:t>
                      </a:r>
                      <a:endParaRPr lang="en-IN" dirty="0"/>
                    </a:p>
                  </a:txBody>
                  <a:tcPr/>
                </a:tc>
                <a:tc>
                  <a:txBody>
                    <a:bodyPr/>
                    <a:lstStyle/>
                    <a:p>
                      <a:r>
                        <a:rPr lang="en-US" dirty="0"/>
                        <a:t>Optical Sensor</a:t>
                      </a:r>
                      <a:endParaRPr lang="en-IN" dirty="0"/>
                    </a:p>
                  </a:txBody>
                  <a:tcPr/>
                </a:tc>
                <a:extLst>
                  <a:ext uri="{0D108BD9-81ED-4DB2-BD59-A6C34878D82A}">
                    <a16:rowId xmlns:a16="http://schemas.microsoft.com/office/drawing/2014/main" val="1262236347"/>
                  </a:ext>
                </a:extLst>
              </a:tr>
              <a:tr h="502600">
                <a:tc>
                  <a:txBody>
                    <a:bodyPr/>
                    <a:lstStyle/>
                    <a:p>
                      <a:r>
                        <a:rPr lang="en-US" dirty="0"/>
                        <a:t>8</a:t>
                      </a:r>
                      <a:endParaRPr lang="en-IN" dirty="0"/>
                    </a:p>
                  </a:txBody>
                  <a:tcPr/>
                </a:tc>
                <a:tc>
                  <a:txBody>
                    <a:bodyPr/>
                    <a:lstStyle/>
                    <a:p>
                      <a:r>
                        <a:rPr lang="en-US" dirty="0"/>
                        <a:t>Magnetic field sensors / Hall effect sensors</a:t>
                      </a:r>
                      <a:endParaRPr lang="en-IN" dirty="0"/>
                    </a:p>
                  </a:txBody>
                  <a:tcPr/>
                </a:tc>
                <a:extLst>
                  <a:ext uri="{0D108BD9-81ED-4DB2-BD59-A6C34878D82A}">
                    <a16:rowId xmlns:a16="http://schemas.microsoft.com/office/drawing/2014/main" val="3373279978"/>
                  </a:ext>
                </a:extLst>
              </a:tr>
              <a:tr h="502600">
                <a:tc>
                  <a:txBody>
                    <a:bodyPr/>
                    <a:lstStyle/>
                    <a:p>
                      <a:r>
                        <a:rPr lang="en-US" dirty="0"/>
                        <a:t>9</a:t>
                      </a:r>
                      <a:endParaRPr lang="en-IN" dirty="0"/>
                    </a:p>
                  </a:txBody>
                  <a:tcPr/>
                </a:tc>
                <a:tc>
                  <a:txBody>
                    <a:bodyPr/>
                    <a:lstStyle/>
                    <a:p>
                      <a:r>
                        <a:rPr lang="en-US" dirty="0"/>
                        <a:t>Vibration Sensor</a:t>
                      </a:r>
                      <a:endParaRPr lang="en-IN" dirty="0"/>
                    </a:p>
                  </a:txBody>
                  <a:tcPr/>
                </a:tc>
                <a:extLst>
                  <a:ext uri="{0D108BD9-81ED-4DB2-BD59-A6C34878D82A}">
                    <a16:rowId xmlns:a16="http://schemas.microsoft.com/office/drawing/2014/main" val="3365324150"/>
                  </a:ext>
                </a:extLst>
              </a:tr>
              <a:tr h="502600">
                <a:tc>
                  <a:txBody>
                    <a:bodyPr/>
                    <a:lstStyle/>
                    <a:p>
                      <a:r>
                        <a:rPr lang="en-US" dirty="0"/>
                        <a:t>10</a:t>
                      </a:r>
                      <a:endParaRPr lang="en-IN" dirty="0"/>
                    </a:p>
                  </a:txBody>
                  <a:tcPr/>
                </a:tc>
                <a:tc>
                  <a:txBody>
                    <a:bodyPr/>
                    <a:lstStyle/>
                    <a:p>
                      <a:r>
                        <a:rPr lang="en-US" dirty="0"/>
                        <a:t>Electronic Gyroscope </a:t>
                      </a:r>
                      <a:endParaRPr lang="en-IN" dirty="0"/>
                    </a:p>
                  </a:txBody>
                  <a:tcPr/>
                </a:tc>
                <a:extLst>
                  <a:ext uri="{0D108BD9-81ED-4DB2-BD59-A6C34878D82A}">
                    <a16:rowId xmlns:a16="http://schemas.microsoft.com/office/drawing/2014/main" val="350540004"/>
                  </a:ext>
                </a:extLst>
              </a:tr>
            </a:tbl>
          </a:graphicData>
        </a:graphic>
      </p:graphicFrame>
      <p:graphicFrame>
        <p:nvGraphicFramePr>
          <p:cNvPr id="5" name="Table 3">
            <a:extLst>
              <a:ext uri="{FF2B5EF4-FFF2-40B4-BE49-F238E27FC236}">
                <a16:creationId xmlns:a16="http://schemas.microsoft.com/office/drawing/2014/main" id="{CB4CDCCF-8BD2-4476-9E06-482A9B678302}"/>
              </a:ext>
            </a:extLst>
          </p:cNvPr>
          <p:cNvGraphicFramePr>
            <a:graphicFrameLocks noGrp="1"/>
          </p:cNvGraphicFramePr>
          <p:nvPr>
            <p:extLst>
              <p:ext uri="{D42A27DB-BD31-4B8C-83A1-F6EECF244321}">
                <p14:modId xmlns:p14="http://schemas.microsoft.com/office/powerpoint/2010/main" val="211176024"/>
              </p:ext>
            </p:extLst>
          </p:nvPr>
        </p:nvGraphicFramePr>
        <p:xfrm>
          <a:off x="6311707" y="942536"/>
          <a:ext cx="5015915" cy="5528600"/>
        </p:xfrm>
        <a:graphic>
          <a:graphicData uri="http://schemas.openxmlformats.org/drawingml/2006/table">
            <a:tbl>
              <a:tblPr firstRow="1" bandRow="1">
                <a:tableStyleId>{5C22544A-7EE6-4342-B048-85BDC9FD1C3A}</a:tableStyleId>
              </a:tblPr>
              <a:tblGrid>
                <a:gridCol w="612727">
                  <a:extLst>
                    <a:ext uri="{9D8B030D-6E8A-4147-A177-3AD203B41FA5}">
                      <a16:colId xmlns:a16="http://schemas.microsoft.com/office/drawing/2014/main" val="1054420651"/>
                    </a:ext>
                  </a:extLst>
                </a:gridCol>
                <a:gridCol w="4403188">
                  <a:extLst>
                    <a:ext uri="{9D8B030D-6E8A-4147-A177-3AD203B41FA5}">
                      <a16:colId xmlns:a16="http://schemas.microsoft.com/office/drawing/2014/main" val="2263773030"/>
                    </a:ext>
                  </a:extLst>
                </a:gridCol>
              </a:tblGrid>
              <a:tr h="502600">
                <a:tc>
                  <a:txBody>
                    <a:bodyPr/>
                    <a:lstStyle/>
                    <a:p>
                      <a:r>
                        <a:rPr lang="en-US" dirty="0"/>
                        <a:t>NO</a:t>
                      </a:r>
                      <a:endParaRPr lang="en-IN" dirty="0"/>
                    </a:p>
                  </a:txBody>
                  <a:tcPr/>
                </a:tc>
                <a:tc>
                  <a:txBody>
                    <a:bodyPr/>
                    <a:lstStyle/>
                    <a:p>
                      <a:r>
                        <a:rPr lang="en-US" dirty="0"/>
                        <a:t>Sensor Use</a:t>
                      </a:r>
                      <a:endParaRPr lang="en-IN" dirty="0"/>
                    </a:p>
                  </a:txBody>
                  <a:tcPr/>
                </a:tc>
                <a:extLst>
                  <a:ext uri="{0D108BD9-81ED-4DB2-BD59-A6C34878D82A}">
                    <a16:rowId xmlns:a16="http://schemas.microsoft.com/office/drawing/2014/main" val="1114269011"/>
                  </a:ext>
                </a:extLst>
              </a:tr>
              <a:tr h="502600">
                <a:tc>
                  <a:txBody>
                    <a:bodyPr/>
                    <a:lstStyle/>
                    <a:p>
                      <a:r>
                        <a:rPr lang="en-US" dirty="0"/>
                        <a:t>11</a:t>
                      </a:r>
                      <a:endParaRPr lang="en-IN" dirty="0"/>
                    </a:p>
                  </a:txBody>
                  <a:tcPr/>
                </a:tc>
                <a:tc>
                  <a:txBody>
                    <a:bodyPr/>
                    <a:lstStyle/>
                    <a:p>
                      <a:r>
                        <a:rPr lang="en-US" dirty="0"/>
                        <a:t> RPM Sensor</a:t>
                      </a:r>
                      <a:endParaRPr lang="en-IN" dirty="0"/>
                    </a:p>
                  </a:txBody>
                  <a:tcPr/>
                </a:tc>
                <a:extLst>
                  <a:ext uri="{0D108BD9-81ED-4DB2-BD59-A6C34878D82A}">
                    <a16:rowId xmlns:a16="http://schemas.microsoft.com/office/drawing/2014/main" val="2838796292"/>
                  </a:ext>
                </a:extLst>
              </a:tr>
              <a:tr h="502600">
                <a:tc>
                  <a:txBody>
                    <a:bodyPr/>
                    <a:lstStyle/>
                    <a:p>
                      <a:r>
                        <a:rPr lang="en-US" dirty="0"/>
                        <a:t>12</a:t>
                      </a:r>
                      <a:endParaRPr lang="en-IN" dirty="0"/>
                    </a:p>
                  </a:txBody>
                  <a:tcPr/>
                </a:tc>
                <a:tc>
                  <a:txBody>
                    <a:bodyPr/>
                    <a:lstStyle/>
                    <a:p>
                      <a:r>
                        <a:rPr lang="en-US" dirty="0"/>
                        <a:t>Water Pressure Sensor</a:t>
                      </a:r>
                      <a:endParaRPr lang="en-IN" dirty="0"/>
                    </a:p>
                  </a:txBody>
                  <a:tcPr/>
                </a:tc>
                <a:extLst>
                  <a:ext uri="{0D108BD9-81ED-4DB2-BD59-A6C34878D82A}">
                    <a16:rowId xmlns:a16="http://schemas.microsoft.com/office/drawing/2014/main" val="1777834111"/>
                  </a:ext>
                </a:extLst>
              </a:tr>
              <a:tr h="502600">
                <a:tc>
                  <a:txBody>
                    <a:bodyPr/>
                    <a:lstStyle/>
                    <a:p>
                      <a:r>
                        <a:rPr lang="en-US" dirty="0"/>
                        <a:t>13</a:t>
                      </a:r>
                      <a:endParaRPr lang="en-IN" dirty="0"/>
                    </a:p>
                  </a:txBody>
                  <a:tcPr/>
                </a:tc>
                <a:tc>
                  <a:txBody>
                    <a:bodyPr/>
                    <a:lstStyle/>
                    <a:p>
                      <a:r>
                        <a:rPr lang="en-US" dirty="0"/>
                        <a:t>Weight Sensor</a:t>
                      </a:r>
                      <a:endParaRPr lang="en-IN" dirty="0"/>
                    </a:p>
                  </a:txBody>
                  <a:tcPr/>
                </a:tc>
                <a:extLst>
                  <a:ext uri="{0D108BD9-81ED-4DB2-BD59-A6C34878D82A}">
                    <a16:rowId xmlns:a16="http://schemas.microsoft.com/office/drawing/2014/main" val="4084974812"/>
                  </a:ext>
                </a:extLst>
              </a:tr>
              <a:tr h="502600">
                <a:tc>
                  <a:txBody>
                    <a:bodyPr/>
                    <a:lstStyle/>
                    <a:p>
                      <a:r>
                        <a:rPr lang="en-US" dirty="0"/>
                        <a:t>14</a:t>
                      </a:r>
                      <a:endParaRPr lang="en-IN" dirty="0"/>
                    </a:p>
                  </a:txBody>
                  <a:tcPr/>
                </a:tc>
                <a:tc>
                  <a:txBody>
                    <a:bodyPr/>
                    <a:lstStyle/>
                    <a:p>
                      <a:r>
                        <a:rPr lang="en-US" dirty="0"/>
                        <a:t>Proximity sensor</a:t>
                      </a:r>
                      <a:endParaRPr lang="en-IN" dirty="0"/>
                    </a:p>
                  </a:txBody>
                  <a:tcPr/>
                </a:tc>
                <a:extLst>
                  <a:ext uri="{0D108BD9-81ED-4DB2-BD59-A6C34878D82A}">
                    <a16:rowId xmlns:a16="http://schemas.microsoft.com/office/drawing/2014/main" val="2260305272"/>
                  </a:ext>
                </a:extLst>
              </a:tr>
              <a:tr h="502600">
                <a:tc>
                  <a:txBody>
                    <a:bodyPr/>
                    <a:lstStyle/>
                    <a:p>
                      <a:r>
                        <a:rPr lang="en-US" dirty="0"/>
                        <a:t>15</a:t>
                      </a:r>
                      <a:endParaRPr lang="en-IN" dirty="0"/>
                    </a:p>
                  </a:txBody>
                  <a:tcPr/>
                </a:tc>
                <a:tc>
                  <a:txBody>
                    <a:bodyPr/>
                    <a:lstStyle/>
                    <a:p>
                      <a:r>
                        <a:rPr lang="en-US" dirty="0"/>
                        <a:t>Wind speed sensor</a:t>
                      </a:r>
                      <a:endParaRPr lang="en-IN" dirty="0"/>
                    </a:p>
                  </a:txBody>
                  <a:tcPr/>
                </a:tc>
                <a:extLst>
                  <a:ext uri="{0D108BD9-81ED-4DB2-BD59-A6C34878D82A}">
                    <a16:rowId xmlns:a16="http://schemas.microsoft.com/office/drawing/2014/main" val="2105227511"/>
                  </a:ext>
                </a:extLst>
              </a:tr>
              <a:tr h="502600">
                <a:tc>
                  <a:txBody>
                    <a:bodyPr/>
                    <a:lstStyle/>
                    <a:p>
                      <a:r>
                        <a:rPr lang="en-US" dirty="0"/>
                        <a:t>16</a:t>
                      </a:r>
                      <a:endParaRPr lang="en-IN" dirty="0"/>
                    </a:p>
                  </a:txBody>
                  <a:tcPr/>
                </a:tc>
                <a:tc>
                  <a:txBody>
                    <a:bodyPr/>
                    <a:lstStyle/>
                    <a:p>
                      <a:r>
                        <a:rPr lang="en-US" dirty="0"/>
                        <a:t>GPS</a:t>
                      </a:r>
                      <a:endParaRPr lang="en-IN" dirty="0"/>
                    </a:p>
                  </a:txBody>
                  <a:tcPr/>
                </a:tc>
                <a:extLst>
                  <a:ext uri="{0D108BD9-81ED-4DB2-BD59-A6C34878D82A}">
                    <a16:rowId xmlns:a16="http://schemas.microsoft.com/office/drawing/2014/main" val="824469222"/>
                  </a:ext>
                </a:extLst>
              </a:tr>
              <a:tr h="502600">
                <a:tc>
                  <a:txBody>
                    <a:bodyPr/>
                    <a:lstStyle/>
                    <a:p>
                      <a:r>
                        <a:rPr lang="en-US" dirty="0"/>
                        <a:t>17</a:t>
                      </a:r>
                      <a:endParaRPr lang="en-IN" dirty="0"/>
                    </a:p>
                  </a:txBody>
                  <a:tcPr/>
                </a:tc>
                <a:tc>
                  <a:txBody>
                    <a:bodyPr/>
                    <a:lstStyle/>
                    <a:p>
                      <a:r>
                        <a:rPr lang="en-US" dirty="0"/>
                        <a:t>Heart Beat and SPO2 sensor</a:t>
                      </a:r>
                      <a:endParaRPr lang="en-IN" dirty="0"/>
                    </a:p>
                  </a:txBody>
                  <a:tcPr/>
                </a:tc>
                <a:extLst>
                  <a:ext uri="{0D108BD9-81ED-4DB2-BD59-A6C34878D82A}">
                    <a16:rowId xmlns:a16="http://schemas.microsoft.com/office/drawing/2014/main" val="1262236347"/>
                  </a:ext>
                </a:extLst>
              </a:tr>
              <a:tr h="502600">
                <a:tc>
                  <a:txBody>
                    <a:bodyPr/>
                    <a:lstStyle/>
                    <a:p>
                      <a:r>
                        <a:rPr lang="en-US" dirty="0"/>
                        <a:t>18</a:t>
                      </a:r>
                      <a:endParaRPr lang="en-IN" dirty="0"/>
                    </a:p>
                  </a:txBody>
                  <a:tcPr/>
                </a:tc>
                <a:tc>
                  <a:txBody>
                    <a:bodyPr/>
                    <a:lstStyle/>
                    <a:p>
                      <a:r>
                        <a:rPr lang="en-US" dirty="0"/>
                        <a:t>Tilt sensor</a:t>
                      </a:r>
                      <a:endParaRPr lang="en-IN" dirty="0"/>
                    </a:p>
                  </a:txBody>
                  <a:tcPr/>
                </a:tc>
                <a:extLst>
                  <a:ext uri="{0D108BD9-81ED-4DB2-BD59-A6C34878D82A}">
                    <a16:rowId xmlns:a16="http://schemas.microsoft.com/office/drawing/2014/main" val="3373279978"/>
                  </a:ext>
                </a:extLst>
              </a:tr>
              <a:tr h="502600">
                <a:tc>
                  <a:txBody>
                    <a:bodyPr/>
                    <a:lstStyle/>
                    <a:p>
                      <a:r>
                        <a:rPr lang="en-US" dirty="0"/>
                        <a:t>19</a:t>
                      </a:r>
                      <a:endParaRPr lang="en-IN" dirty="0"/>
                    </a:p>
                  </a:txBody>
                  <a:tcPr/>
                </a:tc>
                <a:tc>
                  <a:txBody>
                    <a:bodyPr/>
                    <a:lstStyle/>
                    <a:p>
                      <a:r>
                        <a:rPr lang="en-US" dirty="0"/>
                        <a:t>Gas leakage  sensor</a:t>
                      </a:r>
                      <a:endParaRPr lang="en-IN" dirty="0"/>
                    </a:p>
                  </a:txBody>
                  <a:tcPr/>
                </a:tc>
                <a:extLst>
                  <a:ext uri="{0D108BD9-81ED-4DB2-BD59-A6C34878D82A}">
                    <a16:rowId xmlns:a16="http://schemas.microsoft.com/office/drawing/2014/main" val="3365324150"/>
                  </a:ext>
                </a:extLst>
              </a:tr>
              <a:tr h="502600">
                <a:tc>
                  <a:txBody>
                    <a:bodyPr/>
                    <a:lstStyle/>
                    <a:p>
                      <a:r>
                        <a:rPr lang="en-US" dirty="0"/>
                        <a:t>20</a:t>
                      </a:r>
                      <a:endParaRPr lang="en-IN" dirty="0"/>
                    </a:p>
                  </a:txBody>
                  <a:tcPr/>
                </a:tc>
                <a:tc>
                  <a:txBody>
                    <a:bodyPr/>
                    <a:lstStyle/>
                    <a:p>
                      <a:r>
                        <a:rPr lang="en-US" dirty="0"/>
                        <a:t>Touch sensor</a:t>
                      </a:r>
                      <a:endParaRPr lang="en-IN" dirty="0"/>
                    </a:p>
                  </a:txBody>
                  <a:tcPr/>
                </a:tc>
                <a:extLst>
                  <a:ext uri="{0D108BD9-81ED-4DB2-BD59-A6C34878D82A}">
                    <a16:rowId xmlns:a16="http://schemas.microsoft.com/office/drawing/2014/main" val="350540004"/>
                  </a:ext>
                </a:extLst>
              </a:tr>
            </a:tbl>
          </a:graphicData>
        </a:graphic>
      </p:graphicFrame>
    </p:spTree>
    <p:extLst>
      <p:ext uri="{BB962C8B-B14F-4D97-AF65-F5344CB8AC3E}">
        <p14:creationId xmlns:p14="http://schemas.microsoft.com/office/powerpoint/2010/main" val="22171465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1334C-41EC-4325-A326-3625E3252FF9}"/>
              </a:ext>
            </a:extLst>
          </p:cNvPr>
          <p:cNvSpPr>
            <a:spLocks noGrp="1"/>
          </p:cNvSpPr>
          <p:nvPr>
            <p:ph type="title"/>
          </p:nvPr>
        </p:nvSpPr>
        <p:spPr>
          <a:xfrm>
            <a:off x="1260683" y="393232"/>
            <a:ext cx="9905998" cy="719952"/>
          </a:xfrm>
        </p:spPr>
        <p:txBody>
          <a:bodyPr/>
          <a:lstStyle/>
          <a:p>
            <a:r>
              <a:rPr lang="en-US" dirty="0"/>
              <a:t>What are </a:t>
            </a:r>
            <a:r>
              <a:rPr lang="en-IN" sz="3600" dirty="0"/>
              <a:t>Actuators</a:t>
            </a:r>
            <a:endParaRPr lang="en-IN" dirty="0"/>
          </a:p>
        </p:txBody>
      </p:sp>
      <p:sp>
        <p:nvSpPr>
          <p:cNvPr id="6" name="TextBox 5">
            <a:extLst>
              <a:ext uri="{FF2B5EF4-FFF2-40B4-BE49-F238E27FC236}">
                <a16:creationId xmlns:a16="http://schemas.microsoft.com/office/drawing/2014/main" id="{3EC0507B-FDBC-495A-A957-09EE31E83368}"/>
              </a:ext>
            </a:extLst>
          </p:cNvPr>
          <p:cNvSpPr txBox="1"/>
          <p:nvPr/>
        </p:nvSpPr>
        <p:spPr>
          <a:xfrm>
            <a:off x="1153549" y="1366897"/>
            <a:ext cx="9411287" cy="2062103"/>
          </a:xfrm>
          <a:prstGeom prst="rect">
            <a:avLst/>
          </a:prstGeom>
          <a:noFill/>
        </p:spPr>
        <p:txBody>
          <a:bodyPr wrap="square">
            <a:spAutoFit/>
          </a:bodyPr>
          <a:lstStyle/>
          <a:p>
            <a:pPr algn="just"/>
            <a:r>
              <a:rPr lang="en-IN" sz="3200" dirty="0"/>
              <a:t>An actuator is a component of a machine that is responsible for moving and controlling a mechanism or system, for example by opening a valve. In simple terms, it is a "mover".</a:t>
            </a:r>
          </a:p>
        </p:txBody>
      </p:sp>
      <p:sp>
        <p:nvSpPr>
          <p:cNvPr id="8" name="Rectangle: Rounded Corners 7">
            <a:extLst>
              <a:ext uri="{FF2B5EF4-FFF2-40B4-BE49-F238E27FC236}">
                <a16:creationId xmlns:a16="http://schemas.microsoft.com/office/drawing/2014/main" id="{C8A25572-B347-4DDF-83D3-4C0FBE361363}"/>
              </a:ext>
            </a:extLst>
          </p:cNvPr>
          <p:cNvSpPr/>
          <p:nvPr/>
        </p:nvSpPr>
        <p:spPr>
          <a:xfrm>
            <a:off x="3530991" y="3944307"/>
            <a:ext cx="4529797" cy="1153550"/>
          </a:xfrm>
          <a:prstGeom prst="roundRect">
            <a:avLst/>
          </a:prstGeom>
          <a:solidFill>
            <a:schemeClr val="accent5">
              <a:lumMod val="60000"/>
              <a:lumOff val="4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dirty="0">
                <a:solidFill>
                  <a:srgbClr val="FF0000"/>
                </a:solidFill>
              </a:rPr>
              <a:t>Actuator</a:t>
            </a:r>
          </a:p>
        </p:txBody>
      </p:sp>
      <p:cxnSp>
        <p:nvCxnSpPr>
          <p:cNvPr id="10" name="Straight Arrow Connector 9">
            <a:extLst>
              <a:ext uri="{FF2B5EF4-FFF2-40B4-BE49-F238E27FC236}">
                <a16:creationId xmlns:a16="http://schemas.microsoft.com/office/drawing/2014/main" id="{17C66816-74B1-4833-B7EE-799DFC93B9CA}"/>
              </a:ext>
            </a:extLst>
          </p:cNvPr>
          <p:cNvCxnSpPr/>
          <p:nvPr/>
        </p:nvCxnSpPr>
        <p:spPr>
          <a:xfrm>
            <a:off x="1420837" y="4543865"/>
            <a:ext cx="2110154" cy="0"/>
          </a:xfrm>
          <a:prstGeom prst="straightConnector1">
            <a:avLst/>
          </a:prstGeom>
          <a:ln w="98425">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C62ACFEB-87FE-4572-85C6-E382D28F1395}"/>
              </a:ext>
            </a:extLst>
          </p:cNvPr>
          <p:cNvCxnSpPr/>
          <p:nvPr/>
        </p:nvCxnSpPr>
        <p:spPr>
          <a:xfrm flipH="1">
            <a:off x="8060788" y="4501663"/>
            <a:ext cx="1617784" cy="0"/>
          </a:xfrm>
          <a:prstGeom prst="straightConnector1">
            <a:avLst/>
          </a:prstGeom>
          <a:ln w="9842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78B36633-4748-4825-A5F7-437E4A139A0A}"/>
              </a:ext>
            </a:extLst>
          </p:cNvPr>
          <p:cNvCxnSpPr>
            <a:stCxn id="8" idx="2"/>
          </p:cNvCxnSpPr>
          <p:nvPr/>
        </p:nvCxnSpPr>
        <p:spPr>
          <a:xfrm flipH="1">
            <a:off x="5781822" y="5097857"/>
            <a:ext cx="14068" cy="1026942"/>
          </a:xfrm>
          <a:prstGeom prst="straightConnector1">
            <a:avLst/>
          </a:prstGeom>
          <a:ln w="98425">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FE77FE4A-97B5-4E3C-87B0-95FDA64A6663}"/>
              </a:ext>
            </a:extLst>
          </p:cNvPr>
          <p:cNvSpPr txBox="1"/>
          <p:nvPr/>
        </p:nvSpPr>
        <p:spPr>
          <a:xfrm>
            <a:off x="787899" y="4728525"/>
            <a:ext cx="2250616" cy="369332"/>
          </a:xfrm>
          <a:prstGeom prst="rect">
            <a:avLst/>
          </a:prstGeom>
          <a:noFill/>
        </p:spPr>
        <p:txBody>
          <a:bodyPr wrap="none" rtlCol="0">
            <a:spAutoFit/>
          </a:bodyPr>
          <a:lstStyle/>
          <a:p>
            <a:r>
              <a:rPr lang="en-US" dirty="0"/>
              <a:t>Energy/ Power Supply</a:t>
            </a:r>
            <a:endParaRPr lang="en-IN" dirty="0"/>
          </a:p>
        </p:txBody>
      </p:sp>
      <p:sp>
        <p:nvSpPr>
          <p:cNvPr id="17" name="TextBox 16">
            <a:extLst>
              <a:ext uri="{FF2B5EF4-FFF2-40B4-BE49-F238E27FC236}">
                <a16:creationId xmlns:a16="http://schemas.microsoft.com/office/drawing/2014/main" id="{757CB6FE-E73A-461F-A3D5-FFB4CE7E7130}"/>
              </a:ext>
            </a:extLst>
          </p:cNvPr>
          <p:cNvSpPr txBox="1"/>
          <p:nvPr/>
        </p:nvSpPr>
        <p:spPr>
          <a:xfrm>
            <a:off x="8366007" y="4874354"/>
            <a:ext cx="3181064" cy="369332"/>
          </a:xfrm>
          <a:prstGeom prst="rect">
            <a:avLst/>
          </a:prstGeom>
          <a:noFill/>
        </p:spPr>
        <p:txBody>
          <a:bodyPr wrap="none" rtlCol="0">
            <a:spAutoFit/>
          </a:bodyPr>
          <a:lstStyle/>
          <a:p>
            <a:r>
              <a:rPr lang="en-US" dirty="0"/>
              <a:t>Control Signal (from a computer)</a:t>
            </a:r>
            <a:endParaRPr lang="en-IN" dirty="0"/>
          </a:p>
        </p:txBody>
      </p:sp>
      <p:sp>
        <p:nvSpPr>
          <p:cNvPr id="19" name="TextBox 18">
            <a:extLst>
              <a:ext uri="{FF2B5EF4-FFF2-40B4-BE49-F238E27FC236}">
                <a16:creationId xmlns:a16="http://schemas.microsoft.com/office/drawing/2014/main" id="{17F64F0A-6FB3-49A5-86C9-C55324FB439C}"/>
              </a:ext>
            </a:extLst>
          </p:cNvPr>
          <p:cNvSpPr txBox="1"/>
          <p:nvPr/>
        </p:nvSpPr>
        <p:spPr>
          <a:xfrm>
            <a:off x="4205357" y="6288258"/>
            <a:ext cx="3001719" cy="369332"/>
          </a:xfrm>
          <a:prstGeom prst="rect">
            <a:avLst/>
          </a:prstGeom>
          <a:noFill/>
        </p:spPr>
        <p:txBody>
          <a:bodyPr wrap="none" rtlCol="0">
            <a:spAutoFit/>
          </a:bodyPr>
          <a:lstStyle/>
          <a:p>
            <a:r>
              <a:rPr lang="en-US" dirty="0"/>
              <a:t>Mechanical Force or an action </a:t>
            </a:r>
            <a:endParaRPr lang="en-IN" dirty="0"/>
          </a:p>
        </p:txBody>
      </p:sp>
    </p:spTree>
    <p:extLst>
      <p:ext uri="{BB962C8B-B14F-4D97-AF65-F5344CB8AC3E}">
        <p14:creationId xmlns:p14="http://schemas.microsoft.com/office/powerpoint/2010/main" val="4761877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4B445-F18A-413A-A530-661CAE171ED2}"/>
              </a:ext>
            </a:extLst>
          </p:cNvPr>
          <p:cNvSpPr>
            <a:spLocks noGrp="1"/>
          </p:cNvSpPr>
          <p:nvPr>
            <p:ph type="title"/>
          </p:nvPr>
        </p:nvSpPr>
        <p:spPr>
          <a:xfrm>
            <a:off x="1375578" y="224605"/>
            <a:ext cx="9905998" cy="800600"/>
          </a:xfrm>
        </p:spPr>
        <p:txBody>
          <a:bodyPr/>
          <a:lstStyle/>
          <a:p>
            <a:r>
              <a:rPr lang="en-US" dirty="0">
                <a:solidFill>
                  <a:schemeClr val="bg1">
                    <a:lumMod val="75000"/>
                    <a:lumOff val="25000"/>
                  </a:schemeClr>
                </a:solidFill>
              </a:rPr>
              <a:t>How does a very simple actuator works</a:t>
            </a:r>
            <a:endParaRPr lang="en-IN" dirty="0">
              <a:solidFill>
                <a:schemeClr val="bg1">
                  <a:lumMod val="75000"/>
                  <a:lumOff val="25000"/>
                </a:schemeClr>
              </a:solidFill>
            </a:endParaRPr>
          </a:p>
        </p:txBody>
      </p:sp>
      <p:pic>
        <p:nvPicPr>
          <p:cNvPr id="6" name="Picture 2" descr="centiot ESP-WROOM-32 ESP32 ESP-32S Development Board Micro Controller Board Electronic Hobby Kit">
            <a:extLst>
              <a:ext uri="{FF2B5EF4-FFF2-40B4-BE49-F238E27FC236}">
                <a16:creationId xmlns:a16="http://schemas.microsoft.com/office/drawing/2014/main" id="{5417904D-23A5-495E-B0B4-82FD8BFDED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18653" y="3006335"/>
            <a:ext cx="5255859" cy="286798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A5131DC0-87C1-4314-9153-A0092777544E}"/>
              </a:ext>
            </a:extLst>
          </p:cNvPr>
          <p:cNvPicPr>
            <a:picLocks noChangeAspect="1"/>
          </p:cNvPicPr>
          <p:nvPr/>
        </p:nvPicPr>
        <p:blipFill>
          <a:blip r:embed="rId4"/>
          <a:stretch>
            <a:fillRect/>
          </a:stretch>
        </p:blipFill>
        <p:spPr>
          <a:xfrm rot="5400000">
            <a:off x="2591573" y="1761655"/>
            <a:ext cx="2357889" cy="2435909"/>
          </a:xfrm>
          <a:prstGeom prst="rect">
            <a:avLst/>
          </a:prstGeom>
        </p:spPr>
      </p:pic>
      <p:cxnSp>
        <p:nvCxnSpPr>
          <p:cNvPr id="12" name="Straight Connector 11">
            <a:extLst>
              <a:ext uri="{FF2B5EF4-FFF2-40B4-BE49-F238E27FC236}">
                <a16:creationId xmlns:a16="http://schemas.microsoft.com/office/drawing/2014/main" id="{BE81CD98-222B-4C37-82AF-841F14A93CF6}"/>
              </a:ext>
            </a:extLst>
          </p:cNvPr>
          <p:cNvCxnSpPr>
            <a:cxnSpLocks/>
          </p:cNvCxnSpPr>
          <p:nvPr/>
        </p:nvCxnSpPr>
        <p:spPr>
          <a:xfrm flipV="1">
            <a:off x="9411285" y="1195754"/>
            <a:ext cx="0" cy="1941341"/>
          </a:xfrm>
          <a:prstGeom prst="line">
            <a:avLst/>
          </a:prstGeom>
          <a:ln w="666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EAC4071-3F8E-4111-A2A2-08B4A6917DC9}"/>
              </a:ext>
            </a:extLst>
          </p:cNvPr>
          <p:cNvCxnSpPr>
            <a:cxnSpLocks/>
          </p:cNvCxnSpPr>
          <p:nvPr/>
        </p:nvCxnSpPr>
        <p:spPr>
          <a:xfrm flipH="1" flipV="1">
            <a:off x="4428978" y="1195754"/>
            <a:ext cx="26342" cy="773724"/>
          </a:xfrm>
          <a:prstGeom prst="line">
            <a:avLst/>
          </a:prstGeom>
          <a:ln w="666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6742E5E-A34D-45B7-B03C-37E10D571298}"/>
              </a:ext>
            </a:extLst>
          </p:cNvPr>
          <p:cNvCxnSpPr>
            <a:cxnSpLocks/>
          </p:cNvCxnSpPr>
          <p:nvPr/>
        </p:nvCxnSpPr>
        <p:spPr>
          <a:xfrm flipH="1">
            <a:off x="4428978" y="1195754"/>
            <a:ext cx="5017604" cy="0"/>
          </a:xfrm>
          <a:prstGeom prst="line">
            <a:avLst/>
          </a:prstGeom>
          <a:ln w="66675">
            <a:solidFill>
              <a:srgbClr val="FFFF00"/>
            </a:solidFill>
          </a:ln>
        </p:spPr>
        <p:style>
          <a:lnRef idx="1">
            <a:schemeClr val="accent1"/>
          </a:lnRef>
          <a:fillRef idx="0">
            <a:schemeClr val="accent1"/>
          </a:fillRef>
          <a:effectRef idx="0">
            <a:schemeClr val="accent1"/>
          </a:effectRef>
          <a:fontRef idx="minor">
            <a:schemeClr val="tx1"/>
          </a:fontRef>
        </p:style>
      </p:cxnSp>
      <p:pic>
        <p:nvPicPr>
          <p:cNvPr id="20" name="Picture 19">
            <a:extLst>
              <a:ext uri="{FF2B5EF4-FFF2-40B4-BE49-F238E27FC236}">
                <a16:creationId xmlns:a16="http://schemas.microsoft.com/office/drawing/2014/main" id="{08015F37-2DB6-4251-9AA1-1498887597E4}"/>
              </a:ext>
            </a:extLst>
          </p:cNvPr>
          <p:cNvPicPr>
            <a:picLocks noChangeAspect="1"/>
          </p:cNvPicPr>
          <p:nvPr/>
        </p:nvPicPr>
        <p:blipFill>
          <a:blip r:embed="rId5"/>
          <a:stretch>
            <a:fillRect/>
          </a:stretch>
        </p:blipFill>
        <p:spPr>
          <a:xfrm>
            <a:off x="1626211" y="4658984"/>
            <a:ext cx="2481180" cy="1941342"/>
          </a:xfrm>
          <a:prstGeom prst="rect">
            <a:avLst/>
          </a:prstGeom>
        </p:spPr>
      </p:pic>
      <p:pic>
        <p:nvPicPr>
          <p:cNvPr id="10246" name="Picture 6" descr="Electromagnetic Relay |HUIMULTD">
            <a:extLst>
              <a:ext uri="{FF2B5EF4-FFF2-40B4-BE49-F238E27FC236}">
                <a16:creationId xmlns:a16="http://schemas.microsoft.com/office/drawing/2014/main" id="{096BF4EB-483B-4D92-A8E6-486458FA2F7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50151" y="840315"/>
            <a:ext cx="1769719" cy="1769719"/>
          </a:xfrm>
          <a:prstGeom prst="rect">
            <a:avLst/>
          </a:prstGeom>
          <a:noFill/>
          <a:extLst>
            <a:ext uri="{909E8E84-426E-40DD-AFC4-6F175D3DCCD1}">
              <a14:hiddenFill xmlns:a14="http://schemas.microsoft.com/office/drawing/2010/main">
                <a:solidFill>
                  <a:srgbClr val="FFFFFF"/>
                </a:solidFill>
              </a14:hiddenFill>
            </a:ext>
          </a:extLst>
        </p:spPr>
      </p:pic>
      <p:cxnSp>
        <p:nvCxnSpPr>
          <p:cNvPr id="22" name="Straight Connector 21">
            <a:extLst>
              <a:ext uri="{FF2B5EF4-FFF2-40B4-BE49-F238E27FC236}">
                <a16:creationId xmlns:a16="http://schemas.microsoft.com/office/drawing/2014/main" id="{F202E694-39AA-40F8-9A0E-4222D7322AE9}"/>
              </a:ext>
            </a:extLst>
          </p:cNvPr>
          <p:cNvCxnSpPr>
            <a:cxnSpLocks/>
          </p:cNvCxnSpPr>
          <p:nvPr/>
        </p:nvCxnSpPr>
        <p:spPr>
          <a:xfrm flipV="1">
            <a:off x="4205865" y="1195754"/>
            <a:ext cx="0" cy="773723"/>
          </a:xfrm>
          <a:prstGeom prst="line">
            <a:avLst/>
          </a:prstGeom>
          <a:ln w="889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5DB37D4D-783D-4E1D-A92D-B585759AE517}"/>
              </a:ext>
            </a:extLst>
          </p:cNvPr>
          <p:cNvCxnSpPr>
            <a:cxnSpLocks/>
          </p:cNvCxnSpPr>
          <p:nvPr/>
        </p:nvCxnSpPr>
        <p:spPr>
          <a:xfrm flipH="1">
            <a:off x="815926" y="1236698"/>
            <a:ext cx="3389939" cy="0"/>
          </a:xfrm>
          <a:prstGeom prst="line">
            <a:avLst/>
          </a:prstGeom>
          <a:ln w="889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40DB43C6-3E8B-49C6-8DC5-C1CE8C402DA2}"/>
              </a:ext>
            </a:extLst>
          </p:cNvPr>
          <p:cNvCxnSpPr>
            <a:cxnSpLocks/>
          </p:cNvCxnSpPr>
          <p:nvPr/>
        </p:nvCxnSpPr>
        <p:spPr>
          <a:xfrm>
            <a:off x="815926" y="1195754"/>
            <a:ext cx="0" cy="5174568"/>
          </a:xfrm>
          <a:prstGeom prst="line">
            <a:avLst/>
          </a:prstGeom>
          <a:ln w="889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9748B78-25BF-40EA-9D9B-184660CF8E53}"/>
              </a:ext>
            </a:extLst>
          </p:cNvPr>
          <p:cNvCxnSpPr>
            <a:cxnSpLocks/>
          </p:cNvCxnSpPr>
          <p:nvPr/>
        </p:nvCxnSpPr>
        <p:spPr>
          <a:xfrm flipH="1">
            <a:off x="815927" y="6370322"/>
            <a:ext cx="1308295" cy="0"/>
          </a:xfrm>
          <a:prstGeom prst="line">
            <a:avLst/>
          </a:prstGeom>
          <a:ln w="889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43DF4AB-E738-4B71-845F-6AB7FD2AD832}"/>
              </a:ext>
            </a:extLst>
          </p:cNvPr>
          <p:cNvCxnSpPr>
            <a:cxnSpLocks/>
          </p:cNvCxnSpPr>
          <p:nvPr/>
        </p:nvCxnSpPr>
        <p:spPr>
          <a:xfrm flipH="1">
            <a:off x="1375578" y="5509852"/>
            <a:ext cx="901045" cy="0"/>
          </a:xfrm>
          <a:prstGeom prst="line">
            <a:avLst/>
          </a:prstGeom>
          <a:ln w="889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BE9B901-4A2B-44D4-B47D-0539D86081BB}"/>
              </a:ext>
            </a:extLst>
          </p:cNvPr>
          <p:cNvCxnSpPr>
            <a:cxnSpLocks/>
          </p:cNvCxnSpPr>
          <p:nvPr/>
        </p:nvCxnSpPr>
        <p:spPr>
          <a:xfrm>
            <a:off x="1359163" y="1498209"/>
            <a:ext cx="16415" cy="4068684"/>
          </a:xfrm>
          <a:prstGeom prst="line">
            <a:avLst/>
          </a:prstGeom>
          <a:ln w="889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0883F1A-2F58-48B4-ADC6-292A43AC1953}"/>
              </a:ext>
            </a:extLst>
          </p:cNvPr>
          <p:cNvCxnSpPr>
            <a:cxnSpLocks/>
          </p:cNvCxnSpPr>
          <p:nvPr/>
        </p:nvCxnSpPr>
        <p:spPr>
          <a:xfrm flipH="1" flipV="1">
            <a:off x="1359166" y="1526348"/>
            <a:ext cx="2557741" cy="2201"/>
          </a:xfrm>
          <a:prstGeom prst="line">
            <a:avLst/>
          </a:prstGeom>
          <a:ln w="889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486085F8-2123-422C-9040-ED05818323FB}"/>
              </a:ext>
            </a:extLst>
          </p:cNvPr>
          <p:cNvCxnSpPr/>
          <p:nvPr/>
        </p:nvCxnSpPr>
        <p:spPr>
          <a:xfrm flipV="1">
            <a:off x="3922166" y="1498209"/>
            <a:ext cx="0" cy="604911"/>
          </a:xfrm>
          <a:prstGeom prst="line">
            <a:avLst/>
          </a:prstGeom>
          <a:ln w="88900">
            <a:solidFill>
              <a:srgbClr val="FFFF00"/>
            </a:solidFill>
          </a:ln>
        </p:spPr>
        <p:style>
          <a:lnRef idx="1">
            <a:schemeClr val="accent1"/>
          </a:lnRef>
          <a:fillRef idx="0">
            <a:schemeClr val="accent1"/>
          </a:fillRef>
          <a:effectRef idx="0">
            <a:schemeClr val="accent1"/>
          </a:effectRef>
          <a:fontRef idx="minor">
            <a:schemeClr val="tx1"/>
          </a:fontRef>
        </p:style>
      </p:cxnSp>
      <p:pic>
        <p:nvPicPr>
          <p:cNvPr id="10248" name="Picture 8" descr="Single Phase Vinayak Monoblock Pump, Electric, Rs 6500 /piece ...">
            <a:extLst>
              <a:ext uri="{FF2B5EF4-FFF2-40B4-BE49-F238E27FC236}">
                <a16:creationId xmlns:a16="http://schemas.microsoft.com/office/drawing/2014/main" id="{E674191C-040C-4511-9520-BFE88E98F30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86527" y="5692757"/>
            <a:ext cx="996908" cy="996908"/>
          </a:xfrm>
          <a:prstGeom prst="rect">
            <a:avLst/>
          </a:prstGeom>
          <a:noFill/>
          <a:extLst>
            <a:ext uri="{909E8E84-426E-40DD-AFC4-6F175D3DCCD1}">
              <a14:hiddenFill xmlns:a14="http://schemas.microsoft.com/office/drawing/2010/main">
                <a:solidFill>
                  <a:srgbClr val="FFFFFF"/>
                </a:solidFill>
              </a14:hiddenFill>
            </a:ext>
          </a:extLst>
        </p:spPr>
      </p:pic>
      <p:cxnSp>
        <p:nvCxnSpPr>
          <p:cNvPr id="46" name="Straight Connector 45">
            <a:extLst>
              <a:ext uri="{FF2B5EF4-FFF2-40B4-BE49-F238E27FC236}">
                <a16:creationId xmlns:a16="http://schemas.microsoft.com/office/drawing/2014/main" id="{7E185827-EEBD-4630-B1BC-DAE9027B6CD3}"/>
              </a:ext>
            </a:extLst>
          </p:cNvPr>
          <p:cNvCxnSpPr>
            <a:cxnSpLocks/>
          </p:cNvCxnSpPr>
          <p:nvPr/>
        </p:nvCxnSpPr>
        <p:spPr>
          <a:xfrm flipH="1">
            <a:off x="3805058" y="5139400"/>
            <a:ext cx="2523519" cy="0"/>
          </a:xfrm>
          <a:prstGeom prst="line">
            <a:avLst/>
          </a:prstGeom>
          <a:ln w="889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19D3A2CE-663D-481D-ACFF-C5411296CE9A}"/>
              </a:ext>
            </a:extLst>
          </p:cNvPr>
          <p:cNvCxnSpPr>
            <a:cxnSpLocks/>
          </p:cNvCxnSpPr>
          <p:nvPr/>
        </p:nvCxnSpPr>
        <p:spPr>
          <a:xfrm flipV="1">
            <a:off x="6328577" y="5139401"/>
            <a:ext cx="0" cy="867144"/>
          </a:xfrm>
          <a:prstGeom prst="line">
            <a:avLst/>
          </a:prstGeom>
          <a:ln w="889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DD0619D8-FCD1-4FE1-969F-85F293D5E5A9}"/>
              </a:ext>
            </a:extLst>
          </p:cNvPr>
          <p:cNvCxnSpPr>
            <a:cxnSpLocks/>
          </p:cNvCxnSpPr>
          <p:nvPr/>
        </p:nvCxnSpPr>
        <p:spPr>
          <a:xfrm flipH="1" flipV="1">
            <a:off x="6091771" y="5441855"/>
            <a:ext cx="1" cy="432460"/>
          </a:xfrm>
          <a:prstGeom prst="line">
            <a:avLst/>
          </a:prstGeom>
          <a:ln w="889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7F8EE67-447C-45C8-B2C0-63D08DBAB157}"/>
              </a:ext>
            </a:extLst>
          </p:cNvPr>
          <p:cNvCxnSpPr>
            <a:cxnSpLocks/>
          </p:cNvCxnSpPr>
          <p:nvPr/>
        </p:nvCxnSpPr>
        <p:spPr>
          <a:xfrm flipH="1">
            <a:off x="4642338" y="5441855"/>
            <a:ext cx="1449434" cy="0"/>
          </a:xfrm>
          <a:prstGeom prst="line">
            <a:avLst/>
          </a:prstGeom>
          <a:ln w="889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2A93128A-2C8C-4619-9C24-2B888A49E892}"/>
              </a:ext>
            </a:extLst>
          </p:cNvPr>
          <p:cNvCxnSpPr/>
          <p:nvPr/>
        </p:nvCxnSpPr>
        <p:spPr>
          <a:xfrm flipV="1">
            <a:off x="4642338" y="5441855"/>
            <a:ext cx="0" cy="604911"/>
          </a:xfrm>
          <a:prstGeom prst="line">
            <a:avLst/>
          </a:prstGeom>
          <a:ln w="889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DE29B1A1-8031-499D-9527-68AE39850C4B}"/>
              </a:ext>
            </a:extLst>
          </p:cNvPr>
          <p:cNvCxnSpPr>
            <a:cxnSpLocks/>
          </p:cNvCxnSpPr>
          <p:nvPr/>
        </p:nvCxnSpPr>
        <p:spPr>
          <a:xfrm flipV="1">
            <a:off x="4764258" y="3783039"/>
            <a:ext cx="1" cy="705757"/>
          </a:xfrm>
          <a:prstGeom prst="line">
            <a:avLst/>
          </a:prstGeom>
          <a:ln w="666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7D0FC90F-E149-408E-AE23-1E21DC7926F9}"/>
              </a:ext>
            </a:extLst>
          </p:cNvPr>
          <p:cNvCxnSpPr>
            <a:cxnSpLocks/>
          </p:cNvCxnSpPr>
          <p:nvPr/>
        </p:nvCxnSpPr>
        <p:spPr>
          <a:xfrm flipV="1">
            <a:off x="7892385" y="5659906"/>
            <a:ext cx="1" cy="773720"/>
          </a:xfrm>
          <a:prstGeom prst="line">
            <a:avLst/>
          </a:prstGeom>
          <a:ln w="666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0EBAC36-0399-47D7-A600-3BA4626CDBC6}"/>
              </a:ext>
            </a:extLst>
          </p:cNvPr>
          <p:cNvCxnSpPr>
            <a:cxnSpLocks/>
          </p:cNvCxnSpPr>
          <p:nvPr/>
        </p:nvCxnSpPr>
        <p:spPr>
          <a:xfrm flipV="1">
            <a:off x="6626721" y="4440326"/>
            <a:ext cx="0" cy="1993300"/>
          </a:xfrm>
          <a:prstGeom prst="line">
            <a:avLst/>
          </a:prstGeom>
          <a:ln w="666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65156082-C074-49FC-8467-3871D0656E77}"/>
              </a:ext>
            </a:extLst>
          </p:cNvPr>
          <p:cNvCxnSpPr>
            <a:cxnSpLocks/>
          </p:cNvCxnSpPr>
          <p:nvPr/>
        </p:nvCxnSpPr>
        <p:spPr>
          <a:xfrm flipH="1">
            <a:off x="6595878" y="6400860"/>
            <a:ext cx="1296508" cy="0"/>
          </a:xfrm>
          <a:prstGeom prst="line">
            <a:avLst/>
          </a:prstGeom>
          <a:ln w="889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A70317A0-38A0-4E2D-9C55-F906ACF2B4E1}"/>
              </a:ext>
            </a:extLst>
          </p:cNvPr>
          <p:cNvCxnSpPr>
            <a:cxnSpLocks/>
          </p:cNvCxnSpPr>
          <p:nvPr/>
        </p:nvCxnSpPr>
        <p:spPr>
          <a:xfrm flipH="1">
            <a:off x="4736007" y="4488796"/>
            <a:ext cx="1866511" cy="0"/>
          </a:xfrm>
          <a:prstGeom prst="line">
            <a:avLst/>
          </a:prstGeom>
          <a:ln w="88900">
            <a:solidFill>
              <a:srgbClr val="FFFF00"/>
            </a:solidFill>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16E8AF73-6348-46A7-81BF-C0046F0BDED5}"/>
              </a:ext>
            </a:extLst>
          </p:cNvPr>
          <p:cNvSpPr txBox="1"/>
          <p:nvPr/>
        </p:nvSpPr>
        <p:spPr>
          <a:xfrm>
            <a:off x="4273133" y="6006545"/>
            <a:ext cx="870110" cy="369332"/>
          </a:xfrm>
          <a:prstGeom prst="rect">
            <a:avLst/>
          </a:prstGeom>
          <a:noFill/>
        </p:spPr>
        <p:txBody>
          <a:bodyPr wrap="none" rtlCol="0">
            <a:spAutoFit/>
          </a:bodyPr>
          <a:lstStyle/>
          <a:p>
            <a:r>
              <a:rPr lang="en-US" dirty="0"/>
              <a:t>Neutral</a:t>
            </a:r>
            <a:endParaRPr lang="en-IN" dirty="0"/>
          </a:p>
        </p:txBody>
      </p:sp>
      <p:sp>
        <p:nvSpPr>
          <p:cNvPr id="56" name="TextBox 55">
            <a:extLst>
              <a:ext uri="{FF2B5EF4-FFF2-40B4-BE49-F238E27FC236}">
                <a16:creationId xmlns:a16="http://schemas.microsoft.com/office/drawing/2014/main" id="{58D8B5D0-6225-4A22-BC7C-95647AEAA8AB}"/>
              </a:ext>
            </a:extLst>
          </p:cNvPr>
          <p:cNvSpPr txBox="1"/>
          <p:nvPr/>
        </p:nvSpPr>
        <p:spPr>
          <a:xfrm>
            <a:off x="4594481" y="4793829"/>
            <a:ext cx="720069" cy="369332"/>
          </a:xfrm>
          <a:prstGeom prst="rect">
            <a:avLst/>
          </a:prstGeom>
          <a:noFill/>
        </p:spPr>
        <p:txBody>
          <a:bodyPr wrap="none" rtlCol="0">
            <a:spAutoFit/>
          </a:bodyPr>
          <a:lstStyle/>
          <a:p>
            <a:r>
              <a:rPr lang="en-US" dirty="0"/>
              <a:t>Phase</a:t>
            </a:r>
            <a:endParaRPr lang="en-IN" dirty="0"/>
          </a:p>
        </p:txBody>
      </p:sp>
      <p:cxnSp>
        <p:nvCxnSpPr>
          <p:cNvPr id="65" name="Straight Connector 64">
            <a:extLst>
              <a:ext uri="{FF2B5EF4-FFF2-40B4-BE49-F238E27FC236}">
                <a16:creationId xmlns:a16="http://schemas.microsoft.com/office/drawing/2014/main" id="{8028A82C-C8EF-4123-A22B-6AE6913253CC}"/>
              </a:ext>
            </a:extLst>
          </p:cNvPr>
          <p:cNvCxnSpPr>
            <a:cxnSpLocks/>
          </p:cNvCxnSpPr>
          <p:nvPr/>
        </p:nvCxnSpPr>
        <p:spPr>
          <a:xfrm flipH="1">
            <a:off x="4717366" y="1641094"/>
            <a:ext cx="1866511" cy="0"/>
          </a:xfrm>
          <a:prstGeom prst="line">
            <a:avLst/>
          </a:prstGeom>
          <a:ln w="889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7B403BA3-F07E-466A-A5E2-D4E776312A21}"/>
              </a:ext>
            </a:extLst>
          </p:cNvPr>
          <p:cNvCxnSpPr>
            <a:cxnSpLocks/>
          </p:cNvCxnSpPr>
          <p:nvPr/>
        </p:nvCxnSpPr>
        <p:spPr>
          <a:xfrm flipH="1" flipV="1">
            <a:off x="6583877" y="1589894"/>
            <a:ext cx="36059" cy="2850433"/>
          </a:xfrm>
          <a:prstGeom prst="line">
            <a:avLst/>
          </a:prstGeom>
          <a:ln w="666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AB25B00A-E41F-4247-A2A5-988F4CFA9C01}"/>
              </a:ext>
            </a:extLst>
          </p:cNvPr>
          <p:cNvCxnSpPr>
            <a:cxnSpLocks/>
          </p:cNvCxnSpPr>
          <p:nvPr/>
        </p:nvCxnSpPr>
        <p:spPr>
          <a:xfrm flipV="1">
            <a:off x="4711415" y="1589894"/>
            <a:ext cx="17547" cy="320058"/>
          </a:xfrm>
          <a:prstGeom prst="line">
            <a:avLst/>
          </a:prstGeom>
          <a:ln w="66675">
            <a:solidFill>
              <a:srgbClr val="FFFF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00367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E94BC12-38D6-4F81-B956-BA11F780C33C}"/>
              </a:ext>
            </a:extLst>
          </p:cNvPr>
          <p:cNvSpPr txBox="1"/>
          <p:nvPr/>
        </p:nvSpPr>
        <p:spPr>
          <a:xfrm>
            <a:off x="1538067" y="296321"/>
            <a:ext cx="9115865" cy="5632311"/>
          </a:xfrm>
          <a:prstGeom prst="rect">
            <a:avLst/>
          </a:prstGeom>
          <a:noFill/>
        </p:spPr>
        <p:txBody>
          <a:bodyPr wrap="square" rtlCol="0">
            <a:spAutoFit/>
          </a:bodyPr>
          <a:lstStyle/>
          <a:p>
            <a:r>
              <a:rPr lang="en-US" dirty="0"/>
              <a:t>const int relay = 26;</a:t>
            </a:r>
          </a:p>
          <a:p>
            <a:r>
              <a:rPr lang="en-US" dirty="0"/>
              <a:t>void setup() </a:t>
            </a:r>
          </a:p>
          <a:p>
            <a:r>
              <a:rPr lang="en-US" dirty="0"/>
              <a:t>{</a:t>
            </a:r>
          </a:p>
          <a:p>
            <a:r>
              <a:rPr lang="en-US" dirty="0"/>
              <a:t>  </a:t>
            </a:r>
            <a:r>
              <a:rPr lang="en-US" dirty="0" err="1"/>
              <a:t>Serial.begin</a:t>
            </a:r>
            <a:r>
              <a:rPr lang="en-US" dirty="0"/>
              <a:t>(115200);</a:t>
            </a:r>
          </a:p>
          <a:p>
            <a:r>
              <a:rPr lang="en-US" dirty="0"/>
              <a:t>  </a:t>
            </a:r>
            <a:r>
              <a:rPr lang="en-US" dirty="0" err="1"/>
              <a:t>pinMode</a:t>
            </a:r>
            <a:r>
              <a:rPr lang="en-US" dirty="0"/>
              <a:t>(relay, OUTPUT);</a:t>
            </a:r>
          </a:p>
          <a:p>
            <a:r>
              <a:rPr lang="en-US" dirty="0"/>
              <a:t>}</a:t>
            </a:r>
          </a:p>
          <a:p>
            <a:r>
              <a:rPr lang="en-US" dirty="0"/>
              <a:t>void loop() </a:t>
            </a:r>
          </a:p>
          <a:p>
            <a:r>
              <a:rPr lang="en-US" dirty="0"/>
              <a:t>{</a:t>
            </a:r>
          </a:p>
          <a:p>
            <a:r>
              <a:rPr lang="en-US" dirty="0"/>
              <a:t>  // Normally Open configuration, send LOW signal to let current flow</a:t>
            </a:r>
          </a:p>
          <a:p>
            <a:r>
              <a:rPr lang="en-US" dirty="0"/>
              <a:t>  // (if you're </a:t>
            </a:r>
            <a:r>
              <a:rPr lang="en-US" dirty="0" err="1"/>
              <a:t>usong</a:t>
            </a:r>
            <a:r>
              <a:rPr lang="en-US" dirty="0"/>
              <a:t> Normally Closed configuration send HIGH signal)</a:t>
            </a:r>
          </a:p>
          <a:p>
            <a:r>
              <a:rPr lang="en-US" dirty="0"/>
              <a:t>  </a:t>
            </a:r>
            <a:r>
              <a:rPr lang="en-US" dirty="0" err="1"/>
              <a:t>digitalWrite</a:t>
            </a:r>
            <a:r>
              <a:rPr lang="en-US" dirty="0"/>
              <a:t>(relay, LOW);</a:t>
            </a:r>
          </a:p>
          <a:p>
            <a:r>
              <a:rPr lang="en-US" dirty="0"/>
              <a:t>  </a:t>
            </a:r>
            <a:r>
              <a:rPr lang="en-US" dirty="0" err="1"/>
              <a:t>Serial.println</a:t>
            </a:r>
            <a:r>
              <a:rPr lang="en-US" dirty="0"/>
              <a:t>("Current Flowing");</a:t>
            </a:r>
          </a:p>
          <a:p>
            <a:r>
              <a:rPr lang="en-US" dirty="0"/>
              <a:t>  delay(5000); </a:t>
            </a:r>
          </a:p>
          <a:p>
            <a:r>
              <a:rPr lang="en-US" dirty="0"/>
              <a:t>  </a:t>
            </a:r>
          </a:p>
          <a:p>
            <a:r>
              <a:rPr lang="en-US" dirty="0"/>
              <a:t>  // Normally Open configuration, send HIGH signal stop current flow</a:t>
            </a:r>
          </a:p>
          <a:p>
            <a:r>
              <a:rPr lang="en-US" dirty="0"/>
              <a:t>  // (if you're </a:t>
            </a:r>
            <a:r>
              <a:rPr lang="en-US" dirty="0" err="1"/>
              <a:t>usong</a:t>
            </a:r>
            <a:r>
              <a:rPr lang="en-US" dirty="0"/>
              <a:t> Normally Closed configuration send LOW signal)</a:t>
            </a:r>
          </a:p>
          <a:p>
            <a:r>
              <a:rPr lang="en-US" dirty="0"/>
              <a:t>  </a:t>
            </a:r>
            <a:r>
              <a:rPr lang="en-US" dirty="0" err="1"/>
              <a:t>digitalWrite</a:t>
            </a:r>
            <a:r>
              <a:rPr lang="en-US" dirty="0"/>
              <a:t>(relay, HIGH);</a:t>
            </a:r>
          </a:p>
          <a:p>
            <a:r>
              <a:rPr lang="en-US" dirty="0"/>
              <a:t>  </a:t>
            </a:r>
            <a:r>
              <a:rPr lang="en-US" dirty="0" err="1"/>
              <a:t>Serial.println</a:t>
            </a:r>
            <a:r>
              <a:rPr lang="en-US" dirty="0"/>
              <a:t>("Current not Flowing");</a:t>
            </a:r>
          </a:p>
          <a:p>
            <a:r>
              <a:rPr lang="en-US" dirty="0"/>
              <a:t>  delay(5000);</a:t>
            </a:r>
          </a:p>
          <a:p>
            <a:r>
              <a:rPr lang="en-US" dirty="0"/>
              <a:t>}</a:t>
            </a:r>
            <a:endParaRPr lang="en-IN" dirty="0"/>
          </a:p>
        </p:txBody>
      </p:sp>
    </p:spTree>
    <p:extLst>
      <p:ext uri="{BB962C8B-B14F-4D97-AF65-F5344CB8AC3E}">
        <p14:creationId xmlns:p14="http://schemas.microsoft.com/office/powerpoint/2010/main" val="11549203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B3C84-3EB6-4B3A-91D7-2915C755E830}"/>
              </a:ext>
            </a:extLst>
          </p:cNvPr>
          <p:cNvSpPr>
            <a:spLocks noGrp="1"/>
          </p:cNvSpPr>
          <p:nvPr>
            <p:ph type="title"/>
          </p:nvPr>
        </p:nvSpPr>
        <p:spPr>
          <a:xfrm>
            <a:off x="487680" y="217890"/>
            <a:ext cx="10607949" cy="907525"/>
          </a:xfrm>
        </p:spPr>
        <p:txBody>
          <a:bodyPr/>
          <a:lstStyle/>
          <a:p>
            <a:pPr algn="ctr"/>
            <a:r>
              <a:rPr lang="en-US" dirty="0"/>
              <a:t>How do we make this as </a:t>
            </a:r>
            <a:r>
              <a:rPr lang="en-US" dirty="0" err="1"/>
              <a:t>Iot</a:t>
            </a:r>
            <a:r>
              <a:rPr lang="en-US" dirty="0"/>
              <a:t> Device in the field </a:t>
            </a:r>
            <a:endParaRPr lang="en-IN" dirty="0"/>
          </a:p>
        </p:txBody>
      </p:sp>
      <p:sp>
        <p:nvSpPr>
          <p:cNvPr id="3" name="TextBox 2">
            <a:extLst>
              <a:ext uri="{FF2B5EF4-FFF2-40B4-BE49-F238E27FC236}">
                <a16:creationId xmlns:a16="http://schemas.microsoft.com/office/drawing/2014/main" id="{0436E10D-BF17-4F7A-9070-269DA2322523}"/>
              </a:ext>
            </a:extLst>
          </p:cNvPr>
          <p:cNvSpPr txBox="1"/>
          <p:nvPr/>
        </p:nvSpPr>
        <p:spPr>
          <a:xfrm>
            <a:off x="5908430" y="6006905"/>
            <a:ext cx="5458265" cy="369332"/>
          </a:xfrm>
          <a:prstGeom prst="rect">
            <a:avLst/>
          </a:prstGeom>
          <a:noFill/>
        </p:spPr>
        <p:txBody>
          <a:bodyPr wrap="square" rtlCol="0">
            <a:spAutoFit/>
          </a:bodyPr>
          <a:lstStyle/>
          <a:p>
            <a:r>
              <a:rPr lang="en-US" dirty="0"/>
              <a:t>Let us see how to control the pump set through internet</a:t>
            </a:r>
            <a:endParaRPr lang="en-IN" dirty="0"/>
          </a:p>
        </p:txBody>
      </p:sp>
      <p:pic>
        <p:nvPicPr>
          <p:cNvPr id="11266" name="Picture 2" descr="Agricultural Pump - Agriculture Pump Latest Price, Manufacturers ...">
            <a:extLst>
              <a:ext uri="{FF2B5EF4-FFF2-40B4-BE49-F238E27FC236}">
                <a16:creationId xmlns:a16="http://schemas.microsoft.com/office/drawing/2014/main" id="{BFD687B2-2A02-4044-BCD0-BCC2B99FE9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0697" y="3810321"/>
            <a:ext cx="2278527" cy="227852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949C5790-7846-4D7C-B98E-B97093866D61}"/>
              </a:ext>
            </a:extLst>
          </p:cNvPr>
          <p:cNvPicPr>
            <a:picLocks noChangeAspect="1"/>
          </p:cNvPicPr>
          <p:nvPr/>
        </p:nvPicPr>
        <p:blipFill>
          <a:blip r:embed="rId3"/>
          <a:stretch>
            <a:fillRect/>
          </a:stretch>
        </p:blipFill>
        <p:spPr>
          <a:xfrm>
            <a:off x="9785545" y="1485900"/>
            <a:ext cx="1581150" cy="1943100"/>
          </a:xfrm>
          <a:prstGeom prst="rect">
            <a:avLst/>
          </a:prstGeom>
        </p:spPr>
      </p:pic>
      <p:sp>
        <p:nvSpPr>
          <p:cNvPr id="9" name="Thought Bubble: Cloud 8">
            <a:extLst>
              <a:ext uri="{FF2B5EF4-FFF2-40B4-BE49-F238E27FC236}">
                <a16:creationId xmlns:a16="http://schemas.microsoft.com/office/drawing/2014/main" id="{179E5A86-4FE3-45CB-BB16-7470FF87EFD0}"/>
              </a:ext>
            </a:extLst>
          </p:cNvPr>
          <p:cNvSpPr/>
          <p:nvPr/>
        </p:nvSpPr>
        <p:spPr>
          <a:xfrm>
            <a:off x="4994031" y="2250831"/>
            <a:ext cx="3601329" cy="2630658"/>
          </a:xfrm>
          <a:prstGeom prst="cloudCallou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dirty="0">
                <a:solidFill>
                  <a:schemeClr val="bg1"/>
                </a:solidFill>
              </a:rPr>
              <a:t>Public</a:t>
            </a:r>
          </a:p>
          <a:p>
            <a:pPr algn="ctr"/>
            <a:r>
              <a:rPr lang="en-US" sz="4800" dirty="0">
                <a:solidFill>
                  <a:schemeClr val="bg1"/>
                </a:solidFill>
              </a:rPr>
              <a:t>Internet</a:t>
            </a:r>
            <a:endParaRPr lang="en-IN" sz="4800" dirty="0">
              <a:solidFill>
                <a:schemeClr val="bg1"/>
              </a:solidFill>
            </a:endParaRPr>
          </a:p>
        </p:txBody>
      </p:sp>
      <p:cxnSp>
        <p:nvCxnSpPr>
          <p:cNvPr id="11" name="Straight Arrow Connector 10">
            <a:extLst>
              <a:ext uri="{FF2B5EF4-FFF2-40B4-BE49-F238E27FC236}">
                <a16:creationId xmlns:a16="http://schemas.microsoft.com/office/drawing/2014/main" id="{9A106ED4-947E-4585-8EA4-BDD6CF1B5CCD}"/>
              </a:ext>
            </a:extLst>
          </p:cNvPr>
          <p:cNvCxnSpPr/>
          <p:nvPr/>
        </p:nvCxnSpPr>
        <p:spPr>
          <a:xfrm flipV="1">
            <a:off x="3739224" y="4121834"/>
            <a:ext cx="1254807" cy="534572"/>
          </a:xfrm>
          <a:prstGeom prst="straightConnector1">
            <a:avLst/>
          </a:prstGeom>
          <a:ln w="85725">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AEAACEF8-E22C-4448-BB9D-DF3FD401CD29}"/>
              </a:ext>
            </a:extLst>
          </p:cNvPr>
          <p:cNvCxnSpPr/>
          <p:nvPr/>
        </p:nvCxnSpPr>
        <p:spPr>
          <a:xfrm flipV="1">
            <a:off x="8442960" y="2107239"/>
            <a:ext cx="1254807" cy="534572"/>
          </a:xfrm>
          <a:prstGeom prst="straightConnector1">
            <a:avLst/>
          </a:prstGeom>
          <a:ln w="85725">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98868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val 13">
            <a:extLst>
              <a:ext uri="{FF2B5EF4-FFF2-40B4-BE49-F238E27FC236}">
                <a16:creationId xmlns:a16="http://schemas.microsoft.com/office/drawing/2014/main" id="{84B97D26-A84C-4B46-A92A-0CF2A077BC33}"/>
              </a:ext>
            </a:extLst>
          </p:cNvPr>
          <p:cNvSpPr/>
          <p:nvPr/>
        </p:nvSpPr>
        <p:spPr>
          <a:xfrm>
            <a:off x="8603450" y="1033067"/>
            <a:ext cx="3521544" cy="1816150"/>
          </a:xfrm>
          <a:prstGeom prst="ellipse">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E16A21DE-6CFF-4675-AB12-FD4B45FF7F0B}"/>
              </a:ext>
            </a:extLst>
          </p:cNvPr>
          <p:cNvSpPr/>
          <p:nvPr/>
        </p:nvSpPr>
        <p:spPr>
          <a:xfrm>
            <a:off x="211015" y="887897"/>
            <a:ext cx="4841185" cy="5970104"/>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298B3FDB-2F95-41B4-8EF0-1A79B80E67D3}"/>
              </a:ext>
            </a:extLst>
          </p:cNvPr>
          <p:cNvSpPr>
            <a:spLocks noGrp="1"/>
          </p:cNvSpPr>
          <p:nvPr>
            <p:ph type="title"/>
          </p:nvPr>
        </p:nvSpPr>
        <p:spPr>
          <a:xfrm>
            <a:off x="1143001" y="360610"/>
            <a:ext cx="9905998" cy="421677"/>
          </a:xfrm>
        </p:spPr>
        <p:txBody>
          <a:bodyPr>
            <a:normAutofit fontScale="90000"/>
          </a:bodyPr>
          <a:lstStyle/>
          <a:p>
            <a:pPr algn="ctr"/>
            <a:r>
              <a:rPr lang="en-US" dirty="0"/>
              <a:t>Big Picture </a:t>
            </a:r>
            <a:endParaRPr lang="en-IN" dirty="0"/>
          </a:p>
        </p:txBody>
      </p:sp>
      <p:pic>
        <p:nvPicPr>
          <p:cNvPr id="4" name="Picture 6" descr="Electromagnetic Relay |HUIMULTD">
            <a:extLst>
              <a:ext uri="{FF2B5EF4-FFF2-40B4-BE49-F238E27FC236}">
                <a16:creationId xmlns:a16="http://schemas.microsoft.com/office/drawing/2014/main" id="{048D4DA2-B98B-4305-B06C-58F62310AE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7542" y="4327666"/>
            <a:ext cx="1410525" cy="141052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Agricultural Pump - Agriculture Pump Latest Price, Manufacturers ...">
            <a:extLst>
              <a:ext uri="{FF2B5EF4-FFF2-40B4-BE49-F238E27FC236}">
                <a16:creationId xmlns:a16="http://schemas.microsoft.com/office/drawing/2014/main" id="{952B15EF-A640-4B73-B04D-BB7E69B65F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9903" y="1726316"/>
            <a:ext cx="2245802" cy="224580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centiot ESP-WROOM-32 ESP32 ESP-32S Development Board Micro Controller Board Electronic Hobby Kit">
            <a:extLst>
              <a:ext uri="{FF2B5EF4-FFF2-40B4-BE49-F238E27FC236}">
                <a16:creationId xmlns:a16="http://schemas.microsoft.com/office/drawing/2014/main" id="{02EAE1DA-2A91-41A1-B753-FFB4B16EEB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67542" y="5740107"/>
            <a:ext cx="1460653" cy="79703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07D6C9CF-A4E6-47F3-A2D7-7E27211252EB}"/>
              </a:ext>
            </a:extLst>
          </p:cNvPr>
          <p:cNvPicPr>
            <a:picLocks noChangeAspect="1"/>
          </p:cNvPicPr>
          <p:nvPr/>
        </p:nvPicPr>
        <p:blipFill>
          <a:blip r:embed="rId5"/>
          <a:stretch>
            <a:fillRect/>
          </a:stretch>
        </p:blipFill>
        <p:spPr>
          <a:xfrm>
            <a:off x="9881945" y="1438576"/>
            <a:ext cx="1005122" cy="1235210"/>
          </a:xfrm>
          <a:prstGeom prst="rect">
            <a:avLst/>
          </a:prstGeom>
        </p:spPr>
      </p:pic>
      <p:sp>
        <p:nvSpPr>
          <p:cNvPr id="11" name="Cloud 10">
            <a:extLst>
              <a:ext uri="{FF2B5EF4-FFF2-40B4-BE49-F238E27FC236}">
                <a16:creationId xmlns:a16="http://schemas.microsoft.com/office/drawing/2014/main" id="{5DB13D1D-27A8-4FF8-84F0-B5E0F1ED96E5}"/>
              </a:ext>
            </a:extLst>
          </p:cNvPr>
          <p:cNvSpPr/>
          <p:nvPr/>
        </p:nvSpPr>
        <p:spPr>
          <a:xfrm>
            <a:off x="6096000" y="4227444"/>
            <a:ext cx="2245802" cy="2146731"/>
          </a:xfrm>
          <a:prstGeom prst="cloud">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bg1"/>
                </a:solidFill>
              </a:rPr>
              <a:t>Public Internet</a:t>
            </a:r>
            <a:endParaRPr lang="en-IN" sz="3200" dirty="0">
              <a:solidFill>
                <a:schemeClr val="bg1"/>
              </a:solidFill>
            </a:endParaRPr>
          </a:p>
        </p:txBody>
      </p:sp>
      <p:cxnSp>
        <p:nvCxnSpPr>
          <p:cNvPr id="16" name="Straight Arrow Connector 15">
            <a:extLst>
              <a:ext uri="{FF2B5EF4-FFF2-40B4-BE49-F238E27FC236}">
                <a16:creationId xmlns:a16="http://schemas.microsoft.com/office/drawing/2014/main" id="{58C43CE5-15CC-4563-9AA8-7094FF990D42}"/>
              </a:ext>
            </a:extLst>
          </p:cNvPr>
          <p:cNvCxnSpPr/>
          <p:nvPr/>
        </p:nvCxnSpPr>
        <p:spPr>
          <a:xfrm flipH="1">
            <a:off x="8060788" y="2673786"/>
            <a:ext cx="1097280" cy="1448048"/>
          </a:xfrm>
          <a:prstGeom prst="straightConnector1">
            <a:avLst/>
          </a:prstGeom>
          <a:ln w="825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6D3C6C7-7E23-491D-93AF-4E6E2BCB142D}"/>
              </a:ext>
            </a:extLst>
          </p:cNvPr>
          <p:cNvCxnSpPr>
            <a:cxnSpLocks/>
          </p:cNvCxnSpPr>
          <p:nvPr/>
        </p:nvCxnSpPr>
        <p:spPr>
          <a:xfrm flipH="1" flipV="1">
            <a:off x="5134594" y="3553221"/>
            <a:ext cx="1174957" cy="924134"/>
          </a:xfrm>
          <a:prstGeom prst="straightConnector1">
            <a:avLst/>
          </a:prstGeom>
          <a:ln w="73025">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65961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8941B2F-1983-441F-A0D9-E4AB5E1BC753}"/>
              </a:ext>
            </a:extLst>
          </p:cNvPr>
          <p:cNvSpPr txBox="1"/>
          <p:nvPr/>
        </p:nvSpPr>
        <p:spPr>
          <a:xfrm>
            <a:off x="1308295" y="1955410"/>
            <a:ext cx="9706708" cy="2554545"/>
          </a:xfrm>
          <a:prstGeom prst="rect">
            <a:avLst/>
          </a:prstGeom>
          <a:noFill/>
        </p:spPr>
        <p:txBody>
          <a:bodyPr wrap="square" rtlCol="0">
            <a:spAutoFit/>
          </a:bodyPr>
          <a:lstStyle/>
          <a:p>
            <a:pPr marL="457200" indent="-457200">
              <a:buFont typeface="Wingdings" panose="05000000000000000000" pitchFamily="2" charset="2"/>
              <a:buChar char="Ø"/>
            </a:pPr>
            <a:r>
              <a:rPr lang="en-US" sz="3200" dirty="0"/>
              <a:t>Run a WEB SERVER in the ESP32 Board</a:t>
            </a:r>
          </a:p>
          <a:p>
            <a:pPr marL="457200" indent="-457200">
              <a:buFont typeface="Wingdings" panose="05000000000000000000" pitchFamily="2" charset="2"/>
              <a:buChar char="Ø"/>
            </a:pPr>
            <a:r>
              <a:rPr lang="en-US" sz="3200" dirty="0"/>
              <a:t>Access the web server from home through a mobile/laptop</a:t>
            </a:r>
          </a:p>
          <a:p>
            <a:pPr marL="457200" indent="-457200">
              <a:buFont typeface="Wingdings" panose="05000000000000000000" pitchFamily="2" charset="2"/>
              <a:buChar char="Ø"/>
            </a:pPr>
            <a:r>
              <a:rPr lang="en-US" sz="3200" dirty="0"/>
              <a:t>Web server has direct access to GPIO ports on ESP32</a:t>
            </a:r>
          </a:p>
          <a:p>
            <a:pPr marL="457200" indent="-457200">
              <a:buFont typeface="Wingdings" panose="05000000000000000000" pitchFamily="2" charset="2"/>
              <a:buChar char="Ø"/>
            </a:pPr>
            <a:r>
              <a:rPr lang="en-US" sz="3200" dirty="0"/>
              <a:t>Now by using WEB, we control the Pump set</a:t>
            </a:r>
            <a:endParaRPr lang="en-IN" sz="3200" dirty="0"/>
          </a:p>
        </p:txBody>
      </p:sp>
    </p:spTree>
    <p:extLst>
      <p:ext uri="{BB962C8B-B14F-4D97-AF65-F5344CB8AC3E}">
        <p14:creationId xmlns:p14="http://schemas.microsoft.com/office/powerpoint/2010/main" val="36575074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A18142A-0522-4B82-A338-E4F8673129AE}"/>
              </a:ext>
            </a:extLst>
          </p:cNvPr>
          <p:cNvSpPr/>
          <p:nvPr/>
        </p:nvSpPr>
        <p:spPr>
          <a:xfrm>
            <a:off x="2454367" y="2622778"/>
            <a:ext cx="6912213" cy="923330"/>
          </a:xfrm>
          <a:prstGeom prst="rect">
            <a:avLst/>
          </a:prstGeom>
          <a:noFill/>
        </p:spPr>
        <p:txBody>
          <a:bodyPr wrap="none" lIns="91440" tIns="45720" rIns="91440" bIns="45720">
            <a:spAutoFit/>
          </a:bodyPr>
          <a:lstStyle/>
          <a:p>
            <a:pPr algn="ctr"/>
            <a:r>
              <a:rPr lang="en-US" sz="5400" b="1" cap="none" spc="0" dirty="0">
                <a:ln w="22225">
                  <a:solidFill>
                    <a:schemeClr val="accent2"/>
                  </a:solidFill>
                  <a:prstDash val="solid"/>
                </a:ln>
                <a:solidFill>
                  <a:schemeClr val="accent2">
                    <a:lumMod val="40000"/>
                    <a:lumOff val="60000"/>
                  </a:schemeClr>
                </a:solidFill>
                <a:effectLst/>
              </a:rPr>
              <a:t>Let us Review the code </a:t>
            </a:r>
          </a:p>
        </p:txBody>
      </p:sp>
    </p:spTree>
    <p:extLst>
      <p:ext uri="{BB962C8B-B14F-4D97-AF65-F5344CB8AC3E}">
        <p14:creationId xmlns:p14="http://schemas.microsoft.com/office/powerpoint/2010/main" val="24204318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735C2-36A5-4BD0-B700-7AAFCD793663}"/>
              </a:ext>
            </a:extLst>
          </p:cNvPr>
          <p:cNvSpPr>
            <a:spLocks noGrp="1"/>
          </p:cNvSpPr>
          <p:nvPr>
            <p:ph type="title"/>
          </p:nvPr>
        </p:nvSpPr>
        <p:spPr>
          <a:xfrm>
            <a:off x="1141413" y="618518"/>
            <a:ext cx="9905998" cy="774184"/>
          </a:xfrm>
        </p:spPr>
        <p:txBody>
          <a:bodyPr/>
          <a:lstStyle/>
          <a:p>
            <a:r>
              <a:rPr lang="en-US" dirty="0"/>
              <a:t>Challenges </a:t>
            </a:r>
            <a:endParaRPr lang="en-IN" dirty="0"/>
          </a:p>
        </p:txBody>
      </p:sp>
      <p:sp>
        <p:nvSpPr>
          <p:cNvPr id="3" name="Cloud 2">
            <a:extLst>
              <a:ext uri="{FF2B5EF4-FFF2-40B4-BE49-F238E27FC236}">
                <a16:creationId xmlns:a16="http://schemas.microsoft.com/office/drawing/2014/main" id="{754FD492-DE25-47EA-AEDD-3BE1C7C83453}"/>
              </a:ext>
            </a:extLst>
          </p:cNvPr>
          <p:cNvSpPr/>
          <p:nvPr/>
        </p:nvSpPr>
        <p:spPr>
          <a:xfrm>
            <a:off x="2407505" y="1202789"/>
            <a:ext cx="2642796" cy="1871003"/>
          </a:xfrm>
          <a:prstGeom prst="cloud">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Farm Network</a:t>
            </a:r>
          </a:p>
          <a:p>
            <a:pPr algn="ctr"/>
            <a:r>
              <a:rPr lang="en-US" dirty="0"/>
              <a:t>(</a:t>
            </a:r>
            <a:r>
              <a:rPr lang="en-US" dirty="0" err="1"/>
              <a:t>wifi</a:t>
            </a:r>
            <a:r>
              <a:rPr lang="en-US" dirty="0"/>
              <a:t> at Farm)</a:t>
            </a:r>
            <a:endParaRPr lang="en-IN" dirty="0"/>
          </a:p>
        </p:txBody>
      </p:sp>
      <p:sp>
        <p:nvSpPr>
          <p:cNvPr id="5" name="Cloud 4">
            <a:extLst>
              <a:ext uri="{FF2B5EF4-FFF2-40B4-BE49-F238E27FC236}">
                <a16:creationId xmlns:a16="http://schemas.microsoft.com/office/drawing/2014/main" id="{1FEC925D-C932-4398-B94A-4D8F2902017E}"/>
              </a:ext>
            </a:extLst>
          </p:cNvPr>
          <p:cNvSpPr/>
          <p:nvPr/>
        </p:nvSpPr>
        <p:spPr>
          <a:xfrm>
            <a:off x="9157653" y="1392702"/>
            <a:ext cx="2642796" cy="1871003"/>
          </a:xfrm>
          <a:prstGeom prst="cloud">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Home network</a:t>
            </a:r>
          </a:p>
          <a:p>
            <a:pPr algn="ctr"/>
            <a:r>
              <a:rPr lang="en-US" dirty="0"/>
              <a:t>(</a:t>
            </a:r>
            <a:r>
              <a:rPr lang="en-US" dirty="0" err="1"/>
              <a:t>Wifi</a:t>
            </a:r>
            <a:r>
              <a:rPr lang="en-US" dirty="0"/>
              <a:t> at home)</a:t>
            </a:r>
            <a:endParaRPr lang="en-IN" dirty="0"/>
          </a:p>
        </p:txBody>
      </p:sp>
      <p:sp>
        <p:nvSpPr>
          <p:cNvPr id="7" name="Oval 6">
            <a:extLst>
              <a:ext uri="{FF2B5EF4-FFF2-40B4-BE49-F238E27FC236}">
                <a16:creationId xmlns:a16="http://schemas.microsoft.com/office/drawing/2014/main" id="{8A1A4FA0-BEFF-4D7B-A2CD-71AEDB7A14A8}"/>
              </a:ext>
            </a:extLst>
          </p:cNvPr>
          <p:cNvSpPr/>
          <p:nvPr/>
        </p:nvSpPr>
        <p:spPr>
          <a:xfrm>
            <a:off x="872196" y="2883878"/>
            <a:ext cx="1702191" cy="3712238"/>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2" descr="Agricultural Pump - Agriculture Pump Latest Price, Manufacturers ...">
            <a:extLst>
              <a:ext uri="{FF2B5EF4-FFF2-40B4-BE49-F238E27FC236}">
                <a16:creationId xmlns:a16="http://schemas.microsoft.com/office/drawing/2014/main" id="{2D0C6C49-7A24-4C65-BD34-133FA8BD06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6199" y="3263705"/>
            <a:ext cx="774184" cy="774184"/>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6" descr="Electromagnetic Relay |HUIMULTD">
            <a:extLst>
              <a:ext uri="{FF2B5EF4-FFF2-40B4-BE49-F238E27FC236}">
                <a16:creationId xmlns:a16="http://schemas.microsoft.com/office/drawing/2014/main" id="{7A6A3DCB-9C02-49B8-8C33-C31FD3A0BE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6199" y="4100648"/>
            <a:ext cx="845455" cy="845455"/>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centiot ESP-WROOM-32 ESP32 ESP-32S Development Board Micro Controller Board Electronic Hobby Kit">
            <a:extLst>
              <a:ext uri="{FF2B5EF4-FFF2-40B4-BE49-F238E27FC236}">
                <a16:creationId xmlns:a16="http://schemas.microsoft.com/office/drawing/2014/main" id="{197C296A-C1D1-466A-9392-35F9FB118C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6985" y="5223318"/>
            <a:ext cx="1003882" cy="547791"/>
          </a:xfrm>
          <a:prstGeom prst="rect">
            <a:avLst/>
          </a:prstGeom>
          <a:noFill/>
          <a:extLst>
            <a:ext uri="{909E8E84-426E-40DD-AFC4-6F175D3DCCD1}">
              <a14:hiddenFill xmlns:a14="http://schemas.microsoft.com/office/drawing/2010/main">
                <a:solidFill>
                  <a:srgbClr val="FFFFFF"/>
                </a:solidFill>
              </a14:hiddenFill>
            </a:ext>
          </a:extLst>
        </p:spPr>
      </p:pic>
      <p:sp>
        <p:nvSpPr>
          <p:cNvPr id="21" name="Oval 20">
            <a:extLst>
              <a:ext uri="{FF2B5EF4-FFF2-40B4-BE49-F238E27FC236}">
                <a16:creationId xmlns:a16="http://schemas.microsoft.com/office/drawing/2014/main" id="{15472662-3220-47E5-B771-154E1B830B64}"/>
              </a:ext>
            </a:extLst>
          </p:cNvPr>
          <p:cNvSpPr/>
          <p:nvPr/>
        </p:nvSpPr>
        <p:spPr>
          <a:xfrm>
            <a:off x="8278905" y="4038028"/>
            <a:ext cx="3521544" cy="1816150"/>
          </a:xfrm>
          <a:prstGeom prst="ellipse">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3" name="Picture 22">
            <a:extLst>
              <a:ext uri="{FF2B5EF4-FFF2-40B4-BE49-F238E27FC236}">
                <a16:creationId xmlns:a16="http://schemas.microsoft.com/office/drawing/2014/main" id="{7AB61606-6DFF-4A8F-ADF9-7AE607E3BAD0}"/>
              </a:ext>
            </a:extLst>
          </p:cNvPr>
          <p:cNvPicPr>
            <a:picLocks noChangeAspect="1"/>
          </p:cNvPicPr>
          <p:nvPr/>
        </p:nvPicPr>
        <p:blipFill>
          <a:blip r:embed="rId5"/>
          <a:stretch>
            <a:fillRect/>
          </a:stretch>
        </p:blipFill>
        <p:spPr>
          <a:xfrm>
            <a:off x="9557400" y="4443537"/>
            <a:ext cx="1005122" cy="1235210"/>
          </a:xfrm>
          <a:prstGeom prst="rect">
            <a:avLst/>
          </a:prstGeom>
        </p:spPr>
      </p:pic>
      <p:cxnSp>
        <p:nvCxnSpPr>
          <p:cNvPr id="26" name="Straight Arrow Connector 25">
            <a:extLst>
              <a:ext uri="{FF2B5EF4-FFF2-40B4-BE49-F238E27FC236}">
                <a16:creationId xmlns:a16="http://schemas.microsoft.com/office/drawing/2014/main" id="{E25E5B07-3226-42AD-93B0-C814BD50E8E9}"/>
              </a:ext>
            </a:extLst>
          </p:cNvPr>
          <p:cNvCxnSpPr>
            <a:cxnSpLocks/>
          </p:cNvCxnSpPr>
          <p:nvPr/>
        </p:nvCxnSpPr>
        <p:spPr>
          <a:xfrm flipH="1" flipV="1">
            <a:off x="4759799" y="2611725"/>
            <a:ext cx="1174957" cy="924134"/>
          </a:xfrm>
          <a:prstGeom prst="straightConnector1">
            <a:avLst/>
          </a:prstGeom>
          <a:ln w="7302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AFEF9E60-6E94-4FB4-A479-992E82122D1C}"/>
              </a:ext>
            </a:extLst>
          </p:cNvPr>
          <p:cNvCxnSpPr>
            <a:cxnSpLocks/>
          </p:cNvCxnSpPr>
          <p:nvPr/>
        </p:nvCxnSpPr>
        <p:spPr>
          <a:xfrm flipH="1">
            <a:off x="7610622" y="2883422"/>
            <a:ext cx="1576792" cy="1217226"/>
          </a:xfrm>
          <a:prstGeom prst="straightConnector1">
            <a:avLst/>
          </a:prstGeom>
          <a:ln w="7302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31B2ADFD-B116-4C09-AAA9-74224712582E}"/>
              </a:ext>
            </a:extLst>
          </p:cNvPr>
          <p:cNvCxnSpPr>
            <a:cxnSpLocks/>
          </p:cNvCxnSpPr>
          <p:nvPr/>
        </p:nvCxnSpPr>
        <p:spPr>
          <a:xfrm flipH="1">
            <a:off x="2698519" y="3073792"/>
            <a:ext cx="527266" cy="995705"/>
          </a:xfrm>
          <a:prstGeom prst="straightConnector1">
            <a:avLst/>
          </a:prstGeom>
          <a:ln w="73025">
            <a:headEnd type="triangle"/>
            <a:tailEnd type="triangle"/>
          </a:ln>
        </p:spPr>
        <p:style>
          <a:lnRef idx="1">
            <a:schemeClr val="accent1"/>
          </a:lnRef>
          <a:fillRef idx="0">
            <a:schemeClr val="accent1"/>
          </a:fillRef>
          <a:effectRef idx="0">
            <a:schemeClr val="accent1"/>
          </a:effectRef>
          <a:fontRef idx="minor">
            <a:schemeClr val="tx1"/>
          </a:fontRef>
        </p:style>
      </p:cxnSp>
      <p:sp>
        <p:nvSpPr>
          <p:cNvPr id="32" name="Cloud 31">
            <a:extLst>
              <a:ext uri="{FF2B5EF4-FFF2-40B4-BE49-F238E27FC236}">
                <a16:creationId xmlns:a16="http://schemas.microsoft.com/office/drawing/2014/main" id="{4AA1DC23-BCB1-4CA0-AFFF-F2984FC6DA25}"/>
              </a:ext>
            </a:extLst>
          </p:cNvPr>
          <p:cNvSpPr/>
          <p:nvPr/>
        </p:nvSpPr>
        <p:spPr>
          <a:xfrm>
            <a:off x="5347277" y="3681516"/>
            <a:ext cx="2245802" cy="2146731"/>
          </a:xfrm>
          <a:prstGeom prst="cloud">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bg1"/>
                </a:solidFill>
              </a:rPr>
              <a:t>Public </a:t>
            </a:r>
          </a:p>
          <a:p>
            <a:pPr algn="ctr"/>
            <a:r>
              <a:rPr lang="en-US" sz="3200" dirty="0">
                <a:solidFill>
                  <a:schemeClr val="bg1"/>
                </a:solidFill>
              </a:rPr>
              <a:t>Internet</a:t>
            </a:r>
            <a:endParaRPr lang="en-IN" sz="3200" dirty="0">
              <a:solidFill>
                <a:schemeClr val="bg1"/>
              </a:solidFill>
            </a:endParaRPr>
          </a:p>
        </p:txBody>
      </p:sp>
    </p:spTree>
    <p:extLst>
      <p:ext uri="{BB962C8B-B14F-4D97-AF65-F5344CB8AC3E}">
        <p14:creationId xmlns:p14="http://schemas.microsoft.com/office/powerpoint/2010/main" val="417546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E1C59-BF26-4485-B0CE-64E9FA093E86}"/>
              </a:ext>
            </a:extLst>
          </p:cNvPr>
          <p:cNvSpPr>
            <a:spLocks noGrp="1"/>
          </p:cNvSpPr>
          <p:nvPr>
            <p:ph type="title"/>
          </p:nvPr>
        </p:nvSpPr>
        <p:spPr/>
        <p:txBody>
          <a:bodyPr/>
          <a:lstStyle/>
          <a:p>
            <a:r>
              <a:rPr lang="en-US" dirty="0"/>
              <a:t>Challenges-2</a:t>
            </a:r>
            <a:endParaRPr lang="en-IN" dirty="0"/>
          </a:p>
        </p:txBody>
      </p:sp>
      <p:sp>
        <p:nvSpPr>
          <p:cNvPr id="3" name="TextBox 2">
            <a:extLst>
              <a:ext uri="{FF2B5EF4-FFF2-40B4-BE49-F238E27FC236}">
                <a16:creationId xmlns:a16="http://schemas.microsoft.com/office/drawing/2014/main" id="{CCD064E4-3E3B-4364-9748-4BA8BA23DB53}"/>
              </a:ext>
            </a:extLst>
          </p:cNvPr>
          <p:cNvSpPr txBox="1"/>
          <p:nvPr/>
        </p:nvSpPr>
        <p:spPr>
          <a:xfrm>
            <a:off x="1141413" y="2236763"/>
            <a:ext cx="9381221" cy="3108543"/>
          </a:xfrm>
          <a:prstGeom prst="rect">
            <a:avLst/>
          </a:prstGeom>
          <a:noFill/>
        </p:spPr>
        <p:txBody>
          <a:bodyPr wrap="square" rtlCol="0">
            <a:spAutoFit/>
          </a:bodyPr>
          <a:lstStyle/>
          <a:p>
            <a:endParaRPr lang="en-US" sz="2800" dirty="0"/>
          </a:p>
          <a:p>
            <a:pPr marL="285750" indent="-285750">
              <a:buFont typeface="Arial" panose="020B0604020202020204" pitchFamily="34" charset="0"/>
              <a:buChar char="•"/>
            </a:pPr>
            <a:r>
              <a:rPr lang="en-US" sz="2800" dirty="0"/>
              <a:t>The user does not know what is the happening in the farm</a:t>
            </a:r>
          </a:p>
          <a:p>
            <a:pPr marL="285750" indent="-285750">
              <a:buFont typeface="Arial" panose="020B0604020202020204" pitchFamily="34" charset="0"/>
              <a:buChar char="•"/>
            </a:pPr>
            <a:r>
              <a:rPr lang="en-US" sz="2800" dirty="0"/>
              <a:t>There is no way to know the pump is really running or not</a:t>
            </a:r>
          </a:p>
          <a:p>
            <a:pPr marL="285750" indent="-285750">
              <a:buFont typeface="Arial" panose="020B0604020202020204" pitchFamily="34" charset="0"/>
              <a:buChar char="•"/>
            </a:pPr>
            <a:r>
              <a:rPr lang="en-US" sz="2800" dirty="0"/>
              <a:t>There is no way to know whether there is water in the source</a:t>
            </a:r>
          </a:p>
          <a:p>
            <a:pPr marL="285750" indent="-285750">
              <a:buFont typeface="Arial" panose="020B0604020202020204" pitchFamily="34" charset="0"/>
              <a:buChar char="•"/>
            </a:pPr>
            <a:r>
              <a:rPr lang="en-US" sz="2800" dirty="0"/>
              <a:t>There  is no way to know whether farm is over flowing or nor</a:t>
            </a:r>
          </a:p>
          <a:p>
            <a:pPr marL="285750" indent="-285750">
              <a:buFont typeface="Arial" panose="020B0604020202020204" pitchFamily="34" charset="0"/>
              <a:buChar char="•"/>
            </a:pPr>
            <a:r>
              <a:rPr lang="en-US" sz="2800" dirty="0"/>
              <a:t>The climate at Farm</a:t>
            </a:r>
          </a:p>
          <a:p>
            <a:pPr marL="285750" indent="-285750">
              <a:buFont typeface="Arial" panose="020B0604020202020204" pitchFamily="34" charset="0"/>
              <a:buChar char="•"/>
            </a:pPr>
            <a:r>
              <a:rPr lang="en-US" sz="2800" dirty="0"/>
              <a:t>Other issues </a:t>
            </a:r>
            <a:endParaRPr lang="en-IN" sz="2800" dirty="0"/>
          </a:p>
        </p:txBody>
      </p:sp>
    </p:spTree>
    <p:extLst>
      <p:ext uri="{BB962C8B-B14F-4D97-AF65-F5344CB8AC3E}">
        <p14:creationId xmlns:p14="http://schemas.microsoft.com/office/powerpoint/2010/main" val="186669843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8D1E14"/>
      </a:dk2>
      <a:lt2>
        <a:srgbClr val="FF744E"/>
      </a:lt2>
      <a:accent1>
        <a:srgbClr val="E9B758"/>
      </a:accent1>
      <a:accent2>
        <a:srgbClr val="FE8943"/>
      </a:accent2>
      <a:accent3>
        <a:srgbClr val="AEA27C"/>
      </a:accent3>
      <a:accent4>
        <a:srgbClr val="90B46E"/>
      </a:accent4>
      <a:accent5>
        <a:srgbClr val="71AEC1"/>
      </a:accent5>
      <a:accent6>
        <a:srgbClr val="C98DE7"/>
      </a:accent6>
      <a:hlink>
        <a:srgbClr val="FF7A22"/>
      </a:hlink>
      <a:folHlink>
        <a:srgbClr val="FDCD86"/>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88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2000"/>
                <a:satMod val="150000"/>
                <a:lumMod val="15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971C58-AB76-4A2A-B231-5F8CA03CF491}"/>
    </a:ext>
  </a:extLst>
</a:theme>
</file>

<file path=docProps/app.xml><?xml version="1.0" encoding="utf-8"?>
<Properties xmlns="http://schemas.openxmlformats.org/officeDocument/2006/extended-properties" xmlns:vt="http://schemas.openxmlformats.org/officeDocument/2006/docPropsVTypes">
  <Template>TM04033919[[fn=Circuit]]</Template>
  <TotalTime>1958</TotalTime>
  <Words>1363</Words>
  <Application>Microsoft Office PowerPoint</Application>
  <PresentationFormat>Widescreen</PresentationFormat>
  <Paragraphs>194</Paragraphs>
  <Slides>28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Bookman Old Style</vt:lpstr>
      <vt:lpstr>Tw Cen MT</vt:lpstr>
      <vt:lpstr>Wingdings</vt:lpstr>
      <vt:lpstr>Circuit</vt:lpstr>
      <vt:lpstr>Introduction to Sensors &amp; Actuators  for IoT </vt:lpstr>
      <vt:lpstr>What are sensors </vt:lpstr>
      <vt:lpstr>what are sensor for IoT</vt:lpstr>
      <vt:lpstr>Let us take the design of simple temperature sensor take the discussion forward</vt:lpstr>
      <vt:lpstr>Background of sensors</vt:lpstr>
      <vt:lpstr>PowerPoint Presentation</vt:lpstr>
      <vt:lpstr>Can we build a sensor of our own ?</vt:lpstr>
      <vt:lpstr>Another way to measure Temperature</vt:lpstr>
      <vt:lpstr>Comparison on RTD with Thermocouple</vt:lpstr>
      <vt:lpstr>To read more …</vt:lpstr>
      <vt:lpstr>Diode as a temperature sensor</vt:lpstr>
      <vt:lpstr>DHT-11 Temperature sensor</vt:lpstr>
      <vt:lpstr>PowerPoint Presentation</vt:lpstr>
      <vt:lpstr>PowerPoint Presentation</vt:lpstr>
      <vt:lpstr>PowerPoint Presentation</vt:lpstr>
      <vt:lpstr>Infrared Thermometer</vt:lpstr>
      <vt:lpstr>What are sensor for IOT</vt:lpstr>
      <vt:lpstr>What cannot be used with IOT</vt:lpstr>
      <vt:lpstr>Nature of sensors</vt:lpstr>
      <vt:lpstr>What are Actuators</vt:lpstr>
      <vt:lpstr>How does a very simple actuator works</vt:lpstr>
      <vt:lpstr>PowerPoint Presentation</vt:lpstr>
      <vt:lpstr>How do we make this as Iot Device in the field </vt:lpstr>
      <vt:lpstr>Big Picture </vt:lpstr>
      <vt:lpstr>PowerPoint Presentation</vt:lpstr>
      <vt:lpstr>PowerPoint Presentation</vt:lpstr>
      <vt:lpstr>Challenges </vt:lpstr>
      <vt:lpstr>Challenges-2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IOT fundamentals</dc:title>
  <dc:creator>Girish Kumar</dc:creator>
  <cp:lastModifiedBy>Girish Kumar</cp:lastModifiedBy>
  <cp:revision>70</cp:revision>
  <dcterms:created xsi:type="dcterms:W3CDTF">2020-07-17T04:46:15Z</dcterms:created>
  <dcterms:modified xsi:type="dcterms:W3CDTF">2020-09-03T12:11:16Z</dcterms:modified>
</cp:coreProperties>
</file>