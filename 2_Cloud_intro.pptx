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90" r:id="rId4"/>
    <p:sldId id="258" r:id="rId5"/>
    <p:sldId id="289" r:id="rId6"/>
    <p:sldId id="291" r:id="rId7"/>
    <p:sldId id="292" r:id="rId8"/>
    <p:sldId id="293" r:id="rId9"/>
    <p:sldId id="294" r:id="rId10"/>
    <p:sldId id="295" r:id="rId11"/>
    <p:sldId id="296" r:id="rId12"/>
    <p:sldId id="297" r:id="rId13"/>
    <p:sldId id="267" r:id="rId14"/>
    <p:sldId id="259"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8" d="100"/>
          <a:sy n="68" d="100"/>
        </p:scale>
        <p:origin x="8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8/5/2020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8/5/2020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D0802-6BF9-4C83-BEB5-9412B0D68A14}"/>
              </a:ext>
            </a:extLst>
          </p:cNvPr>
          <p:cNvSpPr>
            <a:spLocks noGrp="1"/>
          </p:cNvSpPr>
          <p:nvPr>
            <p:ph type="ctrTitle"/>
          </p:nvPr>
        </p:nvSpPr>
        <p:spPr/>
        <p:txBody>
          <a:bodyPr/>
          <a:lstStyle/>
          <a:p>
            <a:r>
              <a:rPr lang="en-US" dirty="0"/>
              <a:t>Cloud computing</a:t>
            </a:r>
            <a:br>
              <a:rPr lang="en-US" dirty="0"/>
            </a:br>
            <a:endParaRPr lang="en-IN" dirty="0"/>
          </a:p>
        </p:txBody>
      </p:sp>
      <p:sp>
        <p:nvSpPr>
          <p:cNvPr id="3" name="Subtitle 2">
            <a:extLst>
              <a:ext uri="{FF2B5EF4-FFF2-40B4-BE49-F238E27FC236}">
                <a16:creationId xmlns:a16="http://schemas.microsoft.com/office/drawing/2014/main" id="{AD111286-55C2-4C7B-A0BB-2D7D7E431675}"/>
              </a:ext>
            </a:extLst>
          </p:cNvPr>
          <p:cNvSpPr>
            <a:spLocks noGrp="1"/>
          </p:cNvSpPr>
          <p:nvPr>
            <p:ph type="subTitle" idx="1"/>
          </p:nvPr>
        </p:nvSpPr>
        <p:spPr/>
        <p:txBody>
          <a:bodyPr/>
          <a:lstStyle/>
          <a:p>
            <a:r>
              <a:rPr lang="en-US" dirty="0"/>
              <a:t>Girish s Kumar</a:t>
            </a:r>
            <a:endParaRPr lang="en-IN" dirty="0"/>
          </a:p>
        </p:txBody>
      </p:sp>
    </p:spTree>
    <p:extLst>
      <p:ext uri="{BB962C8B-B14F-4D97-AF65-F5344CB8AC3E}">
        <p14:creationId xmlns:p14="http://schemas.microsoft.com/office/powerpoint/2010/main" val="1224285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88000"/>
                <a:hueMod val="106000"/>
                <a:satMod val="140000"/>
                <a:lumMod val="54000"/>
              </a:schemeClr>
              <a:schemeClr val="bg2">
                <a:tint val="98000"/>
                <a:hueMod val="92000"/>
                <a:satMod val="150000"/>
                <a:lumMod val="15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BD10-C552-4254-8305-CF17F1EDA45E}"/>
              </a:ext>
            </a:extLst>
          </p:cNvPr>
          <p:cNvSpPr>
            <a:spLocks noGrp="1"/>
          </p:cNvSpPr>
          <p:nvPr>
            <p:ph type="title"/>
          </p:nvPr>
        </p:nvSpPr>
        <p:spPr>
          <a:xfrm>
            <a:off x="1141413" y="618518"/>
            <a:ext cx="9905998" cy="812717"/>
          </a:xfrm>
        </p:spPr>
        <p:txBody>
          <a:bodyPr/>
          <a:lstStyle/>
          <a:p>
            <a:r>
              <a:rPr lang="en-US" dirty="0"/>
              <a:t>Agenda</a:t>
            </a:r>
            <a:endParaRPr lang="en-IN" dirty="0"/>
          </a:p>
        </p:txBody>
      </p:sp>
      <p:sp>
        <p:nvSpPr>
          <p:cNvPr id="4" name="TextBox 3">
            <a:extLst>
              <a:ext uri="{FF2B5EF4-FFF2-40B4-BE49-F238E27FC236}">
                <a16:creationId xmlns:a16="http://schemas.microsoft.com/office/drawing/2014/main" id="{B9FEDA14-9CF8-4289-9986-AAB38AC9F5F4}"/>
              </a:ext>
            </a:extLst>
          </p:cNvPr>
          <p:cNvSpPr txBox="1"/>
          <p:nvPr/>
        </p:nvSpPr>
        <p:spPr>
          <a:xfrm>
            <a:off x="1249017" y="1431235"/>
            <a:ext cx="9299713" cy="1231106"/>
          </a:xfrm>
          <a:prstGeom prst="rect">
            <a:avLst/>
          </a:prstGeom>
          <a:noFill/>
        </p:spPr>
        <p:txBody>
          <a:bodyPr wrap="square">
            <a:spAutoFit/>
          </a:bodyPr>
          <a:lstStyle/>
          <a:p>
            <a:endParaRPr lang="en-IN" dirty="0"/>
          </a:p>
          <a:p>
            <a:pPr marL="342900" indent="-342900">
              <a:buFont typeface="+mj-lt"/>
              <a:buAutoNum type="arabicPeriod"/>
            </a:pPr>
            <a:r>
              <a:rPr lang="en-US" sz="2800" dirty="0"/>
              <a:t>What is cloud Computing and how is it, related to IoT</a:t>
            </a:r>
          </a:p>
          <a:p>
            <a:pPr marL="342900" indent="-342900">
              <a:buFont typeface="+mj-lt"/>
              <a:buAutoNum type="arabicPeriod"/>
            </a:pPr>
            <a:r>
              <a:rPr lang="en-IN" sz="2800" dirty="0"/>
              <a:t>Introduction to Development environment</a:t>
            </a:r>
          </a:p>
        </p:txBody>
      </p:sp>
    </p:spTree>
    <p:extLst>
      <p:ext uri="{BB962C8B-B14F-4D97-AF65-F5344CB8AC3E}">
        <p14:creationId xmlns:p14="http://schemas.microsoft.com/office/powerpoint/2010/main" val="1599952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6098B1-7E66-471A-8097-A037A5CD134F}"/>
              </a:ext>
            </a:extLst>
          </p:cNvPr>
          <p:cNvPicPr>
            <a:picLocks noChangeAspect="1"/>
          </p:cNvPicPr>
          <p:nvPr/>
        </p:nvPicPr>
        <p:blipFill>
          <a:blip r:embed="rId2"/>
          <a:stretch>
            <a:fillRect/>
          </a:stretch>
        </p:blipFill>
        <p:spPr>
          <a:xfrm>
            <a:off x="1640692" y="4035602"/>
            <a:ext cx="1794927" cy="2595542"/>
          </a:xfrm>
          <a:prstGeom prst="rect">
            <a:avLst/>
          </a:prstGeom>
        </p:spPr>
      </p:pic>
      <p:sp>
        <p:nvSpPr>
          <p:cNvPr id="2" name="Title 1">
            <a:extLst>
              <a:ext uri="{FF2B5EF4-FFF2-40B4-BE49-F238E27FC236}">
                <a16:creationId xmlns:a16="http://schemas.microsoft.com/office/drawing/2014/main" id="{EAEC8C76-1458-4606-A81A-E363ED001481}"/>
              </a:ext>
            </a:extLst>
          </p:cNvPr>
          <p:cNvSpPr>
            <a:spLocks noGrp="1"/>
          </p:cNvSpPr>
          <p:nvPr>
            <p:ph type="title"/>
          </p:nvPr>
        </p:nvSpPr>
        <p:spPr>
          <a:xfrm>
            <a:off x="1141413" y="618518"/>
            <a:ext cx="9905998" cy="788251"/>
          </a:xfrm>
        </p:spPr>
        <p:txBody>
          <a:bodyPr/>
          <a:lstStyle/>
          <a:p>
            <a:r>
              <a:rPr lang="en-US" dirty="0"/>
              <a:t>Problem: Computing resource on LEASE</a:t>
            </a:r>
            <a:endParaRPr lang="en-IN" dirty="0"/>
          </a:p>
        </p:txBody>
      </p:sp>
      <p:sp>
        <p:nvSpPr>
          <p:cNvPr id="13" name="TextBox 12">
            <a:extLst>
              <a:ext uri="{FF2B5EF4-FFF2-40B4-BE49-F238E27FC236}">
                <a16:creationId xmlns:a16="http://schemas.microsoft.com/office/drawing/2014/main" id="{E3CBE212-CD86-4686-AE61-26AB4883F177}"/>
              </a:ext>
            </a:extLst>
          </p:cNvPr>
          <p:cNvSpPr txBox="1"/>
          <p:nvPr/>
        </p:nvSpPr>
        <p:spPr>
          <a:xfrm>
            <a:off x="7857447" y="2822208"/>
            <a:ext cx="4177747" cy="369332"/>
          </a:xfrm>
          <a:prstGeom prst="rect">
            <a:avLst/>
          </a:prstGeom>
          <a:noFill/>
        </p:spPr>
        <p:txBody>
          <a:bodyPr wrap="none" rtlCol="0">
            <a:spAutoFit/>
          </a:bodyPr>
          <a:lstStyle/>
          <a:p>
            <a:r>
              <a:rPr lang="en-US" dirty="0"/>
              <a:t>Users who need computers  on lease basis</a:t>
            </a:r>
            <a:endParaRPr lang="en-IN" dirty="0"/>
          </a:p>
        </p:txBody>
      </p:sp>
      <p:sp>
        <p:nvSpPr>
          <p:cNvPr id="14" name="TextBox 13">
            <a:extLst>
              <a:ext uri="{FF2B5EF4-FFF2-40B4-BE49-F238E27FC236}">
                <a16:creationId xmlns:a16="http://schemas.microsoft.com/office/drawing/2014/main" id="{F43209D4-E4A4-435D-B2B2-372BD48431A0}"/>
              </a:ext>
            </a:extLst>
          </p:cNvPr>
          <p:cNvSpPr txBox="1"/>
          <p:nvPr/>
        </p:nvSpPr>
        <p:spPr>
          <a:xfrm>
            <a:off x="3657600" y="5609340"/>
            <a:ext cx="1737522" cy="923330"/>
          </a:xfrm>
          <a:prstGeom prst="rect">
            <a:avLst/>
          </a:prstGeom>
          <a:noFill/>
        </p:spPr>
        <p:txBody>
          <a:bodyPr wrap="square" rtlCol="0">
            <a:spAutoFit/>
          </a:bodyPr>
          <a:lstStyle/>
          <a:p>
            <a:r>
              <a:rPr lang="en-US" dirty="0"/>
              <a:t>Entrepreneur, who comes out of a solution  </a:t>
            </a:r>
            <a:endParaRPr lang="en-IN" dirty="0"/>
          </a:p>
        </p:txBody>
      </p:sp>
      <p:sp>
        <p:nvSpPr>
          <p:cNvPr id="5" name="Cloud 4">
            <a:extLst>
              <a:ext uri="{FF2B5EF4-FFF2-40B4-BE49-F238E27FC236}">
                <a16:creationId xmlns:a16="http://schemas.microsoft.com/office/drawing/2014/main" id="{AB2EC86F-881B-441D-AFCF-B7429E1EE593}"/>
              </a:ext>
            </a:extLst>
          </p:cNvPr>
          <p:cNvSpPr/>
          <p:nvPr/>
        </p:nvSpPr>
        <p:spPr>
          <a:xfrm>
            <a:off x="3657600" y="2544426"/>
            <a:ext cx="4374407" cy="2595542"/>
          </a:xfrm>
          <a:prstGeom prst="cloud">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2" name="Picture 4" descr="Marketing, outline, people, team icon">
            <a:extLst>
              <a:ext uri="{FF2B5EF4-FFF2-40B4-BE49-F238E27FC236}">
                <a16:creationId xmlns:a16="http://schemas.microsoft.com/office/drawing/2014/main" id="{0C317E7B-D56B-4B51-B1DC-FB4F6257F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0394" y="1298563"/>
            <a:ext cx="1631852" cy="1631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6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49AB-8ED1-4EF1-8EB7-DCC3E3777A5C}"/>
              </a:ext>
            </a:extLst>
          </p:cNvPr>
          <p:cNvSpPr>
            <a:spLocks noGrp="1"/>
          </p:cNvSpPr>
          <p:nvPr>
            <p:ph type="title"/>
          </p:nvPr>
        </p:nvSpPr>
        <p:spPr>
          <a:xfrm>
            <a:off x="1141413" y="618518"/>
            <a:ext cx="9905998" cy="905482"/>
          </a:xfrm>
        </p:spPr>
        <p:txBody>
          <a:bodyPr/>
          <a:lstStyle/>
          <a:p>
            <a:r>
              <a:rPr lang="en-US" dirty="0"/>
              <a:t>What the Entrepreneur did</a:t>
            </a:r>
            <a:endParaRPr lang="en-IN" dirty="0"/>
          </a:p>
        </p:txBody>
      </p:sp>
      <p:sp>
        <p:nvSpPr>
          <p:cNvPr id="3" name="TextBox 2">
            <a:extLst>
              <a:ext uri="{FF2B5EF4-FFF2-40B4-BE49-F238E27FC236}">
                <a16:creationId xmlns:a16="http://schemas.microsoft.com/office/drawing/2014/main" id="{A39E21D2-A4E5-41F3-A505-F99D68159EE3}"/>
              </a:ext>
            </a:extLst>
          </p:cNvPr>
          <p:cNvSpPr txBox="1"/>
          <p:nvPr/>
        </p:nvSpPr>
        <p:spPr>
          <a:xfrm>
            <a:off x="7553739" y="1722783"/>
            <a:ext cx="3366052" cy="3416320"/>
          </a:xfrm>
          <a:prstGeom prst="rect">
            <a:avLst/>
          </a:prstGeom>
          <a:noFill/>
        </p:spPr>
        <p:txBody>
          <a:bodyPr wrap="square" rtlCol="0">
            <a:spAutoFit/>
          </a:bodyPr>
          <a:lstStyle/>
          <a:p>
            <a:r>
              <a:rPr lang="en-US" dirty="0"/>
              <a:t>A room full of laptops /desktops available for use. </a:t>
            </a:r>
          </a:p>
          <a:p>
            <a:endParaRPr lang="en-US" dirty="0"/>
          </a:p>
          <a:p>
            <a:r>
              <a:rPr lang="en-US" dirty="0"/>
              <a:t>Any one can login to any of these  laptops from a remote computer and work on it.</a:t>
            </a:r>
          </a:p>
          <a:p>
            <a:endParaRPr lang="en-US" dirty="0"/>
          </a:p>
          <a:p>
            <a:r>
              <a:rPr lang="en-US" dirty="0"/>
              <a:t>As these laptops/desktops are connected to internet anyone from any where from the login in and work on these.</a:t>
            </a:r>
          </a:p>
          <a:p>
            <a:endParaRPr lang="en-US" dirty="0"/>
          </a:p>
        </p:txBody>
      </p:sp>
      <p:pic>
        <p:nvPicPr>
          <p:cNvPr id="5" name="Picture 4">
            <a:extLst>
              <a:ext uri="{FF2B5EF4-FFF2-40B4-BE49-F238E27FC236}">
                <a16:creationId xmlns:a16="http://schemas.microsoft.com/office/drawing/2014/main" id="{53261048-8F3C-4F2E-9409-F0435B83F409}"/>
              </a:ext>
            </a:extLst>
          </p:cNvPr>
          <p:cNvPicPr>
            <a:picLocks noChangeAspect="1"/>
          </p:cNvPicPr>
          <p:nvPr/>
        </p:nvPicPr>
        <p:blipFill>
          <a:blip r:embed="rId2"/>
          <a:stretch>
            <a:fillRect/>
          </a:stretch>
        </p:blipFill>
        <p:spPr>
          <a:xfrm>
            <a:off x="1607601" y="1722783"/>
            <a:ext cx="882382" cy="810804"/>
          </a:xfrm>
          <a:prstGeom prst="rect">
            <a:avLst/>
          </a:prstGeom>
        </p:spPr>
      </p:pic>
      <p:pic>
        <p:nvPicPr>
          <p:cNvPr id="6" name="Picture 5">
            <a:extLst>
              <a:ext uri="{FF2B5EF4-FFF2-40B4-BE49-F238E27FC236}">
                <a16:creationId xmlns:a16="http://schemas.microsoft.com/office/drawing/2014/main" id="{25C32CD5-EF1F-415D-A9A3-54D711E82C2C}"/>
              </a:ext>
            </a:extLst>
          </p:cNvPr>
          <p:cNvPicPr>
            <a:picLocks noChangeAspect="1"/>
          </p:cNvPicPr>
          <p:nvPr/>
        </p:nvPicPr>
        <p:blipFill>
          <a:blip r:embed="rId2"/>
          <a:stretch>
            <a:fillRect/>
          </a:stretch>
        </p:blipFill>
        <p:spPr>
          <a:xfrm>
            <a:off x="2632198" y="1722783"/>
            <a:ext cx="882382" cy="810804"/>
          </a:xfrm>
          <a:prstGeom prst="rect">
            <a:avLst/>
          </a:prstGeom>
        </p:spPr>
      </p:pic>
      <p:pic>
        <p:nvPicPr>
          <p:cNvPr id="8" name="Picture 7">
            <a:extLst>
              <a:ext uri="{FF2B5EF4-FFF2-40B4-BE49-F238E27FC236}">
                <a16:creationId xmlns:a16="http://schemas.microsoft.com/office/drawing/2014/main" id="{74465C1E-EADA-42FC-8FC7-3D2701F997DB}"/>
              </a:ext>
            </a:extLst>
          </p:cNvPr>
          <p:cNvPicPr>
            <a:picLocks noChangeAspect="1"/>
          </p:cNvPicPr>
          <p:nvPr/>
        </p:nvPicPr>
        <p:blipFill>
          <a:blip r:embed="rId2"/>
          <a:stretch>
            <a:fillRect/>
          </a:stretch>
        </p:blipFill>
        <p:spPr>
          <a:xfrm>
            <a:off x="3698288" y="1722783"/>
            <a:ext cx="882382" cy="810804"/>
          </a:xfrm>
          <a:prstGeom prst="rect">
            <a:avLst/>
          </a:prstGeom>
        </p:spPr>
      </p:pic>
      <p:pic>
        <p:nvPicPr>
          <p:cNvPr id="10" name="Picture 9">
            <a:extLst>
              <a:ext uri="{FF2B5EF4-FFF2-40B4-BE49-F238E27FC236}">
                <a16:creationId xmlns:a16="http://schemas.microsoft.com/office/drawing/2014/main" id="{79EFF74C-16C8-4C0F-8F66-7FEBD9060817}"/>
              </a:ext>
            </a:extLst>
          </p:cNvPr>
          <p:cNvPicPr>
            <a:picLocks noChangeAspect="1"/>
          </p:cNvPicPr>
          <p:nvPr/>
        </p:nvPicPr>
        <p:blipFill>
          <a:blip r:embed="rId2"/>
          <a:stretch>
            <a:fillRect/>
          </a:stretch>
        </p:blipFill>
        <p:spPr>
          <a:xfrm>
            <a:off x="1647457" y="2719241"/>
            <a:ext cx="882382" cy="810804"/>
          </a:xfrm>
          <a:prstGeom prst="rect">
            <a:avLst/>
          </a:prstGeom>
        </p:spPr>
      </p:pic>
      <p:pic>
        <p:nvPicPr>
          <p:cNvPr id="12" name="Picture 11">
            <a:extLst>
              <a:ext uri="{FF2B5EF4-FFF2-40B4-BE49-F238E27FC236}">
                <a16:creationId xmlns:a16="http://schemas.microsoft.com/office/drawing/2014/main" id="{92247FC8-D034-4E83-8432-E4AA6150E57F}"/>
              </a:ext>
            </a:extLst>
          </p:cNvPr>
          <p:cNvPicPr>
            <a:picLocks noChangeAspect="1"/>
          </p:cNvPicPr>
          <p:nvPr/>
        </p:nvPicPr>
        <p:blipFill>
          <a:blip r:embed="rId2"/>
          <a:stretch>
            <a:fillRect/>
          </a:stretch>
        </p:blipFill>
        <p:spPr>
          <a:xfrm>
            <a:off x="2672054" y="2719241"/>
            <a:ext cx="882382" cy="810804"/>
          </a:xfrm>
          <a:prstGeom prst="rect">
            <a:avLst/>
          </a:prstGeom>
        </p:spPr>
      </p:pic>
      <p:pic>
        <p:nvPicPr>
          <p:cNvPr id="14" name="Picture 13">
            <a:extLst>
              <a:ext uri="{FF2B5EF4-FFF2-40B4-BE49-F238E27FC236}">
                <a16:creationId xmlns:a16="http://schemas.microsoft.com/office/drawing/2014/main" id="{46E072B8-9676-4B9A-A777-F8AAB6D11C6A}"/>
              </a:ext>
            </a:extLst>
          </p:cNvPr>
          <p:cNvPicPr>
            <a:picLocks noChangeAspect="1"/>
          </p:cNvPicPr>
          <p:nvPr/>
        </p:nvPicPr>
        <p:blipFill>
          <a:blip r:embed="rId2"/>
          <a:stretch>
            <a:fillRect/>
          </a:stretch>
        </p:blipFill>
        <p:spPr>
          <a:xfrm>
            <a:off x="3738144" y="2719241"/>
            <a:ext cx="882382" cy="810804"/>
          </a:xfrm>
          <a:prstGeom prst="rect">
            <a:avLst/>
          </a:prstGeom>
        </p:spPr>
      </p:pic>
      <p:pic>
        <p:nvPicPr>
          <p:cNvPr id="16" name="Picture 15">
            <a:extLst>
              <a:ext uri="{FF2B5EF4-FFF2-40B4-BE49-F238E27FC236}">
                <a16:creationId xmlns:a16="http://schemas.microsoft.com/office/drawing/2014/main" id="{5B8F7097-3A2B-418A-9093-46CC6489BEF5}"/>
              </a:ext>
            </a:extLst>
          </p:cNvPr>
          <p:cNvPicPr>
            <a:picLocks noChangeAspect="1"/>
          </p:cNvPicPr>
          <p:nvPr/>
        </p:nvPicPr>
        <p:blipFill>
          <a:blip r:embed="rId2"/>
          <a:stretch>
            <a:fillRect/>
          </a:stretch>
        </p:blipFill>
        <p:spPr>
          <a:xfrm>
            <a:off x="1645109" y="3659432"/>
            <a:ext cx="882382" cy="810804"/>
          </a:xfrm>
          <a:prstGeom prst="rect">
            <a:avLst/>
          </a:prstGeom>
        </p:spPr>
      </p:pic>
      <p:pic>
        <p:nvPicPr>
          <p:cNvPr id="18" name="Picture 17">
            <a:extLst>
              <a:ext uri="{FF2B5EF4-FFF2-40B4-BE49-F238E27FC236}">
                <a16:creationId xmlns:a16="http://schemas.microsoft.com/office/drawing/2014/main" id="{7175281F-EE80-4FF8-8685-B697742B3F1C}"/>
              </a:ext>
            </a:extLst>
          </p:cNvPr>
          <p:cNvPicPr>
            <a:picLocks noChangeAspect="1"/>
          </p:cNvPicPr>
          <p:nvPr/>
        </p:nvPicPr>
        <p:blipFill>
          <a:blip r:embed="rId2"/>
          <a:stretch>
            <a:fillRect/>
          </a:stretch>
        </p:blipFill>
        <p:spPr>
          <a:xfrm>
            <a:off x="2669706" y="3659432"/>
            <a:ext cx="882382" cy="810804"/>
          </a:xfrm>
          <a:prstGeom prst="rect">
            <a:avLst/>
          </a:prstGeom>
        </p:spPr>
      </p:pic>
      <p:pic>
        <p:nvPicPr>
          <p:cNvPr id="20" name="Picture 19">
            <a:extLst>
              <a:ext uri="{FF2B5EF4-FFF2-40B4-BE49-F238E27FC236}">
                <a16:creationId xmlns:a16="http://schemas.microsoft.com/office/drawing/2014/main" id="{B0CFF864-8ADA-4CC2-AFEA-A9D6709C5EAD}"/>
              </a:ext>
            </a:extLst>
          </p:cNvPr>
          <p:cNvPicPr>
            <a:picLocks noChangeAspect="1"/>
          </p:cNvPicPr>
          <p:nvPr/>
        </p:nvPicPr>
        <p:blipFill>
          <a:blip r:embed="rId2"/>
          <a:stretch>
            <a:fillRect/>
          </a:stretch>
        </p:blipFill>
        <p:spPr>
          <a:xfrm>
            <a:off x="3735796" y="3659432"/>
            <a:ext cx="882382" cy="810804"/>
          </a:xfrm>
          <a:prstGeom prst="rect">
            <a:avLst/>
          </a:prstGeom>
        </p:spPr>
      </p:pic>
      <p:sp>
        <p:nvSpPr>
          <p:cNvPr id="22" name="Oval 21">
            <a:extLst>
              <a:ext uri="{FF2B5EF4-FFF2-40B4-BE49-F238E27FC236}">
                <a16:creationId xmlns:a16="http://schemas.microsoft.com/office/drawing/2014/main" id="{6DA76785-4431-43C5-9796-76DD9A6C3FF3}"/>
              </a:ext>
            </a:extLst>
          </p:cNvPr>
          <p:cNvSpPr/>
          <p:nvPr/>
        </p:nvSpPr>
        <p:spPr>
          <a:xfrm>
            <a:off x="633047" y="1167617"/>
            <a:ext cx="5022166" cy="3924886"/>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99505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4C56-70FE-44F5-AEE0-7214045473CA}"/>
              </a:ext>
            </a:extLst>
          </p:cNvPr>
          <p:cNvSpPr>
            <a:spLocks noGrp="1"/>
          </p:cNvSpPr>
          <p:nvPr>
            <p:ph type="title"/>
          </p:nvPr>
        </p:nvSpPr>
        <p:spPr>
          <a:xfrm>
            <a:off x="1143001" y="172945"/>
            <a:ext cx="9905998" cy="799465"/>
          </a:xfrm>
        </p:spPr>
        <p:txBody>
          <a:bodyPr/>
          <a:lstStyle/>
          <a:p>
            <a:r>
              <a:rPr lang="en-US" dirty="0"/>
              <a:t>There are few Challenges with this Model </a:t>
            </a:r>
            <a:endParaRPr lang="en-IN" dirty="0"/>
          </a:p>
        </p:txBody>
      </p:sp>
      <p:sp>
        <p:nvSpPr>
          <p:cNvPr id="3" name="TextBox 2">
            <a:extLst>
              <a:ext uri="{FF2B5EF4-FFF2-40B4-BE49-F238E27FC236}">
                <a16:creationId xmlns:a16="http://schemas.microsoft.com/office/drawing/2014/main" id="{8C2A94CD-E74E-43EB-AE03-C11CF9D17ACD}"/>
              </a:ext>
            </a:extLst>
          </p:cNvPr>
          <p:cNvSpPr txBox="1"/>
          <p:nvPr/>
        </p:nvSpPr>
        <p:spPr>
          <a:xfrm>
            <a:off x="975759" y="1417983"/>
            <a:ext cx="10080002" cy="3416320"/>
          </a:xfrm>
          <a:prstGeom prst="rect">
            <a:avLst/>
          </a:prstGeom>
          <a:noFill/>
          <a:ln w="50800">
            <a:solidFill>
              <a:srgbClr val="FF0000"/>
            </a:solidFill>
          </a:ln>
        </p:spPr>
        <p:txBody>
          <a:bodyPr wrap="square" rtlCol="0">
            <a:spAutoFit/>
          </a:bodyPr>
          <a:lstStyle/>
          <a:p>
            <a:pPr marL="457200" indent="-457200" algn="just">
              <a:buFont typeface="+mj-lt"/>
              <a:buAutoNum type="arabicPeriod"/>
            </a:pPr>
            <a:r>
              <a:rPr lang="en-US" sz="2400" dirty="0"/>
              <a:t>Key board and Monitor attached to the laptop is not used</a:t>
            </a:r>
          </a:p>
          <a:p>
            <a:pPr marL="457200" indent="-457200" algn="just">
              <a:buFont typeface="+mj-lt"/>
              <a:buAutoNum type="arabicPeriod"/>
            </a:pPr>
            <a:endParaRPr lang="en-US" sz="2400" dirty="0"/>
          </a:p>
          <a:p>
            <a:pPr marL="457200" indent="-457200" algn="just">
              <a:buFont typeface="+mj-lt"/>
              <a:buAutoNum type="arabicPeriod"/>
            </a:pPr>
            <a:r>
              <a:rPr lang="en-US" sz="2400" dirty="0"/>
              <a:t>Each user will have different resource requirements (memory/CPU/Storage)</a:t>
            </a:r>
          </a:p>
          <a:p>
            <a:pPr marL="457200" indent="-457200" algn="just">
              <a:buFont typeface="+mj-lt"/>
              <a:buAutoNum type="arabicPeriod"/>
            </a:pPr>
            <a:endParaRPr lang="en-US" sz="2400" dirty="0"/>
          </a:p>
          <a:p>
            <a:pPr marL="457200" indent="-457200" algn="just">
              <a:buFont typeface="+mj-lt"/>
              <a:buAutoNum type="arabicPeriod"/>
            </a:pPr>
            <a:r>
              <a:rPr lang="en-US" sz="2400" dirty="0"/>
              <a:t>Some computers may be used from running memory (RAM) intensive programs where as some others may consume very little memory –resulting in un used RAM.</a:t>
            </a:r>
            <a:r>
              <a:rPr lang="en-IN" sz="2400" dirty="0"/>
              <a:t> Like this each user/program running on these a laptops/desktop are not used.</a:t>
            </a:r>
          </a:p>
          <a:p>
            <a:endParaRPr lang="en-US" sz="2400" dirty="0"/>
          </a:p>
        </p:txBody>
      </p:sp>
      <p:sp>
        <p:nvSpPr>
          <p:cNvPr id="4" name="TextBox 3">
            <a:extLst>
              <a:ext uri="{FF2B5EF4-FFF2-40B4-BE49-F238E27FC236}">
                <a16:creationId xmlns:a16="http://schemas.microsoft.com/office/drawing/2014/main" id="{C8D71E68-5962-4359-B0F7-E32196DE75F4}"/>
              </a:ext>
            </a:extLst>
          </p:cNvPr>
          <p:cNvSpPr txBox="1"/>
          <p:nvPr/>
        </p:nvSpPr>
        <p:spPr>
          <a:xfrm>
            <a:off x="1229189" y="5208104"/>
            <a:ext cx="9660835" cy="1077218"/>
          </a:xfrm>
          <a:prstGeom prst="rect">
            <a:avLst/>
          </a:prstGeom>
          <a:noFill/>
          <a:ln w="47625">
            <a:solidFill>
              <a:srgbClr val="FF0000"/>
            </a:solidFill>
          </a:ln>
        </p:spPr>
        <p:txBody>
          <a:bodyPr wrap="square" rtlCol="0">
            <a:spAutoFit/>
          </a:bodyPr>
          <a:lstStyle/>
          <a:p>
            <a:pPr algn="just"/>
            <a:r>
              <a:rPr lang="en-US" sz="3200" dirty="0"/>
              <a:t>When using Isolated machines – usage or resources cannot optimized as they are distributed across various boxes.</a:t>
            </a:r>
          </a:p>
        </p:txBody>
      </p:sp>
    </p:spTree>
    <p:extLst>
      <p:ext uri="{BB962C8B-B14F-4D97-AF65-F5344CB8AC3E}">
        <p14:creationId xmlns:p14="http://schemas.microsoft.com/office/powerpoint/2010/main" val="423584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9270-9693-4A12-9511-DDA611388FC9}"/>
              </a:ext>
            </a:extLst>
          </p:cNvPr>
          <p:cNvSpPr>
            <a:spLocks noGrp="1"/>
          </p:cNvSpPr>
          <p:nvPr>
            <p:ph type="title"/>
          </p:nvPr>
        </p:nvSpPr>
        <p:spPr>
          <a:xfrm>
            <a:off x="1143001" y="344428"/>
            <a:ext cx="9905998" cy="717913"/>
          </a:xfrm>
        </p:spPr>
        <p:txBody>
          <a:bodyPr/>
          <a:lstStyle/>
          <a:p>
            <a:r>
              <a:rPr lang="en-US" dirty="0"/>
              <a:t>Solution for Problem :1</a:t>
            </a:r>
            <a:endParaRPr lang="en-IN" dirty="0"/>
          </a:p>
        </p:txBody>
      </p:sp>
      <p:sp>
        <p:nvSpPr>
          <p:cNvPr id="3" name="Rectangle: Rounded Corners 2">
            <a:extLst>
              <a:ext uri="{FF2B5EF4-FFF2-40B4-BE49-F238E27FC236}">
                <a16:creationId xmlns:a16="http://schemas.microsoft.com/office/drawing/2014/main" id="{FE52A7EC-CFF7-49DD-AD05-6BE6A61F188F}"/>
              </a:ext>
            </a:extLst>
          </p:cNvPr>
          <p:cNvSpPr/>
          <p:nvPr/>
        </p:nvSpPr>
        <p:spPr>
          <a:xfrm>
            <a:off x="815926" y="1463040"/>
            <a:ext cx="5655212" cy="2096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buFont typeface="Wingdings" panose="05000000000000000000" pitchFamily="2" charset="2"/>
              <a:buChar char="ü"/>
            </a:pPr>
            <a:r>
              <a:rPr lang="en-US" sz="2000" dirty="0"/>
              <a:t>Remove the keyboard, mouse and display </a:t>
            </a:r>
          </a:p>
          <a:p>
            <a:pPr marL="571500" indent="-571500">
              <a:buFont typeface="Wingdings" panose="05000000000000000000" pitchFamily="2" charset="2"/>
              <a:buChar char="ü"/>
            </a:pPr>
            <a:r>
              <a:rPr lang="en-US" sz="2000" dirty="0"/>
              <a:t>Install Operating system</a:t>
            </a:r>
          </a:p>
          <a:p>
            <a:pPr marL="571500" indent="-571500">
              <a:buFont typeface="Wingdings" panose="05000000000000000000" pitchFamily="2" charset="2"/>
              <a:buChar char="ü"/>
            </a:pPr>
            <a:r>
              <a:rPr lang="en-US" sz="2000" dirty="0"/>
              <a:t>Connect the mother board to  network through a cable</a:t>
            </a:r>
          </a:p>
          <a:p>
            <a:pPr marL="571500" indent="-571500">
              <a:buFont typeface="Wingdings" panose="05000000000000000000" pitchFamily="2" charset="2"/>
              <a:buChar char="ü"/>
            </a:pPr>
            <a:r>
              <a:rPr lang="en-US" sz="2000" dirty="0"/>
              <a:t>Power mother board from a UPS</a:t>
            </a:r>
          </a:p>
          <a:p>
            <a:endParaRPr lang="en-IN" sz="2800" dirty="0"/>
          </a:p>
        </p:txBody>
      </p:sp>
      <p:sp>
        <p:nvSpPr>
          <p:cNvPr id="5" name="Rectangle: Rounded Corners 4">
            <a:extLst>
              <a:ext uri="{FF2B5EF4-FFF2-40B4-BE49-F238E27FC236}">
                <a16:creationId xmlns:a16="http://schemas.microsoft.com/office/drawing/2014/main" id="{72A15982-2B52-4923-B7E5-47E1E60072A9}"/>
              </a:ext>
            </a:extLst>
          </p:cNvPr>
          <p:cNvSpPr/>
          <p:nvPr/>
        </p:nvSpPr>
        <p:spPr>
          <a:xfrm>
            <a:off x="5336553" y="4741470"/>
            <a:ext cx="6517614" cy="1519311"/>
          </a:xfrm>
          <a:prstGeom prst="roundRect">
            <a:avLst/>
          </a:prstGeom>
          <a:gradFill flip="none" rotWithShape="1">
            <a:gsLst>
              <a:gs pos="0">
                <a:schemeClr val="accent6">
                  <a:lumMod val="40000"/>
                  <a:lumOff val="60000"/>
                </a:schemeClr>
              </a:gs>
              <a:gs pos="53000">
                <a:schemeClr val="accent6">
                  <a:lumMod val="95000"/>
                  <a:lumOff val="5000"/>
                </a:schemeClr>
              </a:gs>
              <a:gs pos="36000">
                <a:schemeClr val="accent6">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 blade server is a stripped-down server computer with a modular design optimized to minimize the use of physical space and energy. Blade servers have many components removed to save space, minimize power consumption and other considerations, while still having all the functional components to be considered a computer.</a:t>
            </a:r>
            <a:endParaRPr lang="en-IN"/>
          </a:p>
        </p:txBody>
      </p:sp>
      <p:sp>
        <p:nvSpPr>
          <p:cNvPr id="8" name="Arrow: Striped Right 7">
            <a:extLst>
              <a:ext uri="{FF2B5EF4-FFF2-40B4-BE49-F238E27FC236}">
                <a16:creationId xmlns:a16="http://schemas.microsoft.com/office/drawing/2014/main" id="{7161D77D-9DE0-4500-9632-0A683363E069}"/>
              </a:ext>
            </a:extLst>
          </p:cNvPr>
          <p:cNvSpPr/>
          <p:nvPr/>
        </p:nvSpPr>
        <p:spPr>
          <a:xfrm>
            <a:off x="6738425" y="2005534"/>
            <a:ext cx="1589649" cy="1079695"/>
          </a:xfrm>
          <a:prstGeom prst="striped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Notched Right 8">
            <a:extLst>
              <a:ext uri="{FF2B5EF4-FFF2-40B4-BE49-F238E27FC236}">
                <a16:creationId xmlns:a16="http://schemas.microsoft.com/office/drawing/2014/main" id="{BF9E2243-7F4E-4F0A-A8C2-5B91101912DA}"/>
              </a:ext>
            </a:extLst>
          </p:cNvPr>
          <p:cNvSpPr/>
          <p:nvPr/>
        </p:nvSpPr>
        <p:spPr>
          <a:xfrm>
            <a:off x="4360985" y="5501124"/>
            <a:ext cx="633046" cy="365104"/>
          </a:xfrm>
          <a:prstGeom prst="notchedRight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loud 9">
            <a:extLst>
              <a:ext uri="{FF2B5EF4-FFF2-40B4-BE49-F238E27FC236}">
                <a16:creationId xmlns:a16="http://schemas.microsoft.com/office/drawing/2014/main" id="{1621C271-4659-4D28-9A1F-1297AC8C87B3}"/>
              </a:ext>
            </a:extLst>
          </p:cNvPr>
          <p:cNvSpPr/>
          <p:nvPr/>
        </p:nvSpPr>
        <p:spPr>
          <a:xfrm>
            <a:off x="8454683" y="1266092"/>
            <a:ext cx="3399484" cy="2532185"/>
          </a:xfrm>
          <a:prstGeom prst="cloud">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Blade Server Evolved</a:t>
            </a:r>
            <a:endParaRPr lang="en-IN" dirty="0"/>
          </a:p>
        </p:txBody>
      </p:sp>
      <p:pic>
        <p:nvPicPr>
          <p:cNvPr id="26" name="Picture 2">
            <a:extLst>
              <a:ext uri="{FF2B5EF4-FFF2-40B4-BE49-F238E27FC236}">
                <a16:creationId xmlns:a16="http://schemas.microsoft.com/office/drawing/2014/main" id="{23D9F92D-B898-4A2E-9FE7-F859BC1EC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501" y="4215232"/>
            <a:ext cx="3399484" cy="2073685"/>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497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AE1F-770F-4DB7-BE83-CCFC4938FE5D}"/>
              </a:ext>
            </a:extLst>
          </p:cNvPr>
          <p:cNvSpPr>
            <a:spLocks noGrp="1"/>
          </p:cNvSpPr>
          <p:nvPr>
            <p:ph type="title"/>
          </p:nvPr>
        </p:nvSpPr>
        <p:spPr>
          <a:xfrm>
            <a:off x="1084056" y="270184"/>
            <a:ext cx="9905998" cy="816387"/>
          </a:xfrm>
        </p:spPr>
        <p:txBody>
          <a:bodyPr/>
          <a:lstStyle/>
          <a:p>
            <a:r>
              <a:rPr lang="en-US" dirty="0" err="1"/>
              <a:t>SolutION</a:t>
            </a:r>
            <a:r>
              <a:rPr lang="en-US" dirty="0"/>
              <a:t> for problem 2 &amp; 3</a:t>
            </a:r>
            <a:endParaRPr lang="en-IN" dirty="0"/>
          </a:p>
        </p:txBody>
      </p:sp>
      <p:sp>
        <p:nvSpPr>
          <p:cNvPr id="3" name="Cloud 2">
            <a:extLst>
              <a:ext uri="{FF2B5EF4-FFF2-40B4-BE49-F238E27FC236}">
                <a16:creationId xmlns:a16="http://schemas.microsoft.com/office/drawing/2014/main" id="{687AA2F1-7930-42E6-85E9-98647356CF2F}"/>
              </a:ext>
            </a:extLst>
          </p:cNvPr>
          <p:cNvSpPr/>
          <p:nvPr/>
        </p:nvSpPr>
        <p:spPr>
          <a:xfrm>
            <a:off x="811243" y="1614265"/>
            <a:ext cx="2696303" cy="1705709"/>
          </a:xfrm>
          <a:prstGeom prst="clou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RAM	 Central Pool	</a:t>
            </a:r>
            <a:endParaRPr lang="en-IN" dirty="0"/>
          </a:p>
        </p:txBody>
      </p:sp>
      <p:sp>
        <p:nvSpPr>
          <p:cNvPr id="4" name="Cloud 3">
            <a:extLst>
              <a:ext uri="{FF2B5EF4-FFF2-40B4-BE49-F238E27FC236}">
                <a16:creationId xmlns:a16="http://schemas.microsoft.com/office/drawing/2014/main" id="{2694CEC9-FE2E-4525-A51D-D730584A5AEB}"/>
              </a:ext>
            </a:extLst>
          </p:cNvPr>
          <p:cNvSpPr/>
          <p:nvPr/>
        </p:nvSpPr>
        <p:spPr>
          <a:xfrm>
            <a:off x="4304715" y="1786595"/>
            <a:ext cx="3029242" cy="1237957"/>
          </a:xfrm>
          <a:prstGeom prst="cloud">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 Central Pool	</a:t>
            </a:r>
            <a:endParaRPr lang="en-IN" dirty="0"/>
          </a:p>
        </p:txBody>
      </p:sp>
      <p:sp>
        <p:nvSpPr>
          <p:cNvPr id="6" name="Cloud 5">
            <a:extLst>
              <a:ext uri="{FF2B5EF4-FFF2-40B4-BE49-F238E27FC236}">
                <a16:creationId xmlns:a16="http://schemas.microsoft.com/office/drawing/2014/main" id="{08ABA436-5511-49C2-B43B-22ECD791CFED}"/>
              </a:ext>
            </a:extLst>
          </p:cNvPr>
          <p:cNvSpPr/>
          <p:nvPr/>
        </p:nvSpPr>
        <p:spPr>
          <a:xfrm>
            <a:off x="8464064" y="1614266"/>
            <a:ext cx="2696303" cy="1410287"/>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Storage Central Pool</a:t>
            </a:r>
            <a:endParaRPr lang="en-IN" dirty="0"/>
          </a:p>
        </p:txBody>
      </p:sp>
      <p:cxnSp>
        <p:nvCxnSpPr>
          <p:cNvPr id="46" name="Straight Arrow Connector 45">
            <a:extLst>
              <a:ext uri="{FF2B5EF4-FFF2-40B4-BE49-F238E27FC236}">
                <a16:creationId xmlns:a16="http://schemas.microsoft.com/office/drawing/2014/main" id="{850227CC-7BA0-40D7-99E3-78F86986818C}"/>
              </a:ext>
            </a:extLst>
          </p:cNvPr>
          <p:cNvCxnSpPr>
            <a:cxnSpLocks/>
          </p:cNvCxnSpPr>
          <p:nvPr/>
        </p:nvCxnSpPr>
        <p:spPr>
          <a:xfrm>
            <a:off x="2063374" y="3029741"/>
            <a:ext cx="1491071" cy="2414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587AC2E-FD56-4157-8D11-94AD1FEA2078}"/>
              </a:ext>
            </a:extLst>
          </p:cNvPr>
          <p:cNvCxnSpPr>
            <a:cxnSpLocks/>
          </p:cNvCxnSpPr>
          <p:nvPr/>
        </p:nvCxnSpPr>
        <p:spPr>
          <a:xfrm flipH="1">
            <a:off x="5764617" y="3024552"/>
            <a:ext cx="819071" cy="2518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D65D28C-3F5C-4F8B-A5B7-DC5C3746948C}"/>
              </a:ext>
            </a:extLst>
          </p:cNvPr>
          <p:cNvCxnSpPr>
            <a:cxnSpLocks/>
          </p:cNvCxnSpPr>
          <p:nvPr/>
        </p:nvCxnSpPr>
        <p:spPr>
          <a:xfrm flipH="1">
            <a:off x="8692717" y="3024552"/>
            <a:ext cx="920213" cy="2219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A57B0F9-F526-460A-BC7D-1E91CD97FF08}"/>
              </a:ext>
            </a:extLst>
          </p:cNvPr>
          <p:cNvSpPr txBox="1"/>
          <p:nvPr/>
        </p:nvSpPr>
        <p:spPr>
          <a:xfrm>
            <a:off x="4913205" y="3381803"/>
            <a:ext cx="2765116" cy="369332"/>
          </a:xfrm>
          <a:prstGeom prst="rect">
            <a:avLst/>
          </a:prstGeom>
          <a:noFill/>
        </p:spPr>
        <p:txBody>
          <a:bodyPr wrap="none" rtlCol="0">
            <a:spAutoFit/>
          </a:bodyPr>
          <a:lstStyle/>
          <a:p>
            <a:r>
              <a:rPr lang="en-US" dirty="0"/>
              <a:t>These machines can share it </a:t>
            </a:r>
            <a:endParaRPr lang="en-IN" dirty="0"/>
          </a:p>
        </p:txBody>
      </p:sp>
      <p:pic>
        <p:nvPicPr>
          <p:cNvPr id="5" name="Picture 4">
            <a:extLst>
              <a:ext uri="{FF2B5EF4-FFF2-40B4-BE49-F238E27FC236}">
                <a16:creationId xmlns:a16="http://schemas.microsoft.com/office/drawing/2014/main" id="{C10BA22C-0D51-4E47-A7AF-BC08C1616AF9}"/>
              </a:ext>
            </a:extLst>
          </p:cNvPr>
          <p:cNvPicPr>
            <a:picLocks noChangeAspect="1"/>
          </p:cNvPicPr>
          <p:nvPr/>
        </p:nvPicPr>
        <p:blipFill>
          <a:blip r:embed="rId2"/>
          <a:stretch>
            <a:fillRect/>
          </a:stretch>
        </p:blipFill>
        <p:spPr>
          <a:xfrm>
            <a:off x="1515988" y="5910386"/>
            <a:ext cx="882382" cy="677430"/>
          </a:xfrm>
          <a:prstGeom prst="rect">
            <a:avLst/>
          </a:prstGeom>
        </p:spPr>
      </p:pic>
      <p:pic>
        <p:nvPicPr>
          <p:cNvPr id="7" name="Picture 6">
            <a:extLst>
              <a:ext uri="{FF2B5EF4-FFF2-40B4-BE49-F238E27FC236}">
                <a16:creationId xmlns:a16="http://schemas.microsoft.com/office/drawing/2014/main" id="{9302F315-12AD-4F05-AD08-1C3D1BF1CF14}"/>
              </a:ext>
            </a:extLst>
          </p:cNvPr>
          <p:cNvPicPr>
            <a:picLocks noChangeAspect="1"/>
          </p:cNvPicPr>
          <p:nvPr/>
        </p:nvPicPr>
        <p:blipFill>
          <a:blip r:embed="rId2"/>
          <a:stretch>
            <a:fillRect/>
          </a:stretch>
        </p:blipFill>
        <p:spPr>
          <a:xfrm>
            <a:off x="2540585" y="5910386"/>
            <a:ext cx="882382" cy="677430"/>
          </a:xfrm>
          <a:prstGeom prst="rect">
            <a:avLst/>
          </a:prstGeom>
        </p:spPr>
      </p:pic>
      <p:pic>
        <p:nvPicPr>
          <p:cNvPr id="8" name="Picture 7">
            <a:extLst>
              <a:ext uri="{FF2B5EF4-FFF2-40B4-BE49-F238E27FC236}">
                <a16:creationId xmlns:a16="http://schemas.microsoft.com/office/drawing/2014/main" id="{BC87A0C2-49FB-4E66-9E5C-DBBB5E4FEAAF}"/>
              </a:ext>
            </a:extLst>
          </p:cNvPr>
          <p:cNvPicPr>
            <a:picLocks noChangeAspect="1"/>
          </p:cNvPicPr>
          <p:nvPr/>
        </p:nvPicPr>
        <p:blipFill>
          <a:blip r:embed="rId2"/>
          <a:stretch>
            <a:fillRect/>
          </a:stretch>
        </p:blipFill>
        <p:spPr>
          <a:xfrm>
            <a:off x="3606675" y="5910386"/>
            <a:ext cx="882382" cy="677430"/>
          </a:xfrm>
          <a:prstGeom prst="rect">
            <a:avLst/>
          </a:prstGeom>
        </p:spPr>
      </p:pic>
      <p:pic>
        <p:nvPicPr>
          <p:cNvPr id="10" name="Picture 9">
            <a:extLst>
              <a:ext uri="{FF2B5EF4-FFF2-40B4-BE49-F238E27FC236}">
                <a16:creationId xmlns:a16="http://schemas.microsoft.com/office/drawing/2014/main" id="{A5F69AFC-3B2E-4FB6-9750-5A8B9CC055E2}"/>
              </a:ext>
            </a:extLst>
          </p:cNvPr>
          <p:cNvPicPr>
            <a:picLocks noChangeAspect="1"/>
          </p:cNvPicPr>
          <p:nvPr/>
        </p:nvPicPr>
        <p:blipFill>
          <a:blip r:embed="rId2"/>
          <a:stretch>
            <a:fillRect/>
          </a:stretch>
        </p:blipFill>
        <p:spPr>
          <a:xfrm>
            <a:off x="8016985" y="5645279"/>
            <a:ext cx="882382" cy="989335"/>
          </a:xfrm>
          <a:prstGeom prst="rect">
            <a:avLst/>
          </a:prstGeom>
        </p:spPr>
      </p:pic>
      <p:pic>
        <p:nvPicPr>
          <p:cNvPr id="12" name="Picture 11">
            <a:extLst>
              <a:ext uri="{FF2B5EF4-FFF2-40B4-BE49-F238E27FC236}">
                <a16:creationId xmlns:a16="http://schemas.microsoft.com/office/drawing/2014/main" id="{9217AF4A-4F13-4A55-A5BF-FE17766D4D09}"/>
              </a:ext>
            </a:extLst>
          </p:cNvPr>
          <p:cNvPicPr>
            <a:picLocks noChangeAspect="1"/>
          </p:cNvPicPr>
          <p:nvPr/>
        </p:nvPicPr>
        <p:blipFill>
          <a:blip r:embed="rId2"/>
          <a:stretch>
            <a:fillRect/>
          </a:stretch>
        </p:blipFill>
        <p:spPr>
          <a:xfrm>
            <a:off x="9041582" y="5645279"/>
            <a:ext cx="882382" cy="989335"/>
          </a:xfrm>
          <a:prstGeom prst="rect">
            <a:avLst/>
          </a:prstGeom>
        </p:spPr>
      </p:pic>
      <p:pic>
        <p:nvPicPr>
          <p:cNvPr id="14" name="Picture 13">
            <a:extLst>
              <a:ext uri="{FF2B5EF4-FFF2-40B4-BE49-F238E27FC236}">
                <a16:creationId xmlns:a16="http://schemas.microsoft.com/office/drawing/2014/main" id="{1E4453CF-300F-4FBA-A208-011A5F8B33DC}"/>
              </a:ext>
            </a:extLst>
          </p:cNvPr>
          <p:cNvPicPr>
            <a:picLocks noChangeAspect="1"/>
          </p:cNvPicPr>
          <p:nvPr/>
        </p:nvPicPr>
        <p:blipFill>
          <a:blip r:embed="rId2"/>
          <a:stretch>
            <a:fillRect/>
          </a:stretch>
        </p:blipFill>
        <p:spPr>
          <a:xfrm>
            <a:off x="10107672" y="5645279"/>
            <a:ext cx="882382" cy="989335"/>
          </a:xfrm>
          <a:prstGeom prst="rect">
            <a:avLst/>
          </a:prstGeom>
        </p:spPr>
      </p:pic>
      <p:pic>
        <p:nvPicPr>
          <p:cNvPr id="16" name="Picture 15">
            <a:extLst>
              <a:ext uri="{FF2B5EF4-FFF2-40B4-BE49-F238E27FC236}">
                <a16:creationId xmlns:a16="http://schemas.microsoft.com/office/drawing/2014/main" id="{F952ADE6-AB70-4BC5-B652-9DCA659BC9AC}"/>
              </a:ext>
            </a:extLst>
          </p:cNvPr>
          <p:cNvPicPr>
            <a:picLocks noChangeAspect="1"/>
          </p:cNvPicPr>
          <p:nvPr/>
        </p:nvPicPr>
        <p:blipFill>
          <a:blip r:embed="rId2"/>
          <a:stretch>
            <a:fillRect/>
          </a:stretch>
        </p:blipFill>
        <p:spPr>
          <a:xfrm>
            <a:off x="4683731" y="5994669"/>
            <a:ext cx="882382" cy="677430"/>
          </a:xfrm>
          <a:prstGeom prst="rect">
            <a:avLst/>
          </a:prstGeom>
        </p:spPr>
      </p:pic>
      <p:pic>
        <p:nvPicPr>
          <p:cNvPr id="18" name="Picture 17">
            <a:extLst>
              <a:ext uri="{FF2B5EF4-FFF2-40B4-BE49-F238E27FC236}">
                <a16:creationId xmlns:a16="http://schemas.microsoft.com/office/drawing/2014/main" id="{1FBA1C46-9C03-41BA-9AEC-83A489760CA3}"/>
              </a:ext>
            </a:extLst>
          </p:cNvPr>
          <p:cNvPicPr>
            <a:picLocks noChangeAspect="1"/>
          </p:cNvPicPr>
          <p:nvPr/>
        </p:nvPicPr>
        <p:blipFill>
          <a:blip r:embed="rId2"/>
          <a:stretch>
            <a:fillRect/>
          </a:stretch>
        </p:blipFill>
        <p:spPr>
          <a:xfrm>
            <a:off x="5708328" y="5994669"/>
            <a:ext cx="882382" cy="677430"/>
          </a:xfrm>
          <a:prstGeom prst="rect">
            <a:avLst/>
          </a:prstGeom>
        </p:spPr>
      </p:pic>
      <p:pic>
        <p:nvPicPr>
          <p:cNvPr id="20" name="Picture 19">
            <a:extLst>
              <a:ext uri="{FF2B5EF4-FFF2-40B4-BE49-F238E27FC236}">
                <a16:creationId xmlns:a16="http://schemas.microsoft.com/office/drawing/2014/main" id="{15505285-2F81-4A62-8436-3A32635C0F41}"/>
              </a:ext>
            </a:extLst>
          </p:cNvPr>
          <p:cNvPicPr>
            <a:picLocks noChangeAspect="1"/>
          </p:cNvPicPr>
          <p:nvPr/>
        </p:nvPicPr>
        <p:blipFill>
          <a:blip r:embed="rId2"/>
          <a:stretch>
            <a:fillRect/>
          </a:stretch>
        </p:blipFill>
        <p:spPr>
          <a:xfrm>
            <a:off x="6774418" y="5994669"/>
            <a:ext cx="882382" cy="677430"/>
          </a:xfrm>
          <a:prstGeom prst="rect">
            <a:avLst/>
          </a:prstGeom>
        </p:spPr>
      </p:pic>
    </p:spTree>
    <p:extLst>
      <p:ext uri="{BB962C8B-B14F-4D97-AF65-F5344CB8AC3E}">
        <p14:creationId xmlns:p14="http://schemas.microsoft.com/office/powerpoint/2010/main" val="207580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loud 2">
            <a:extLst>
              <a:ext uri="{FF2B5EF4-FFF2-40B4-BE49-F238E27FC236}">
                <a16:creationId xmlns:a16="http://schemas.microsoft.com/office/drawing/2014/main" id="{09BFB0B4-D10F-45D6-8ACB-A696272643B3}"/>
              </a:ext>
            </a:extLst>
          </p:cNvPr>
          <p:cNvSpPr/>
          <p:nvPr/>
        </p:nvSpPr>
        <p:spPr>
          <a:xfrm>
            <a:off x="609600" y="246745"/>
            <a:ext cx="8694057" cy="3933370"/>
          </a:xfrm>
          <a:prstGeom prst="cloud">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rect">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Imagine of a computer where you can install and run multiple operating system ?</a:t>
            </a:r>
          </a:p>
          <a:p>
            <a:pPr algn="ctr"/>
            <a:r>
              <a:rPr lang="en-US" sz="2800" dirty="0"/>
              <a:t>Each instance of the operating system behaves like a separate machine  with a separate IP ?</a:t>
            </a:r>
            <a:endParaRPr lang="en-IN" sz="2800" dirty="0"/>
          </a:p>
        </p:txBody>
      </p:sp>
      <p:sp>
        <p:nvSpPr>
          <p:cNvPr id="6" name="Cloud 5">
            <a:extLst>
              <a:ext uri="{FF2B5EF4-FFF2-40B4-BE49-F238E27FC236}">
                <a16:creationId xmlns:a16="http://schemas.microsoft.com/office/drawing/2014/main" id="{BEB58FB2-116D-47FD-B71C-FA18A0ED1AF0}"/>
              </a:ext>
            </a:extLst>
          </p:cNvPr>
          <p:cNvSpPr/>
          <p:nvPr/>
        </p:nvSpPr>
        <p:spPr>
          <a:xfrm>
            <a:off x="6096000" y="4426857"/>
            <a:ext cx="4528457" cy="218439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Multiple machine on same hardware </a:t>
            </a:r>
          </a:p>
          <a:p>
            <a:pPr algn="ctr"/>
            <a:r>
              <a:rPr lang="en-US" dirty="0"/>
              <a:t>That means we need another entity  like  a schedule to manage these </a:t>
            </a:r>
            <a:r>
              <a:rPr lang="en-US" dirty="0" err="1"/>
              <a:t>sepearte</a:t>
            </a:r>
            <a:r>
              <a:rPr lang="en-US" dirty="0"/>
              <a:t> instance of the OS.</a:t>
            </a:r>
            <a:endParaRPr lang="en-IN" dirty="0"/>
          </a:p>
        </p:txBody>
      </p:sp>
    </p:spTree>
    <p:extLst>
      <p:ext uri="{BB962C8B-B14F-4D97-AF65-F5344CB8AC3E}">
        <p14:creationId xmlns:p14="http://schemas.microsoft.com/office/powerpoint/2010/main" val="610111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4D1F-CD94-4B92-8A62-86BE8538A95F}"/>
              </a:ext>
            </a:extLst>
          </p:cNvPr>
          <p:cNvSpPr>
            <a:spLocks noGrp="1"/>
          </p:cNvSpPr>
          <p:nvPr>
            <p:ph type="title"/>
          </p:nvPr>
        </p:nvSpPr>
        <p:spPr>
          <a:xfrm>
            <a:off x="1141413" y="618518"/>
            <a:ext cx="9905998" cy="919996"/>
          </a:xfrm>
        </p:spPr>
        <p:txBody>
          <a:bodyPr/>
          <a:lstStyle/>
          <a:p>
            <a:r>
              <a:rPr lang="en-US" dirty="0"/>
              <a:t>Hypervisor</a:t>
            </a:r>
            <a:endParaRPr lang="en-IN" dirty="0"/>
          </a:p>
        </p:txBody>
      </p:sp>
      <p:sp>
        <p:nvSpPr>
          <p:cNvPr id="3" name="Cloud 2">
            <a:extLst>
              <a:ext uri="{FF2B5EF4-FFF2-40B4-BE49-F238E27FC236}">
                <a16:creationId xmlns:a16="http://schemas.microsoft.com/office/drawing/2014/main" id="{5AB858F0-2359-438C-908E-89EB6001F467}"/>
              </a:ext>
            </a:extLst>
          </p:cNvPr>
          <p:cNvSpPr/>
          <p:nvPr/>
        </p:nvSpPr>
        <p:spPr>
          <a:xfrm>
            <a:off x="1008742" y="1248228"/>
            <a:ext cx="9905997" cy="48332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This entity or the software which let you boot  your hardware with multiple operating system  and then manage/schedule them is called Hypervisor.</a:t>
            </a:r>
            <a:endParaRPr lang="en-IN" sz="2800" dirty="0"/>
          </a:p>
        </p:txBody>
      </p:sp>
    </p:spTree>
    <p:extLst>
      <p:ext uri="{BB962C8B-B14F-4D97-AF65-F5344CB8AC3E}">
        <p14:creationId xmlns:p14="http://schemas.microsoft.com/office/powerpoint/2010/main" val="142938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396B0A-4003-475D-9C0B-ECD9BFF98AE9}"/>
              </a:ext>
            </a:extLst>
          </p:cNvPr>
          <p:cNvPicPr>
            <a:picLocks noChangeAspect="1"/>
          </p:cNvPicPr>
          <p:nvPr/>
        </p:nvPicPr>
        <p:blipFill>
          <a:blip r:embed="rId2"/>
          <a:stretch>
            <a:fillRect/>
          </a:stretch>
        </p:blipFill>
        <p:spPr>
          <a:xfrm>
            <a:off x="1905524" y="809952"/>
            <a:ext cx="8380952" cy="5238095"/>
          </a:xfrm>
          <a:prstGeom prst="rect">
            <a:avLst/>
          </a:prstGeom>
        </p:spPr>
      </p:pic>
    </p:spTree>
    <p:extLst>
      <p:ext uri="{BB962C8B-B14F-4D97-AF65-F5344CB8AC3E}">
        <p14:creationId xmlns:p14="http://schemas.microsoft.com/office/powerpoint/2010/main" val="261128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Multidocument 3">
            <a:extLst>
              <a:ext uri="{FF2B5EF4-FFF2-40B4-BE49-F238E27FC236}">
                <a16:creationId xmlns:a16="http://schemas.microsoft.com/office/drawing/2014/main" id="{B3FCCA27-A82B-4DF1-971D-CD70B768F6BE}"/>
              </a:ext>
            </a:extLst>
          </p:cNvPr>
          <p:cNvSpPr/>
          <p:nvPr/>
        </p:nvSpPr>
        <p:spPr>
          <a:xfrm>
            <a:off x="986972" y="478972"/>
            <a:ext cx="6444343" cy="4005943"/>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When you run multiple instance of the operating on the same mother board, it is possible for hypervisor to provide the support to share RAM. Storage, CPU across each instance of the OS.</a:t>
            </a:r>
          </a:p>
          <a:p>
            <a:pPr algn="ctr"/>
            <a:endParaRPr lang="en-US" dirty="0"/>
          </a:p>
          <a:p>
            <a:pPr algn="ctr"/>
            <a:r>
              <a:rPr lang="en-US" dirty="0"/>
              <a:t>Each of this instance behave like a OS, and each instance is called a Virtual machine.</a:t>
            </a:r>
            <a:endParaRPr lang="en-IN" dirty="0"/>
          </a:p>
        </p:txBody>
      </p:sp>
      <p:pic>
        <p:nvPicPr>
          <p:cNvPr id="2" name="Picture 2">
            <a:extLst>
              <a:ext uri="{FF2B5EF4-FFF2-40B4-BE49-F238E27FC236}">
                <a16:creationId xmlns:a16="http://schemas.microsoft.com/office/drawing/2014/main" id="{B92FDCFE-8724-4C9D-9840-741EB388F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565" y="3831771"/>
            <a:ext cx="4665838" cy="2846161"/>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59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loud 13">
            <a:extLst>
              <a:ext uri="{FF2B5EF4-FFF2-40B4-BE49-F238E27FC236}">
                <a16:creationId xmlns:a16="http://schemas.microsoft.com/office/drawing/2014/main" id="{A0B8D5D6-02C9-4328-8E8F-272678256C9D}"/>
              </a:ext>
            </a:extLst>
          </p:cNvPr>
          <p:cNvSpPr/>
          <p:nvPr/>
        </p:nvSpPr>
        <p:spPr>
          <a:xfrm>
            <a:off x="2757366" y="3327400"/>
            <a:ext cx="4896520" cy="3153067"/>
          </a:xfrm>
          <a:prstGeom prst="cloud">
            <a:avLst/>
          </a:prstGeom>
          <a:noFill/>
          <a:ln>
            <a:solidFill>
              <a:srgbClr val="92D05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Cloud 39">
            <a:extLst>
              <a:ext uri="{FF2B5EF4-FFF2-40B4-BE49-F238E27FC236}">
                <a16:creationId xmlns:a16="http://schemas.microsoft.com/office/drawing/2014/main" id="{03BA839A-E491-4EB0-97B2-0871105E0F24}"/>
              </a:ext>
            </a:extLst>
          </p:cNvPr>
          <p:cNvSpPr/>
          <p:nvPr/>
        </p:nvSpPr>
        <p:spPr>
          <a:xfrm>
            <a:off x="6564889" y="989424"/>
            <a:ext cx="3808578" cy="2696029"/>
          </a:xfrm>
          <a:prstGeom prst="cloud">
            <a:avLst/>
          </a:prstGeom>
          <a:noFill/>
          <a:ln>
            <a:solidFill>
              <a:srgbClr val="FFFF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3" name="Straight Arrow Connector 52">
            <a:extLst>
              <a:ext uri="{FF2B5EF4-FFF2-40B4-BE49-F238E27FC236}">
                <a16:creationId xmlns:a16="http://schemas.microsoft.com/office/drawing/2014/main" id="{BAF8DA36-3DB5-476A-BC49-58C863E90989}"/>
              </a:ext>
            </a:extLst>
          </p:cNvPr>
          <p:cNvCxnSpPr/>
          <p:nvPr/>
        </p:nvCxnSpPr>
        <p:spPr>
          <a:xfrm flipV="1">
            <a:off x="7795085" y="3927249"/>
            <a:ext cx="359337" cy="406400"/>
          </a:xfrm>
          <a:prstGeom prst="straightConnector1">
            <a:avLst/>
          </a:prstGeom>
          <a:ln w="825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7F14894F-BDBE-4CD9-B5D8-C3FECCC6FD42}"/>
              </a:ext>
            </a:extLst>
          </p:cNvPr>
          <p:cNvCxnSpPr/>
          <p:nvPr/>
        </p:nvCxnSpPr>
        <p:spPr>
          <a:xfrm flipV="1">
            <a:off x="2436498" y="4237215"/>
            <a:ext cx="359337" cy="406400"/>
          </a:xfrm>
          <a:prstGeom prst="straightConnector1">
            <a:avLst/>
          </a:prstGeom>
          <a:ln w="825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905BE019-4A4D-494E-B30C-3E263A7340CE}"/>
              </a:ext>
            </a:extLst>
          </p:cNvPr>
          <p:cNvSpPr/>
          <p:nvPr/>
        </p:nvSpPr>
        <p:spPr>
          <a:xfrm>
            <a:off x="1364343" y="377533"/>
            <a:ext cx="3698393" cy="14953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Entrepreneur found this model very practical to implemented and economical</a:t>
            </a:r>
            <a:endParaRPr lang="en-IN" dirty="0"/>
          </a:p>
        </p:txBody>
      </p:sp>
      <p:sp>
        <p:nvSpPr>
          <p:cNvPr id="65" name="Oval 64">
            <a:extLst>
              <a:ext uri="{FF2B5EF4-FFF2-40B4-BE49-F238E27FC236}">
                <a16:creationId xmlns:a16="http://schemas.microsoft.com/office/drawing/2014/main" id="{D44D5646-D19F-461A-B77D-E5350F56E687}"/>
              </a:ext>
            </a:extLst>
          </p:cNvPr>
          <p:cNvSpPr/>
          <p:nvPr/>
        </p:nvSpPr>
        <p:spPr>
          <a:xfrm>
            <a:off x="7974754" y="4642659"/>
            <a:ext cx="3698393" cy="14953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Resource sharing became very easy to implement.</a:t>
            </a:r>
            <a:endParaRPr lang="en-IN" dirty="0">
              <a:solidFill>
                <a:srgbClr val="FF0000"/>
              </a:solidFill>
            </a:endParaRPr>
          </a:p>
        </p:txBody>
      </p:sp>
      <p:pic>
        <p:nvPicPr>
          <p:cNvPr id="2" name="Picture 2">
            <a:extLst>
              <a:ext uri="{FF2B5EF4-FFF2-40B4-BE49-F238E27FC236}">
                <a16:creationId xmlns:a16="http://schemas.microsoft.com/office/drawing/2014/main" id="{D7F2FAF0-1C34-4306-84FB-16960F94B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4134" y="383177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E4C2A02-8686-4B67-BFF6-2948BBED0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564" y="383177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2A4AEAF-D9C5-48A5-98B7-50E02A8C5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910" y="498395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A641053-5BC2-48F5-853C-52D299DB3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8278" y="498395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8" name="Picture 4" descr="Marketing, outline, people, team icon">
            <a:extLst>
              <a:ext uri="{FF2B5EF4-FFF2-40B4-BE49-F238E27FC236}">
                <a16:creationId xmlns:a16="http://schemas.microsoft.com/office/drawing/2014/main" id="{0851005D-65D0-482A-9CB1-796F52344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0738" y="0"/>
            <a:ext cx="1631852" cy="163185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B5938D7-381E-4FD7-9856-86E663107D1D}"/>
              </a:ext>
            </a:extLst>
          </p:cNvPr>
          <p:cNvPicPr>
            <a:picLocks noChangeAspect="1"/>
          </p:cNvPicPr>
          <p:nvPr/>
        </p:nvPicPr>
        <p:blipFill>
          <a:blip r:embed="rId4"/>
          <a:stretch>
            <a:fillRect/>
          </a:stretch>
        </p:blipFill>
        <p:spPr>
          <a:xfrm>
            <a:off x="7129825" y="1584014"/>
            <a:ext cx="648672" cy="498004"/>
          </a:xfrm>
          <a:prstGeom prst="rect">
            <a:avLst/>
          </a:prstGeom>
        </p:spPr>
      </p:pic>
      <p:pic>
        <p:nvPicPr>
          <p:cNvPr id="12" name="Picture 11">
            <a:extLst>
              <a:ext uri="{FF2B5EF4-FFF2-40B4-BE49-F238E27FC236}">
                <a16:creationId xmlns:a16="http://schemas.microsoft.com/office/drawing/2014/main" id="{EA17200F-E312-4F28-9057-0244DD40382F}"/>
              </a:ext>
            </a:extLst>
          </p:cNvPr>
          <p:cNvPicPr>
            <a:picLocks noChangeAspect="1"/>
          </p:cNvPicPr>
          <p:nvPr/>
        </p:nvPicPr>
        <p:blipFill>
          <a:blip r:embed="rId4"/>
          <a:stretch>
            <a:fillRect/>
          </a:stretch>
        </p:blipFill>
        <p:spPr>
          <a:xfrm>
            <a:off x="7830086" y="1584014"/>
            <a:ext cx="648672" cy="498004"/>
          </a:xfrm>
          <a:prstGeom prst="rect">
            <a:avLst/>
          </a:prstGeom>
        </p:spPr>
      </p:pic>
      <p:pic>
        <p:nvPicPr>
          <p:cNvPr id="15" name="Picture 14">
            <a:extLst>
              <a:ext uri="{FF2B5EF4-FFF2-40B4-BE49-F238E27FC236}">
                <a16:creationId xmlns:a16="http://schemas.microsoft.com/office/drawing/2014/main" id="{04F53C8E-6A6C-44C8-B3FF-5CA64BA66199}"/>
              </a:ext>
            </a:extLst>
          </p:cNvPr>
          <p:cNvPicPr>
            <a:picLocks noChangeAspect="1"/>
          </p:cNvPicPr>
          <p:nvPr/>
        </p:nvPicPr>
        <p:blipFill>
          <a:blip r:embed="rId4"/>
          <a:stretch>
            <a:fillRect/>
          </a:stretch>
        </p:blipFill>
        <p:spPr>
          <a:xfrm>
            <a:off x="8555405" y="1584014"/>
            <a:ext cx="648672" cy="498004"/>
          </a:xfrm>
          <a:prstGeom prst="rect">
            <a:avLst/>
          </a:prstGeom>
        </p:spPr>
      </p:pic>
      <p:pic>
        <p:nvPicPr>
          <p:cNvPr id="17" name="Picture 16">
            <a:extLst>
              <a:ext uri="{FF2B5EF4-FFF2-40B4-BE49-F238E27FC236}">
                <a16:creationId xmlns:a16="http://schemas.microsoft.com/office/drawing/2014/main" id="{4AA3DD5E-2B94-462E-A992-6B9D40E0A1C5}"/>
              </a:ext>
            </a:extLst>
          </p:cNvPr>
          <p:cNvPicPr>
            <a:picLocks noChangeAspect="1"/>
          </p:cNvPicPr>
          <p:nvPr/>
        </p:nvPicPr>
        <p:blipFill>
          <a:blip r:embed="rId4"/>
          <a:stretch>
            <a:fillRect/>
          </a:stretch>
        </p:blipFill>
        <p:spPr>
          <a:xfrm>
            <a:off x="9229135" y="1584014"/>
            <a:ext cx="648672" cy="498004"/>
          </a:xfrm>
          <a:prstGeom prst="rect">
            <a:avLst/>
          </a:prstGeom>
        </p:spPr>
      </p:pic>
      <p:pic>
        <p:nvPicPr>
          <p:cNvPr id="19" name="Picture 18">
            <a:extLst>
              <a:ext uri="{FF2B5EF4-FFF2-40B4-BE49-F238E27FC236}">
                <a16:creationId xmlns:a16="http://schemas.microsoft.com/office/drawing/2014/main" id="{FBE481FA-6406-4E8C-BAC2-F50FCF7FA286}"/>
              </a:ext>
            </a:extLst>
          </p:cNvPr>
          <p:cNvPicPr>
            <a:picLocks noChangeAspect="1"/>
          </p:cNvPicPr>
          <p:nvPr/>
        </p:nvPicPr>
        <p:blipFill>
          <a:blip r:embed="rId4"/>
          <a:stretch>
            <a:fillRect/>
          </a:stretch>
        </p:blipFill>
        <p:spPr>
          <a:xfrm>
            <a:off x="7129825" y="2206705"/>
            <a:ext cx="648672" cy="498004"/>
          </a:xfrm>
          <a:prstGeom prst="rect">
            <a:avLst/>
          </a:prstGeom>
        </p:spPr>
      </p:pic>
      <p:pic>
        <p:nvPicPr>
          <p:cNvPr id="21" name="Picture 20">
            <a:extLst>
              <a:ext uri="{FF2B5EF4-FFF2-40B4-BE49-F238E27FC236}">
                <a16:creationId xmlns:a16="http://schemas.microsoft.com/office/drawing/2014/main" id="{AB2A8F0D-2384-41A9-8B02-A9162456F9C9}"/>
              </a:ext>
            </a:extLst>
          </p:cNvPr>
          <p:cNvPicPr>
            <a:picLocks noChangeAspect="1"/>
          </p:cNvPicPr>
          <p:nvPr/>
        </p:nvPicPr>
        <p:blipFill>
          <a:blip r:embed="rId4"/>
          <a:stretch>
            <a:fillRect/>
          </a:stretch>
        </p:blipFill>
        <p:spPr>
          <a:xfrm>
            <a:off x="7830086" y="2206705"/>
            <a:ext cx="648672" cy="498004"/>
          </a:xfrm>
          <a:prstGeom prst="rect">
            <a:avLst/>
          </a:prstGeom>
        </p:spPr>
      </p:pic>
      <p:pic>
        <p:nvPicPr>
          <p:cNvPr id="23" name="Picture 22">
            <a:extLst>
              <a:ext uri="{FF2B5EF4-FFF2-40B4-BE49-F238E27FC236}">
                <a16:creationId xmlns:a16="http://schemas.microsoft.com/office/drawing/2014/main" id="{BD5D873D-B7B2-42D6-8314-564DAA2C8366}"/>
              </a:ext>
            </a:extLst>
          </p:cNvPr>
          <p:cNvPicPr>
            <a:picLocks noChangeAspect="1"/>
          </p:cNvPicPr>
          <p:nvPr/>
        </p:nvPicPr>
        <p:blipFill>
          <a:blip r:embed="rId4"/>
          <a:stretch>
            <a:fillRect/>
          </a:stretch>
        </p:blipFill>
        <p:spPr>
          <a:xfrm>
            <a:off x="8555405" y="2206705"/>
            <a:ext cx="648672" cy="498004"/>
          </a:xfrm>
          <a:prstGeom prst="rect">
            <a:avLst/>
          </a:prstGeom>
        </p:spPr>
      </p:pic>
      <p:pic>
        <p:nvPicPr>
          <p:cNvPr id="25" name="Picture 24">
            <a:extLst>
              <a:ext uri="{FF2B5EF4-FFF2-40B4-BE49-F238E27FC236}">
                <a16:creationId xmlns:a16="http://schemas.microsoft.com/office/drawing/2014/main" id="{B22AB321-0FCD-4768-A320-5855EEEBA02B}"/>
              </a:ext>
            </a:extLst>
          </p:cNvPr>
          <p:cNvPicPr>
            <a:picLocks noChangeAspect="1"/>
          </p:cNvPicPr>
          <p:nvPr/>
        </p:nvPicPr>
        <p:blipFill>
          <a:blip r:embed="rId4"/>
          <a:stretch>
            <a:fillRect/>
          </a:stretch>
        </p:blipFill>
        <p:spPr>
          <a:xfrm>
            <a:off x="9280650" y="2206705"/>
            <a:ext cx="648672" cy="498004"/>
          </a:xfrm>
          <a:prstGeom prst="rect">
            <a:avLst/>
          </a:prstGeom>
        </p:spPr>
      </p:pic>
      <p:pic>
        <p:nvPicPr>
          <p:cNvPr id="27" name="Picture 26">
            <a:extLst>
              <a:ext uri="{FF2B5EF4-FFF2-40B4-BE49-F238E27FC236}">
                <a16:creationId xmlns:a16="http://schemas.microsoft.com/office/drawing/2014/main" id="{C9011455-7FEF-45A2-A675-B4FF35B74AC2}"/>
              </a:ext>
            </a:extLst>
          </p:cNvPr>
          <p:cNvPicPr>
            <a:picLocks noChangeAspect="1"/>
          </p:cNvPicPr>
          <p:nvPr/>
        </p:nvPicPr>
        <p:blipFill>
          <a:blip r:embed="rId4"/>
          <a:stretch>
            <a:fillRect/>
          </a:stretch>
        </p:blipFill>
        <p:spPr>
          <a:xfrm>
            <a:off x="7505750" y="2790222"/>
            <a:ext cx="648672" cy="498004"/>
          </a:xfrm>
          <a:prstGeom prst="rect">
            <a:avLst/>
          </a:prstGeom>
        </p:spPr>
      </p:pic>
      <p:pic>
        <p:nvPicPr>
          <p:cNvPr id="29" name="Picture 28">
            <a:extLst>
              <a:ext uri="{FF2B5EF4-FFF2-40B4-BE49-F238E27FC236}">
                <a16:creationId xmlns:a16="http://schemas.microsoft.com/office/drawing/2014/main" id="{36BBB897-3AA4-49D5-8726-DEE7F34A5A6B}"/>
              </a:ext>
            </a:extLst>
          </p:cNvPr>
          <p:cNvPicPr>
            <a:picLocks noChangeAspect="1"/>
          </p:cNvPicPr>
          <p:nvPr/>
        </p:nvPicPr>
        <p:blipFill>
          <a:blip r:embed="rId4"/>
          <a:stretch>
            <a:fillRect/>
          </a:stretch>
        </p:blipFill>
        <p:spPr>
          <a:xfrm>
            <a:off x="8878112" y="2764717"/>
            <a:ext cx="648672" cy="498004"/>
          </a:xfrm>
          <a:prstGeom prst="rect">
            <a:avLst/>
          </a:prstGeom>
        </p:spPr>
      </p:pic>
      <p:pic>
        <p:nvPicPr>
          <p:cNvPr id="31" name="Picture 30">
            <a:extLst>
              <a:ext uri="{FF2B5EF4-FFF2-40B4-BE49-F238E27FC236}">
                <a16:creationId xmlns:a16="http://schemas.microsoft.com/office/drawing/2014/main" id="{3357F24F-0E20-483B-BC08-581ECB9B62A3}"/>
              </a:ext>
            </a:extLst>
          </p:cNvPr>
          <p:cNvPicPr>
            <a:picLocks noChangeAspect="1"/>
          </p:cNvPicPr>
          <p:nvPr/>
        </p:nvPicPr>
        <p:blipFill>
          <a:blip r:embed="rId5"/>
          <a:stretch>
            <a:fillRect/>
          </a:stretch>
        </p:blipFill>
        <p:spPr>
          <a:xfrm>
            <a:off x="1137224" y="4721230"/>
            <a:ext cx="1216587" cy="1759237"/>
          </a:xfrm>
          <a:prstGeom prst="rect">
            <a:avLst/>
          </a:prstGeom>
        </p:spPr>
      </p:pic>
    </p:spTree>
    <p:extLst>
      <p:ext uri="{BB962C8B-B14F-4D97-AF65-F5344CB8AC3E}">
        <p14:creationId xmlns:p14="http://schemas.microsoft.com/office/powerpoint/2010/main" val="3757404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540B-A62C-4D1A-985F-C1781275B2F2}"/>
              </a:ext>
            </a:extLst>
          </p:cNvPr>
          <p:cNvSpPr>
            <a:spLocks noGrp="1"/>
          </p:cNvSpPr>
          <p:nvPr>
            <p:ph type="title"/>
          </p:nvPr>
        </p:nvSpPr>
        <p:spPr>
          <a:xfrm>
            <a:off x="1141413" y="618518"/>
            <a:ext cx="9905998" cy="666943"/>
          </a:xfrm>
        </p:spPr>
        <p:txBody>
          <a:bodyPr/>
          <a:lstStyle/>
          <a:p>
            <a:r>
              <a:rPr lang="en-US" dirty="0"/>
              <a:t>Can we do </a:t>
            </a:r>
            <a:r>
              <a:rPr lang="en-US" dirty="0" err="1"/>
              <a:t>Iot</a:t>
            </a:r>
            <a:r>
              <a:rPr lang="en-US" dirty="0"/>
              <a:t> without cloud </a:t>
            </a:r>
            <a:endParaRPr lang="en-IN" dirty="0"/>
          </a:p>
        </p:txBody>
      </p:sp>
      <p:sp>
        <p:nvSpPr>
          <p:cNvPr id="3" name="Oval 2">
            <a:extLst>
              <a:ext uri="{FF2B5EF4-FFF2-40B4-BE49-F238E27FC236}">
                <a16:creationId xmlns:a16="http://schemas.microsoft.com/office/drawing/2014/main" id="{01EFEE97-34E7-4461-8F8F-0543DD415A65}"/>
              </a:ext>
            </a:extLst>
          </p:cNvPr>
          <p:cNvSpPr/>
          <p:nvPr/>
        </p:nvSpPr>
        <p:spPr>
          <a:xfrm>
            <a:off x="1712686" y="2061029"/>
            <a:ext cx="9334725" cy="30625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F53C5DB5-8D92-42DD-9381-C13D2D68108E}"/>
              </a:ext>
            </a:extLst>
          </p:cNvPr>
          <p:cNvSpPr txBox="1"/>
          <p:nvPr/>
        </p:nvSpPr>
        <p:spPr>
          <a:xfrm>
            <a:off x="3328420" y="2521059"/>
            <a:ext cx="6103256" cy="1815882"/>
          </a:xfrm>
          <a:prstGeom prst="rect">
            <a:avLst/>
          </a:prstGeom>
          <a:noFill/>
        </p:spPr>
        <p:txBody>
          <a:bodyPr wrap="square">
            <a:spAutoFit/>
          </a:bodyPr>
          <a:lstStyle/>
          <a:p>
            <a:pPr algn="ctr"/>
            <a:r>
              <a:rPr lang="en-US" sz="2800" dirty="0"/>
              <a:t>You can do IoT without cloud, </a:t>
            </a:r>
          </a:p>
          <a:p>
            <a:pPr algn="ctr"/>
            <a:r>
              <a:rPr lang="en-US" sz="2800" dirty="0"/>
              <a:t>Cloud is not mandatory for IoT</a:t>
            </a:r>
          </a:p>
          <a:p>
            <a:pPr algn="ctr"/>
            <a:r>
              <a:rPr lang="en-US" sz="2800" dirty="0"/>
              <a:t>Such installation of IoT which does not use cloud are called On-Prem installations.</a:t>
            </a:r>
          </a:p>
        </p:txBody>
      </p:sp>
    </p:spTree>
    <p:extLst>
      <p:ext uri="{BB962C8B-B14F-4D97-AF65-F5344CB8AC3E}">
        <p14:creationId xmlns:p14="http://schemas.microsoft.com/office/powerpoint/2010/main" val="305289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D2643-9C32-4C08-8B46-BDB94D9D7E45}"/>
              </a:ext>
            </a:extLst>
          </p:cNvPr>
          <p:cNvSpPr>
            <a:spLocks noGrp="1"/>
          </p:cNvSpPr>
          <p:nvPr>
            <p:ph type="title"/>
          </p:nvPr>
        </p:nvSpPr>
        <p:spPr>
          <a:xfrm>
            <a:off x="1141413" y="618518"/>
            <a:ext cx="9905998" cy="759708"/>
          </a:xfrm>
        </p:spPr>
        <p:txBody>
          <a:bodyPr>
            <a:noAutofit/>
          </a:bodyPr>
          <a:lstStyle/>
          <a:p>
            <a:pPr algn="ctr"/>
            <a:r>
              <a:rPr lang="en-US" sz="5400" dirty="0"/>
              <a:t>How Is cloud Computing related to </a:t>
            </a:r>
            <a:r>
              <a:rPr lang="en-US" sz="5400" dirty="0" err="1"/>
              <a:t>Iot</a:t>
            </a:r>
            <a:endParaRPr lang="en-IN" sz="5400" dirty="0"/>
          </a:p>
        </p:txBody>
      </p:sp>
      <p:sp>
        <p:nvSpPr>
          <p:cNvPr id="3" name="Ribbon: Tilted Up 2">
            <a:extLst>
              <a:ext uri="{FF2B5EF4-FFF2-40B4-BE49-F238E27FC236}">
                <a16:creationId xmlns:a16="http://schemas.microsoft.com/office/drawing/2014/main" id="{2C2DCBDF-AEC4-46AE-9588-5800B4DEF84F}"/>
              </a:ext>
            </a:extLst>
          </p:cNvPr>
          <p:cNvSpPr/>
          <p:nvPr/>
        </p:nvSpPr>
        <p:spPr>
          <a:xfrm>
            <a:off x="2438400" y="3004457"/>
            <a:ext cx="7228114" cy="2438400"/>
          </a:xfrm>
          <a:prstGeom prst="ribbon2">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This will be covered while we talk the case study</a:t>
            </a:r>
            <a:endParaRPr lang="en-IN" sz="3200" dirty="0"/>
          </a:p>
        </p:txBody>
      </p:sp>
    </p:spTree>
    <p:extLst>
      <p:ext uri="{BB962C8B-B14F-4D97-AF65-F5344CB8AC3E}">
        <p14:creationId xmlns:p14="http://schemas.microsoft.com/office/powerpoint/2010/main" val="16336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0AD1-339B-4A22-82F7-6911CBC0E456}"/>
              </a:ext>
            </a:extLst>
          </p:cNvPr>
          <p:cNvSpPr>
            <a:spLocks noGrp="1"/>
          </p:cNvSpPr>
          <p:nvPr>
            <p:ph type="title"/>
          </p:nvPr>
        </p:nvSpPr>
        <p:spPr>
          <a:xfrm>
            <a:off x="1141413" y="618518"/>
            <a:ext cx="9905998" cy="825969"/>
          </a:xfrm>
        </p:spPr>
        <p:txBody>
          <a:bodyPr/>
          <a:lstStyle/>
          <a:p>
            <a:r>
              <a:rPr lang="en-US" dirty="0"/>
              <a:t>Development environment</a:t>
            </a:r>
            <a:endParaRPr lang="en-IN" dirty="0"/>
          </a:p>
        </p:txBody>
      </p:sp>
      <p:sp>
        <p:nvSpPr>
          <p:cNvPr id="3" name="TextBox 2">
            <a:extLst>
              <a:ext uri="{FF2B5EF4-FFF2-40B4-BE49-F238E27FC236}">
                <a16:creationId xmlns:a16="http://schemas.microsoft.com/office/drawing/2014/main" id="{3F44A1EF-F915-44AC-9DF3-8E3194C053AA}"/>
              </a:ext>
            </a:extLst>
          </p:cNvPr>
          <p:cNvSpPr txBox="1"/>
          <p:nvPr/>
        </p:nvSpPr>
        <p:spPr>
          <a:xfrm>
            <a:off x="1311965" y="1749287"/>
            <a:ext cx="9329531" cy="2954655"/>
          </a:xfrm>
          <a:prstGeom prst="rect">
            <a:avLst/>
          </a:prstGeom>
          <a:noFill/>
        </p:spPr>
        <p:txBody>
          <a:bodyPr wrap="square" rtlCol="0">
            <a:spAutoFit/>
          </a:bodyPr>
          <a:lstStyle/>
          <a:p>
            <a:pPr marL="342900" indent="-342900">
              <a:buFont typeface="+mj-lt"/>
              <a:buAutoNum type="arabicPeriod"/>
            </a:pPr>
            <a:r>
              <a:rPr lang="en-US" sz="2800" dirty="0"/>
              <a:t>Laptop</a:t>
            </a:r>
            <a:r>
              <a:rPr lang="en-IN" sz="2800" dirty="0"/>
              <a:t>/Desktop</a:t>
            </a:r>
          </a:p>
          <a:p>
            <a:pPr marL="342900" indent="-342900">
              <a:buFont typeface="+mj-lt"/>
              <a:buAutoNum type="arabicPeriod"/>
            </a:pPr>
            <a:r>
              <a:rPr lang="en-IN" sz="2800" dirty="0"/>
              <a:t>Raspberry Pi</a:t>
            </a:r>
          </a:p>
          <a:p>
            <a:pPr marL="342900" indent="-342900">
              <a:buFont typeface="+mj-lt"/>
              <a:buAutoNum type="arabicPeriod"/>
            </a:pPr>
            <a:r>
              <a:rPr lang="en-IN" sz="2800" dirty="0"/>
              <a:t>Amazon Light Sail</a:t>
            </a:r>
          </a:p>
          <a:p>
            <a:pPr marL="342900" indent="-342900">
              <a:buFont typeface="+mj-lt"/>
              <a:buAutoNum type="arabicPeriod"/>
            </a:pPr>
            <a:r>
              <a:rPr lang="en-IN" sz="2800" dirty="0"/>
              <a:t>Linux Laptop</a:t>
            </a:r>
          </a:p>
          <a:p>
            <a:pPr marL="342900" indent="-342900">
              <a:buFont typeface="+mj-lt"/>
              <a:buAutoNum type="arabicPeriod"/>
            </a:pPr>
            <a:r>
              <a:rPr lang="en-IN" sz="2800" dirty="0"/>
              <a:t>Programming Language Python/C</a:t>
            </a:r>
          </a:p>
          <a:p>
            <a:pPr marL="342900" indent="-342900">
              <a:buFont typeface="+mj-lt"/>
              <a:buAutoNum type="arabicPeriod"/>
            </a:pPr>
            <a:r>
              <a:rPr lang="en-IN" sz="2800" dirty="0"/>
              <a:t>ESP32 Development Board</a:t>
            </a:r>
          </a:p>
          <a:p>
            <a:endParaRPr lang="en-US" dirty="0"/>
          </a:p>
        </p:txBody>
      </p:sp>
    </p:spTree>
    <p:extLst>
      <p:ext uri="{BB962C8B-B14F-4D97-AF65-F5344CB8AC3E}">
        <p14:creationId xmlns:p14="http://schemas.microsoft.com/office/powerpoint/2010/main" val="845937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2008</TotalTime>
  <Words>527</Words>
  <Application>Microsoft Office PowerPoint</Application>
  <PresentationFormat>Widescreen</PresentationFormat>
  <Paragraphs>58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Tw Cen MT</vt:lpstr>
      <vt:lpstr>Wingdings</vt:lpstr>
      <vt:lpstr>Circuit</vt:lpstr>
      <vt:lpstr>Cloud computing </vt:lpstr>
      <vt:lpstr>Agenda</vt:lpstr>
      <vt:lpstr>Problem: Computing resource on LEASE</vt:lpstr>
      <vt:lpstr>What the Entrepreneur did</vt:lpstr>
      <vt:lpstr>There are few Challenges with this Model </vt:lpstr>
      <vt:lpstr>Solution for Problem :1</vt:lpstr>
      <vt:lpstr>SolutION for problem 2 &amp; 3</vt:lpstr>
      <vt:lpstr>PowerPoint Presentation</vt:lpstr>
      <vt:lpstr>Hypervisor</vt:lpstr>
      <vt:lpstr>PowerPoint Presentation</vt:lpstr>
      <vt:lpstr>PowerPoint Presentation</vt:lpstr>
      <vt:lpstr>PowerPoint Presentation</vt:lpstr>
      <vt:lpstr>Can we do Iot without cloud </vt:lpstr>
      <vt:lpstr>How Is cloud Computing related to Iot</vt:lpstr>
      <vt:lpstr>Development 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dc:title>
  <dc:creator>Girish Kumar</dc:creator>
  <cp:lastModifiedBy>Girish Kumar</cp:lastModifiedBy>
  <cp:revision>87</cp:revision>
  <dcterms:created xsi:type="dcterms:W3CDTF">2020-07-17T04:46:15Z</dcterms:created>
  <dcterms:modified xsi:type="dcterms:W3CDTF">2020-08-05T10:58:28Z</dcterms:modified>
</cp:coreProperties>
</file>