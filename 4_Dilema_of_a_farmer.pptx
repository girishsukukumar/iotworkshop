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87" r:id="rId2"/>
    <p:sldId id="301" r:id="rId3"/>
    <p:sldId id="264" r:id="rId4"/>
    <p:sldId id="265" r:id="rId5"/>
    <p:sldId id="288" r:id="rId6"/>
    <p:sldId id="305" r:id="rId7"/>
    <p:sldId id="291" r:id="rId8"/>
    <p:sldId id="292" r:id="rId9"/>
    <p:sldId id="289" r:id="rId10"/>
    <p:sldId id="306" r:id="rId11"/>
    <p:sldId id="290" r:id="rId12"/>
    <p:sldId id="293" r:id="rId13"/>
    <p:sldId id="294" r:id="rId14"/>
    <p:sldId id="295" r:id="rId15"/>
    <p:sldId id="296" r:id="rId16"/>
    <p:sldId id="297" r:id="rId17"/>
    <p:sldId id="300" r:id="rId18"/>
    <p:sldId id="302" r:id="rId19"/>
    <p:sldId id="303" r:id="rId20"/>
    <p:sldId id="307" r:id="rId21"/>
    <p:sldId id="299" r:id="rId22"/>
    <p:sldId id="298" r:id="rId23"/>
    <p:sldId id="309" r:id="rId24"/>
    <p:sldId id="304" r:id="rId25"/>
    <p:sldId id="30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C831B-7532-481F-951D-ABFC218662A4}" type="datetimeFigureOut">
              <a:rPr lang="en-IN" smtClean="0"/>
              <a:t>05-08-2020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87D28-E5C3-4D4E-94EA-49A38B661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29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094E-FA99-47C1-BE08-15D39E6E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967" y="1181225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Dilemma of a modern day farmer 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278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A2FE-A983-484F-8042-0FBC77348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656" y="821635"/>
            <a:ext cx="6253301" cy="2779644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/>
              <a:t> Knowledgeable  and talented people  who understand the science of agriculture is getting into farming</a:t>
            </a:r>
            <a:br>
              <a:rPr lang="en-US" dirty="0"/>
            </a:br>
            <a:endParaRPr lang="en-IN" dirty="0"/>
          </a:p>
        </p:txBody>
      </p:sp>
      <p:pic>
        <p:nvPicPr>
          <p:cNvPr id="5122" name="Picture 2" descr="Inside Palla, Delhi's strawberry village - delhi news - Hindustan ...">
            <a:extLst>
              <a:ext uri="{FF2B5EF4-FFF2-40B4-BE49-F238E27FC236}">
                <a16:creationId xmlns:a16="http://schemas.microsoft.com/office/drawing/2014/main" id="{7BC790DD-4348-41F7-8E3A-89F365C1B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538" y="3601279"/>
            <a:ext cx="4179818" cy="279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938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0FF470-F81A-4E2E-ACDD-6758A87A0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6768"/>
            <a:ext cx="9905998" cy="812717"/>
          </a:xfrm>
          <a:ln>
            <a:solidFill>
              <a:srgbClr val="FF0000"/>
            </a:solidFill>
          </a:ln>
        </p:spPr>
        <p:txBody>
          <a:bodyPr/>
          <a:lstStyle/>
          <a:p>
            <a:r>
              <a:rPr lang="en-US" dirty="0"/>
              <a:t>Modern Day Farmer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8BE6FF-EC88-4F0F-B12D-C8262B8213F4}"/>
              </a:ext>
            </a:extLst>
          </p:cNvPr>
          <p:cNvSpPr txBox="1"/>
          <p:nvPr/>
        </p:nvSpPr>
        <p:spPr>
          <a:xfrm>
            <a:off x="875459" y="1088815"/>
            <a:ext cx="10721008" cy="3693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Entrepreneurs are getting into Farming.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Farming is just another source of Income for them.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They have to manage multiple farms at different locations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Different business at the same time along with farms.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Human Labor is no more an option.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Need to track the changes in farms closely cant afford a mistake that can result in loss of crops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Changing weather patterns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Non availability of water suitable for farming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Response of crops to climate changes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Response of crops  to fertilizer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Handling pests and wild animals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Physical presence in the farms a challenge.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Security in farms spreading over large areas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82967-6A88-45C0-BC18-25B3996F0236}"/>
              </a:ext>
            </a:extLst>
          </p:cNvPr>
          <p:cNvSpPr txBox="1"/>
          <p:nvPr/>
        </p:nvSpPr>
        <p:spPr>
          <a:xfrm>
            <a:off x="1316086" y="5065185"/>
            <a:ext cx="9732913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Need to go with more and more automation for everything (starting with ploughing, sowing to harvesting)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279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4181-D837-409C-B644-DA121465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542" y="478301"/>
            <a:ext cx="9905998" cy="984995"/>
          </a:xfrm>
        </p:spPr>
        <p:txBody>
          <a:bodyPr>
            <a:normAutofit fontScale="90000"/>
          </a:bodyPr>
          <a:lstStyle/>
          <a:p>
            <a:r>
              <a:rPr lang="en-US" dirty="0"/>
              <a:t>Pumping water is a basic need and our solution will be not of much help to farmer. </a:t>
            </a:r>
            <a:endParaRPr lang="en-IN" dirty="0"/>
          </a:p>
        </p:txBody>
      </p:sp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FC8B51ED-4FC4-4F7A-87E3-C59E251A2DF4}"/>
              </a:ext>
            </a:extLst>
          </p:cNvPr>
          <p:cNvSpPr/>
          <p:nvPr/>
        </p:nvSpPr>
        <p:spPr>
          <a:xfrm>
            <a:off x="5984628" y="2663687"/>
            <a:ext cx="5536811" cy="3716012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latin typeface="Arial Black" panose="020B0A04020102020204" pitchFamily="34" charset="0"/>
              </a:rPr>
              <a:t>?</a:t>
            </a:r>
          </a:p>
          <a:p>
            <a:pPr algn="ctr"/>
            <a:r>
              <a:rPr lang="en-US" sz="2800" dirty="0"/>
              <a:t>Can we list the reason why the existing solution is not feasible for framer </a:t>
            </a:r>
            <a:endParaRPr lang="en-IN" sz="2800" dirty="0"/>
          </a:p>
        </p:txBody>
      </p:sp>
      <p:pic>
        <p:nvPicPr>
          <p:cNvPr id="1026" name="Picture 2" descr="Key to productivity: take more breaks | HRD America">
            <a:extLst>
              <a:ext uri="{FF2B5EF4-FFF2-40B4-BE49-F238E27FC236}">
                <a16:creationId xmlns:a16="http://schemas.microsoft.com/office/drawing/2014/main" id="{0A3CF082-F304-4DAC-B4A3-55949415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542" y="1860746"/>
            <a:ext cx="2857500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83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5D10-6453-4482-BD7F-DA8CE68C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05977"/>
            <a:ext cx="9905998" cy="816387"/>
          </a:xfrm>
        </p:spPr>
        <p:txBody>
          <a:bodyPr>
            <a:normAutofit/>
          </a:bodyPr>
          <a:lstStyle/>
          <a:p>
            <a:r>
              <a:rPr lang="en-US" dirty="0"/>
              <a:t>Basic problem with remote controlled pump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55F35-AB1E-4B0F-9762-EDC8A5305A38}"/>
              </a:ext>
            </a:extLst>
          </p:cNvPr>
          <p:cNvSpPr txBox="1"/>
          <p:nvPr/>
        </p:nvSpPr>
        <p:spPr>
          <a:xfrm>
            <a:off x="1143001" y="1510410"/>
            <a:ext cx="72554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Is the pump actually pumping water</a:t>
            </a:r>
          </a:p>
          <a:p>
            <a:pPr marL="342900" indent="-342900">
              <a:buAutoNum type="arabicPeriod"/>
            </a:pPr>
            <a:r>
              <a:rPr lang="en-US" dirty="0"/>
              <a:t> Is the water reaching the farms</a:t>
            </a:r>
          </a:p>
          <a:p>
            <a:pPr marL="342900" indent="-342900">
              <a:buAutoNum type="arabicPeriod"/>
            </a:pPr>
            <a:r>
              <a:rPr lang="en-US" dirty="0"/>
              <a:t> Is the pump pumping enough water to farms</a:t>
            </a:r>
          </a:p>
          <a:p>
            <a:pPr marL="342900" indent="-342900">
              <a:buAutoNum type="arabicPeriod"/>
            </a:pPr>
            <a:r>
              <a:rPr lang="en-US" dirty="0"/>
              <a:t> What is the temperature of the pump (is it getting heated up)</a:t>
            </a:r>
          </a:p>
          <a:p>
            <a:pPr marL="342900" indent="-342900">
              <a:buAutoNum type="arabicPeriod"/>
            </a:pPr>
            <a:r>
              <a:rPr lang="en-US" dirty="0"/>
              <a:t> Is the pump working normally without any mechanical issues</a:t>
            </a:r>
          </a:p>
          <a:p>
            <a:pPr marL="342900" indent="-342900">
              <a:buAutoNum type="arabicPeriod"/>
            </a:pPr>
            <a:r>
              <a:rPr lang="en-US" dirty="0"/>
              <a:t> What is the power consumed by pump</a:t>
            </a:r>
          </a:p>
          <a:p>
            <a:pPr marL="342900" indent="-342900">
              <a:buAutoNum type="arabicPeriod"/>
            </a:pPr>
            <a:r>
              <a:rPr lang="en-US" dirty="0"/>
              <a:t> Is  water in the storage/well enough to start the pump</a:t>
            </a:r>
          </a:p>
          <a:p>
            <a:pPr marL="342900" indent="-342900">
              <a:buAutoNum type="arabicPeriod"/>
            </a:pPr>
            <a:r>
              <a:rPr lang="en-US" dirty="0"/>
              <a:t> Should we pump water periodically ? Or only when it is needed ?</a:t>
            </a:r>
          </a:p>
          <a:p>
            <a:pPr marL="342900" indent="-342900">
              <a:buAutoNum type="arabicPeriod"/>
            </a:pPr>
            <a:r>
              <a:rPr lang="en-US" dirty="0"/>
              <a:t>What is the weather in the farm. (Temperature, Humidity and wind)</a:t>
            </a:r>
          </a:p>
          <a:p>
            <a:pPr marL="342900" indent="-342900">
              <a:buAutoNum type="arabicPeriod"/>
            </a:pPr>
            <a:r>
              <a:rPr lang="en-US" dirty="0"/>
              <a:t>Is there a potential chance of rain any time soon ?</a:t>
            </a:r>
          </a:p>
          <a:p>
            <a:pPr marL="342900" indent="-342900">
              <a:buAutoNum type="arabicPeriod"/>
            </a:pPr>
            <a:r>
              <a:rPr lang="en-US" dirty="0"/>
              <a:t> How is the soil, does it have enough water content or it is getting dry ?</a:t>
            </a:r>
          </a:p>
          <a:p>
            <a:pPr marL="342900" indent="-342900">
              <a:buAutoNum type="arabicPeriod"/>
            </a:pPr>
            <a:r>
              <a:rPr lang="en-US" dirty="0"/>
              <a:t> How is the power situation in farm, are there are any power failures</a:t>
            </a:r>
          </a:p>
          <a:p>
            <a:pPr marL="342900" indent="-342900">
              <a:buAutoNum type="arabicPeriod"/>
            </a:pPr>
            <a:r>
              <a:rPr lang="en-US" dirty="0"/>
              <a:t> Are there any intruders (wild animals pest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 Pollution in the farms</a:t>
            </a:r>
          </a:p>
          <a:p>
            <a:pPr marL="342900" indent="-342900">
              <a:buAutoNum type="arabicPeriod"/>
            </a:pPr>
            <a:r>
              <a:rPr lang="en-US" dirty="0"/>
              <a:t> ……………………</a:t>
            </a:r>
          </a:p>
          <a:p>
            <a:pPr marL="342900" indent="-342900">
              <a:buAutoNum type="arabicPeriod"/>
            </a:pPr>
            <a:r>
              <a:rPr lang="en-US" dirty="0"/>
              <a:t>……………………………</a:t>
            </a:r>
          </a:p>
          <a:p>
            <a:endParaRPr lang="en-IN" dirty="0"/>
          </a:p>
        </p:txBody>
      </p:sp>
      <p:pic>
        <p:nvPicPr>
          <p:cNvPr id="2050" name="Picture 2" descr="Outlook Photo Gallery : A farmer looks in the sky in hope of rain ...">
            <a:extLst>
              <a:ext uri="{FF2B5EF4-FFF2-40B4-BE49-F238E27FC236}">
                <a16:creationId xmlns:a16="http://schemas.microsoft.com/office/drawing/2014/main" id="{78C3E94F-D284-40CE-89E3-9F80488B3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570" y="1563418"/>
            <a:ext cx="262890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08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22C7-DCC2-48A2-B213-B23A343E7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196" y="2142518"/>
            <a:ext cx="9905998" cy="1478570"/>
          </a:xfrm>
        </p:spPr>
        <p:txBody>
          <a:bodyPr/>
          <a:lstStyle/>
          <a:p>
            <a:r>
              <a:rPr lang="en-US" dirty="0"/>
              <a:t>How the solution should looks like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014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A970-2FA7-4E60-AE65-BA1E3E96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024" y="734581"/>
            <a:ext cx="3557196" cy="2318112"/>
          </a:xfrm>
        </p:spPr>
        <p:txBody>
          <a:bodyPr/>
          <a:lstStyle/>
          <a:p>
            <a:r>
              <a:rPr lang="en-US" dirty="0"/>
              <a:t>IT cannot be  a DIY Solution or a prototype </a:t>
            </a:r>
            <a:endParaRPr lang="en-IN" dirty="0"/>
          </a:p>
        </p:txBody>
      </p:sp>
      <p:pic>
        <p:nvPicPr>
          <p:cNvPr id="4098" name="Picture 2" descr="Crystal radios">
            <a:extLst>
              <a:ext uri="{FF2B5EF4-FFF2-40B4-BE49-F238E27FC236}">
                <a16:creationId xmlns:a16="http://schemas.microsoft.com/office/drawing/2014/main" id="{8890DB76-0632-4ECC-B7F4-9A7A08FE0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539" y="245419"/>
            <a:ext cx="3966203" cy="298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rduino Projects - Instructables">
            <a:extLst>
              <a:ext uri="{FF2B5EF4-FFF2-40B4-BE49-F238E27FC236}">
                <a16:creationId xmlns:a16="http://schemas.microsoft.com/office/drawing/2014/main" id="{13FD76EA-A0B6-4809-BADF-6EDD6644F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826" y="3512299"/>
            <a:ext cx="3541845" cy="295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Coolest Arduino Projects You Can Build at Home | Digital Trends">
            <a:extLst>
              <a:ext uri="{FF2B5EF4-FFF2-40B4-BE49-F238E27FC236}">
                <a16:creationId xmlns:a16="http://schemas.microsoft.com/office/drawing/2014/main" id="{411A952C-BDA0-49EC-9D0D-17C3D0E18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465880"/>
            <a:ext cx="3934701" cy="295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779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8 Ways to Become the Most Reliable Person in the Room | Inc.com">
            <a:extLst>
              <a:ext uri="{FF2B5EF4-FFF2-40B4-BE49-F238E27FC236}">
                <a16:creationId xmlns:a16="http://schemas.microsoft.com/office/drawing/2014/main" id="{B36DD3C4-C780-47D9-A7A2-F488DD2DB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87" y="3684416"/>
            <a:ext cx="5387925" cy="303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4 Keys of Personal Reliability">
            <a:extLst>
              <a:ext uri="{FF2B5EF4-FFF2-40B4-BE49-F238E27FC236}">
                <a16:creationId xmlns:a16="http://schemas.microsoft.com/office/drawing/2014/main" id="{7B31F9C5-6A29-48E0-A98A-E691E76BB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057" y="142876"/>
            <a:ext cx="4938164" cy="328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C23467A-3F12-4A67-B01A-A14171C4FF5B}"/>
              </a:ext>
            </a:extLst>
          </p:cNvPr>
          <p:cNvSpPr txBox="1">
            <a:spLocks/>
          </p:cNvSpPr>
          <p:nvPr/>
        </p:nvSpPr>
        <p:spPr>
          <a:xfrm>
            <a:off x="1441524" y="429715"/>
            <a:ext cx="4654476" cy="17589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It has to be  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9E920B-BAAD-4640-8760-7D2194767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899" y="3598047"/>
            <a:ext cx="3372480" cy="311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70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3BB761-3E61-468B-943B-D4CBE305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82415"/>
            <a:ext cx="9905998" cy="760116"/>
          </a:xfrm>
        </p:spPr>
        <p:txBody>
          <a:bodyPr/>
          <a:lstStyle/>
          <a:p>
            <a:r>
              <a:rPr lang="en-US" dirty="0"/>
              <a:t>Is the pump pumping enough water  ?.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292C62-271B-4E20-8763-83848BA61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559" y="1739779"/>
            <a:ext cx="2121684" cy="17416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527FB9-EB72-41C0-A212-E523BC557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617" y="1093764"/>
            <a:ext cx="5093958" cy="31933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3EB2AA-C6FD-45EC-A0B7-F0E63A1E42C6}"/>
              </a:ext>
            </a:extLst>
          </p:cNvPr>
          <p:cNvSpPr txBox="1"/>
          <p:nvPr/>
        </p:nvSpPr>
        <p:spPr>
          <a:xfrm>
            <a:off x="1364318" y="4965896"/>
            <a:ext cx="9572557" cy="1200329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Each time when the magnet a passes near the Hall effect sensor, the sensor produces  an electric pulse.</a:t>
            </a:r>
          </a:p>
          <a:p>
            <a:r>
              <a:rPr lang="en-US" dirty="0"/>
              <a:t>No of pulses is proportional to the volume of water/fluid flowing through the pipe.</a:t>
            </a:r>
          </a:p>
          <a:p>
            <a:r>
              <a:rPr lang="en-US" dirty="0"/>
              <a:t>We cut the pipe and insert it into the pipe which carries water..</a:t>
            </a:r>
          </a:p>
          <a:p>
            <a:r>
              <a:rPr lang="en-US" dirty="0"/>
              <a:t>All we need to do is just count the no of pulses per minute which give is the flow.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977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159D6-E40A-4A94-A358-6985E6DF2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598" y="1589598"/>
            <a:ext cx="3678803" cy="367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304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E81A1-D1C7-450F-9881-D8636841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6146"/>
            <a:ext cx="9905998" cy="923331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How do we interface this  Sensor with ESP32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33802-FD29-4E14-9CA1-CD2F3EC833E4}"/>
              </a:ext>
            </a:extLst>
          </p:cNvPr>
          <p:cNvSpPr txBox="1"/>
          <p:nvPr/>
        </p:nvSpPr>
        <p:spPr>
          <a:xfrm>
            <a:off x="1109538" y="2386823"/>
            <a:ext cx="10533184" cy="2862322"/>
          </a:xfrm>
          <a:prstGeom prst="rect">
            <a:avLst/>
          </a:prstGeom>
          <a:noFill/>
          <a:ln w="825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latin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</a:rPr>
              <a:t>const int   </a:t>
            </a:r>
            <a:r>
              <a:rPr lang="en-US" sz="1800" dirty="0" err="1">
                <a:latin typeface="Courier New" panose="02070309020205020404" pitchFamily="49" charset="0"/>
              </a:rPr>
              <a:t>inputPIN</a:t>
            </a:r>
            <a:r>
              <a:rPr lang="en-US" sz="1800" dirty="0">
                <a:latin typeface="Courier New" panose="02070309020205020404" pitchFamily="49" charset="0"/>
              </a:rPr>
              <a:t>  = 4 ; //GPIO 4</a:t>
            </a:r>
          </a:p>
          <a:p>
            <a:endParaRPr lang="en-US" sz="1800" dirty="0">
              <a:latin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</a:rPr>
              <a:t>void ICACHE_RAM_ATTR </a:t>
            </a:r>
            <a:r>
              <a:rPr lang="en-US" sz="1800" dirty="0" err="1">
                <a:latin typeface="Courier New" panose="02070309020205020404" pitchFamily="49" charset="0"/>
              </a:rPr>
              <a:t>pin_ISR</a:t>
            </a:r>
            <a:r>
              <a:rPr lang="en-US" sz="1800" dirty="0">
                <a:latin typeface="Courier New" panose="02070309020205020404" pitchFamily="49" charset="0"/>
              </a:rPr>
              <a:t>()</a:t>
            </a:r>
          </a:p>
          <a:p>
            <a:r>
              <a:rPr lang="en-US" sz="1800" dirty="0">
                <a:latin typeface="Courier New" panose="02070309020205020404" pitchFamily="49" charset="0"/>
              </a:rPr>
              <a:t>{</a:t>
            </a:r>
          </a:p>
          <a:p>
            <a:r>
              <a:rPr lang="en-US" sz="1800" dirty="0">
                <a:latin typeface="Courier New" panose="02070309020205020404" pitchFamily="49" charset="0"/>
              </a:rPr>
              <a:t>  ticks++;</a:t>
            </a:r>
          </a:p>
          <a:p>
            <a:r>
              <a:rPr lang="en-US" sz="1800" dirty="0">
                <a:latin typeface="Courier New" panose="02070309020205020404" pitchFamily="49" charset="0"/>
              </a:rPr>
              <a:t>}</a:t>
            </a:r>
          </a:p>
          <a:p>
            <a:endParaRPr lang="en-IN" dirty="0"/>
          </a:p>
          <a:p>
            <a:r>
              <a:rPr lang="en-US" sz="1800" dirty="0" err="1">
                <a:latin typeface="Courier New" panose="02070309020205020404" pitchFamily="49" charset="0"/>
              </a:rPr>
              <a:t>attachInterrupt</a:t>
            </a:r>
            <a:r>
              <a:rPr lang="en-US" sz="1800" dirty="0"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</a:rPr>
              <a:t>digitalPinToInterrupt</a:t>
            </a:r>
            <a:r>
              <a:rPr lang="en-US" sz="1800" dirty="0"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</a:rPr>
              <a:t>inputPIN</a:t>
            </a:r>
            <a:r>
              <a:rPr lang="en-US" sz="1800" dirty="0">
                <a:latin typeface="Courier New" panose="02070309020205020404" pitchFamily="49" charset="0"/>
              </a:rPr>
              <a:t>), </a:t>
            </a:r>
            <a:r>
              <a:rPr lang="en-US" sz="1800" dirty="0" err="1">
                <a:latin typeface="Courier New" panose="02070309020205020404" pitchFamily="49" charset="0"/>
              </a:rPr>
              <a:t>pin_ISR</a:t>
            </a:r>
            <a:r>
              <a:rPr lang="en-US" sz="1800" dirty="0">
                <a:latin typeface="Courier New" panose="02070309020205020404" pitchFamily="49" charset="0"/>
              </a:rPr>
              <a:t>, RISING);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D9611-C928-446D-946D-8F79830F6633}"/>
              </a:ext>
            </a:extLst>
          </p:cNvPr>
          <p:cNvSpPr txBox="1"/>
          <p:nvPr/>
        </p:nvSpPr>
        <p:spPr>
          <a:xfrm>
            <a:off x="1109539" y="1264429"/>
            <a:ext cx="10533184" cy="923330"/>
          </a:xfrm>
          <a:prstGeom prst="rect">
            <a:avLst/>
          </a:prstGeom>
          <a:noFill/>
          <a:ln w="508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the previous code we discussed, all we need to do is :  Just add the following routine connect the sensors </a:t>
            </a:r>
          </a:p>
          <a:p>
            <a:r>
              <a:rPr lang="en-US" dirty="0"/>
              <a:t>data pin to GPIO 4 and power up the sensor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F8A7B-2B5E-4311-90E8-403A6EA0195E}"/>
              </a:ext>
            </a:extLst>
          </p:cNvPr>
          <p:cNvSpPr txBox="1"/>
          <p:nvPr/>
        </p:nvSpPr>
        <p:spPr>
          <a:xfrm>
            <a:off x="1109538" y="5448209"/>
            <a:ext cx="10533184" cy="923330"/>
          </a:xfrm>
          <a:prstGeom prst="rect">
            <a:avLst/>
          </a:prstGeom>
          <a:noFill/>
          <a:ln w="7302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All we need to do is periodically take the value in global variable ticks and calculate the volume through put and reset the variable ticks.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2069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479660-A4FE-4E59-A302-140CFACE586A}"/>
              </a:ext>
            </a:extLst>
          </p:cNvPr>
          <p:cNvSpPr/>
          <p:nvPr/>
        </p:nvSpPr>
        <p:spPr>
          <a:xfrm>
            <a:off x="2577380" y="2967335"/>
            <a:ext cx="70372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Let us Review the Code </a:t>
            </a:r>
          </a:p>
        </p:txBody>
      </p:sp>
    </p:spTree>
    <p:extLst>
      <p:ext uri="{BB962C8B-B14F-4D97-AF65-F5344CB8AC3E}">
        <p14:creationId xmlns:p14="http://schemas.microsoft.com/office/powerpoint/2010/main" val="3879529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9D47F-014E-43B8-8E18-B96C3E98D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184" y="187215"/>
            <a:ext cx="9905998" cy="85247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There are few problems  with this approach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6DCB46-CAF6-43FD-B183-E7B16C1CA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4" y="1391480"/>
            <a:ext cx="9713842" cy="527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70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E131-2291-4AEA-BBB7-AEA7E8C91F92}"/>
              </a:ext>
            </a:extLst>
          </p:cNvPr>
          <p:cNvSpPr txBox="1">
            <a:spLocks/>
          </p:cNvSpPr>
          <p:nvPr/>
        </p:nvSpPr>
        <p:spPr>
          <a:xfrm>
            <a:off x="1143001" y="200047"/>
            <a:ext cx="9905998" cy="774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 all use Internet provided by local ISP </a:t>
            </a:r>
            <a:endParaRPr lang="en-IN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5E03B204-BD3F-4A77-9DF6-BEE52D64F3FB}"/>
              </a:ext>
            </a:extLst>
          </p:cNvPr>
          <p:cNvSpPr/>
          <p:nvPr/>
        </p:nvSpPr>
        <p:spPr>
          <a:xfrm>
            <a:off x="2407505" y="1202789"/>
            <a:ext cx="2642796" cy="1871003"/>
          </a:xfrm>
          <a:prstGeom prst="cloud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Farm Network (ISP-1)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wifi</a:t>
            </a:r>
            <a:r>
              <a:rPr lang="en-US" dirty="0"/>
              <a:t> at Farm)</a:t>
            </a:r>
            <a:endParaRPr lang="en-IN" dirty="0"/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C865DE76-86E6-4FDC-B031-7C4784118731}"/>
              </a:ext>
            </a:extLst>
          </p:cNvPr>
          <p:cNvSpPr/>
          <p:nvPr/>
        </p:nvSpPr>
        <p:spPr>
          <a:xfrm>
            <a:off x="9157653" y="1392702"/>
            <a:ext cx="2642796" cy="1871003"/>
          </a:xfrm>
          <a:prstGeom prst="cloud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 network (ISP-2)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Wifi</a:t>
            </a:r>
            <a:r>
              <a:rPr lang="en-US" dirty="0"/>
              <a:t> at home)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E9907D-9251-47B1-A458-307A9C46379C}"/>
              </a:ext>
            </a:extLst>
          </p:cNvPr>
          <p:cNvSpPr/>
          <p:nvPr/>
        </p:nvSpPr>
        <p:spPr>
          <a:xfrm>
            <a:off x="872196" y="2883878"/>
            <a:ext cx="1702191" cy="371223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2" descr="Agricultural Pump - Agriculture Pump Latest Price, Manufacturers ...">
            <a:extLst>
              <a:ext uri="{FF2B5EF4-FFF2-40B4-BE49-F238E27FC236}">
                <a16:creationId xmlns:a16="http://schemas.microsoft.com/office/drawing/2014/main" id="{80CE8266-7B4D-496E-8BAC-83392F203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199" y="3263705"/>
            <a:ext cx="774184" cy="77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Electromagnetic Relay |HUIMULTD">
            <a:extLst>
              <a:ext uri="{FF2B5EF4-FFF2-40B4-BE49-F238E27FC236}">
                <a16:creationId xmlns:a16="http://schemas.microsoft.com/office/drawing/2014/main" id="{65FEEE45-F120-4FDD-AF2C-208A547C6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199" y="4100648"/>
            <a:ext cx="845455" cy="84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entiot ESP-WROOM-32 ESP32 ESP-32S Development Board Micro Controller Board Electronic Hobby Kit">
            <a:extLst>
              <a:ext uri="{FF2B5EF4-FFF2-40B4-BE49-F238E27FC236}">
                <a16:creationId xmlns:a16="http://schemas.microsoft.com/office/drawing/2014/main" id="{B87B19ED-C72F-437D-BE9A-AEF276353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985" y="5223318"/>
            <a:ext cx="1003882" cy="54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1F38932-F06C-4EC6-BB25-BBB805EDD5CD}"/>
              </a:ext>
            </a:extLst>
          </p:cNvPr>
          <p:cNvSpPr/>
          <p:nvPr/>
        </p:nvSpPr>
        <p:spPr>
          <a:xfrm>
            <a:off x="8278905" y="4038028"/>
            <a:ext cx="3521544" cy="181615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AD6D90-27D9-49C1-9DEF-0A44492A1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7400" y="4443537"/>
            <a:ext cx="1005122" cy="123521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9C5473-7A95-43A5-8CC3-5BA73AE5BB16}"/>
              </a:ext>
            </a:extLst>
          </p:cNvPr>
          <p:cNvCxnSpPr>
            <a:cxnSpLocks/>
          </p:cNvCxnSpPr>
          <p:nvPr/>
        </p:nvCxnSpPr>
        <p:spPr>
          <a:xfrm flipH="1" flipV="1">
            <a:off x="4759799" y="2611725"/>
            <a:ext cx="1174957" cy="924134"/>
          </a:xfrm>
          <a:prstGeom prst="straightConnector1">
            <a:avLst/>
          </a:prstGeom>
          <a:ln w="730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EF9384-1CB5-43E3-980E-3A7A4D1710C6}"/>
              </a:ext>
            </a:extLst>
          </p:cNvPr>
          <p:cNvCxnSpPr>
            <a:cxnSpLocks/>
          </p:cNvCxnSpPr>
          <p:nvPr/>
        </p:nvCxnSpPr>
        <p:spPr>
          <a:xfrm flipH="1">
            <a:off x="7610622" y="2883422"/>
            <a:ext cx="1576792" cy="1217226"/>
          </a:xfrm>
          <a:prstGeom prst="straightConnector1">
            <a:avLst/>
          </a:prstGeom>
          <a:ln w="730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4ED412-6416-402B-B32E-3C217293E230}"/>
              </a:ext>
            </a:extLst>
          </p:cNvPr>
          <p:cNvCxnSpPr>
            <a:cxnSpLocks/>
          </p:cNvCxnSpPr>
          <p:nvPr/>
        </p:nvCxnSpPr>
        <p:spPr>
          <a:xfrm flipH="1">
            <a:off x="2698519" y="3073792"/>
            <a:ext cx="527266" cy="995705"/>
          </a:xfrm>
          <a:prstGeom prst="straightConnector1">
            <a:avLst/>
          </a:prstGeom>
          <a:ln w="730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loud 13">
            <a:extLst>
              <a:ext uri="{FF2B5EF4-FFF2-40B4-BE49-F238E27FC236}">
                <a16:creationId xmlns:a16="http://schemas.microsoft.com/office/drawing/2014/main" id="{EAA7DCE3-616B-4C31-9428-E854F624E2D9}"/>
              </a:ext>
            </a:extLst>
          </p:cNvPr>
          <p:cNvSpPr/>
          <p:nvPr/>
        </p:nvSpPr>
        <p:spPr>
          <a:xfrm>
            <a:off x="5347277" y="3681516"/>
            <a:ext cx="2245802" cy="2146731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Public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</a:rPr>
              <a:t>Internet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758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6389-C260-4632-8A83-8DAC0354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0709"/>
            <a:ext cx="9905998" cy="892230"/>
          </a:xfrm>
        </p:spPr>
        <p:txBody>
          <a:bodyPr/>
          <a:lstStyle/>
          <a:p>
            <a:pPr algn="ctr"/>
            <a:r>
              <a:rPr lang="en-US" dirty="0"/>
              <a:t>Instantaneous  data is not enough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AE1DE-8D36-4EC5-B9E4-24F7F7EC0C02}"/>
              </a:ext>
            </a:extLst>
          </p:cNvPr>
          <p:cNvSpPr txBox="1"/>
          <p:nvPr/>
        </p:nvSpPr>
        <p:spPr>
          <a:xfrm>
            <a:off x="642730" y="1417983"/>
            <a:ext cx="1090654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3600" dirty="0"/>
              <a:t>Instantaneous data is not always sufficient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B0F0"/>
                </a:solidFill>
              </a:rPr>
              <a:t>What was the max and min temperature for the last 10 days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B0F0"/>
                </a:solidFill>
              </a:rPr>
              <a:t>Is the mean temperature changing ?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B0F0"/>
                </a:solidFill>
              </a:rPr>
              <a:t>Is humidity dropping compared to last 10 days ?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B0F0"/>
                </a:solidFill>
              </a:rPr>
              <a:t>What the pattern on rail fall during the last 10 days ?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B0F0"/>
                </a:solidFill>
              </a:rPr>
              <a:t>How is soil retaining moisture in the last one month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B0F0"/>
                </a:solidFill>
              </a:rPr>
              <a:t>Water levels in local well/ponds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B0F0"/>
                </a:solidFill>
              </a:rPr>
              <a:t>Has the pH level of soil changed after the use of fertilizers.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/>
              <a:t>We need access to historic data to make decisions  </a:t>
            </a:r>
          </a:p>
          <a:p>
            <a:r>
              <a:rPr lang="en-US" sz="3200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924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57EFBA-38AA-4292-A8A7-9744AF998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36" y="275544"/>
            <a:ext cx="3179758" cy="34397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7A86BC-79D7-4052-9F5D-3BEF91A7DCEC}"/>
              </a:ext>
            </a:extLst>
          </p:cNvPr>
          <p:cNvSpPr txBox="1"/>
          <p:nvPr/>
        </p:nvSpPr>
        <p:spPr>
          <a:xfrm>
            <a:off x="4015408" y="2939612"/>
            <a:ext cx="7447722" cy="1938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need to store data with time stamps  in a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need to have multiple database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Different types of data need to be stored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need to be retrieved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Presented to the farmer in a usable way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C74E13-E031-46C1-A341-E35BBDBEFFE8}"/>
              </a:ext>
            </a:extLst>
          </p:cNvPr>
          <p:cNvSpPr/>
          <p:nvPr/>
        </p:nvSpPr>
        <p:spPr>
          <a:xfrm>
            <a:off x="2311807" y="5426765"/>
            <a:ext cx="80454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Affordable and Deployable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5D34E2-E7CC-4589-A9CA-FFEA4C094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295" y="550226"/>
            <a:ext cx="1857375" cy="1257300"/>
          </a:xfrm>
          <a:prstGeom prst="rect">
            <a:avLst/>
          </a:prstGeom>
        </p:spPr>
      </p:pic>
      <p:pic>
        <p:nvPicPr>
          <p:cNvPr id="3078" name="Picture 6" descr="Download Centralized Database - Centralized Database Icon - Full ...">
            <a:extLst>
              <a:ext uri="{FF2B5EF4-FFF2-40B4-BE49-F238E27FC236}">
                <a16:creationId xmlns:a16="http://schemas.microsoft.com/office/drawing/2014/main" id="{13B35D4F-4E25-44E5-A6FC-87D87D51D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716" y="437390"/>
            <a:ext cx="2220567" cy="190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351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at is the relationship between temperature and humidity ...">
            <a:extLst>
              <a:ext uri="{FF2B5EF4-FFF2-40B4-BE49-F238E27FC236}">
                <a16:creationId xmlns:a16="http://schemas.microsoft.com/office/drawing/2014/main" id="{2C7E7A38-FBBC-40A4-BBBC-93EF6A445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85" y="227812"/>
            <a:ext cx="10626429" cy="640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472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Soil Moisture Analysis">
            <a:extLst>
              <a:ext uri="{FF2B5EF4-FFF2-40B4-BE49-F238E27FC236}">
                <a16:creationId xmlns:a16="http://schemas.microsoft.com/office/drawing/2014/main" id="{61DCAE8C-BBFF-4E8A-A7BF-49F67D183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880" y="361049"/>
            <a:ext cx="9696239" cy="613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286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992EB9-AA60-4618-8695-EC46514D0E7C}"/>
              </a:ext>
            </a:extLst>
          </p:cNvPr>
          <p:cNvSpPr/>
          <p:nvPr/>
        </p:nvSpPr>
        <p:spPr>
          <a:xfrm>
            <a:off x="1353169" y="1509596"/>
            <a:ext cx="977722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Presenting the data to farmer is a</a:t>
            </a:r>
          </a:p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Very critical aspect.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BE2CA3-3B14-41E5-B1A2-6BCB82E3951B}"/>
              </a:ext>
            </a:extLst>
          </p:cNvPr>
          <p:cNvSpPr/>
          <p:nvPr/>
        </p:nvSpPr>
        <p:spPr>
          <a:xfrm>
            <a:off x="2820814" y="4358813"/>
            <a:ext cx="684193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Design Thinking comes</a:t>
            </a:r>
          </a:p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into picture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734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102131-610F-478C-AECC-3E1CD36A5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905" y="405020"/>
            <a:ext cx="3924300" cy="5676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168814-2FDE-4578-8E55-B7A14E7CD20D}"/>
              </a:ext>
            </a:extLst>
          </p:cNvPr>
          <p:cNvSpPr/>
          <p:nvPr/>
        </p:nvSpPr>
        <p:spPr>
          <a:xfrm>
            <a:off x="6770087" y="1717582"/>
            <a:ext cx="450574" cy="445680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28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881469-F2C7-49B3-A8AC-88C4C472DCED}"/>
              </a:ext>
            </a:extLst>
          </p:cNvPr>
          <p:cNvGrpSpPr/>
          <p:nvPr/>
        </p:nvGrpSpPr>
        <p:grpSpPr>
          <a:xfrm>
            <a:off x="5711066" y="1466914"/>
            <a:ext cx="1083218" cy="4735611"/>
            <a:chOff x="3713455" y="1466915"/>
            <a:chExt cx="1083218" cy="467801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8748DA5-2E30-4977-9B03-7EAF4DCF3084}"/>
                </a:ext>
              </a:extLst>
            </p:cNvPr>
            <p:cNvSpPr/>
            <p:nvPr/>
          </p:nvSpPr>
          <p:spPr>
            <a:xfrm>
              <a:off x="3713455" y="1466915"/>
              <a:ext cx="1031640" cy="467801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B7B9B78-01E0-4778-B61F-F64D25DDBC24}"/>
                </a:ext>
              </a:extLst>
            </p:cNvPr>
            <p:cNvCxnSpPr/>
            <p:nvPr/>
          </p:nvCxnSpPr>
          <p:spPr>
            <a:xfrm>
              <a:off x="4065563" y="1758462"/>
              <a:ext cx="6654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FC2A1E-FA57-466D-80A4-F4ADB3A17A13}"/>
                </a:ext>
              </a:extLst>
            </p:cNvPr>
            <p:cNvCxnSpPr>
              <a:cxnSpLocks/>
            </p:cNvCxnSpPr>
            <p:nvPr/>
          </p:nvCxnSpPr>
          <p:spPr>
            <a:xfrm>
              <a:off x="4445391" y="2037470"/>
              <a:ext cx="2973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820829E-A379-452D-B935-644C29DAADEB}"/>
                </a:ext>
              </a:extLst>
            </p:cNvPr>
            <p:cNvCxnSpPr>
              <a:cxnSpLocks/>
            </p:cNvCxnSpPr>
            <p:nvPr/>
          </p:nvCxnSpPr>
          <p:spPr>
            <a:xfrm>
              <a:off x="4443046" y="2316480"/>
              <a:ext cx="2973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0986488-7AAA-4993-BA08-743E65C4AAAA}"/>
                </a:ext>
              </a:extLst>
            </p:cNvPr>
            <p:cNvCxnSpPr/>
            <p:nvPr/>
          </p:nvCxnSpPr>
          <p:spPr>
            <a:xfrm>
              <a:off x="4077284" y="2586108"/>
              <a:ext cx="6654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522E8E-4898-4894-A19B-1D055E3290CC}"/>
                </a:ext>
              </a:extLst>
            </p:cNvPr>
            <p:cNvCxnSpPr/>
            <p:nvPr/>
          </p:nvCxnSpPr>
          <p:spPr>
            <a:xfrm>
              <a:off x="4119487" y="2586105"/>
              <a:ext cx="6654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3C3C878-562E-4C08-8A18-DD8DB90392ED}"/>
                </a:ext>
              </a:extLst>
            </p:cNvPr>
            <p:cNvCxnSpPr>
              <a:cxnSpLocks/>
            </p:cNvCxnSpPr>
            <p:nvPr/>
          </p:nvCxnSpPr>
          <p:spPr>
            <a:xfrm>
              <a:off x="4499315" y="2865113"/>
              <a:ext cx="2973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A3E42C7-83E9-4E71-B1DB-A491A8E916F8}"/>
                </a:ext>
              </a:extLst>
            </p:cNvPr>
            <p:cNvCxnSpPr>
              <a:cxnSpLocks/>
            </p:cNvCxnSpPr>
            <p:nvPr/>
          </p:nvCxnSpPr>
          <p:spPr>
            <a:xfrm>
              <a:off x="4496970" y="3144123"/>
              <a:ext cx="2973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7F059D-CAD5-4A1F-9AA1-1CB0DEC18C67}"/>
                </a:ext>
              </a:extLst>
            </p:cNvPr>
            <p:cNvCxnSpPr/>
            <p:nvPr/>
          </p:nvCxnSpPr>
          <p:spPr>
            <a:xfrm>
              <a:off x="4131208" y="3413751"/>
              <a:ext cx="6654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DAA45F4-6A53-4D2A-880E-07DD278C59CF}"/>
                </a:ext>
              </a:extLst>
            </p:cNvPr>
            <p:cNvCxnSpPr/>
            <p:nvPr/>
          </p:nvCxnSpPr>
          <p:spPr>
            <a:xfrm>
              <a:off x="4077283" y="3416104"/>
              <a:ext cx="6654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56B51F3-FE2C-415A-BDFA-3C26214CD0FA}"/>
                </a:ext>
              </a:extLst>
            </p:cNvPr>
            <p:cNvCxnSpPr>
              <a:cxnSpLocks/>
            </p:cNvCxnSpPr>
            <p:nvPr/>
          </p:nvCxnSpPr>
          <p:spPr>
            <a:xfrm>
              <a:off x="4457111" y="3695112"/>
              <a:ext cx="2973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05856D-2B97-4B5E-A80F-77523A7EE709}"/>
                </a:ext>
              </a:extLst>
            </p:cNvPr>
            <p:cNvCxnSpPr>
              <a:cxnSpLocks/>
            </p:cNvCxnSpPr>
            <p:nvPr/>
          </p:nvCxnSpPr>
          <p:spPr>
            <a:xfrm>
              <a:off x="4454766" y="3974122"/>
              <a:ext cx="2973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C5B9A27-F33A-4FE2-9705-F6D0DAAD8284}"/>
                </a:ext>
              </a:extLst>
            </p:cNvPr>
            <p:cNvCxnSpPr/>
            <p:nvPr/>
          </p:nvCxnSpPr>
          <p:spPr>
            <a:xfrm>
              <a:off x="4089004" y="4243750"/>
              <a:ext cx="6654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F20163A-E240-43B4-A6A9-73B16FB6A7D9}"/>
                </a:ext>
              </a:extLst>
            </p:cNvPr>
            <p:cNvCxnSpPr/>
            <p:nvPr/>
          </p:nvCxnSpPr>
          <p:spPr>
            <a:xfrm>
              <a:off x="4089006" y="4243749"/>
              <a:ext cx="6654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25904BD-6E08-4BB7-8225-DECCCF85144E}"/>
                </a:ext>
              </a:extLst>
            </p:cNvPr>
            <p:cNvCxnSpPr>
              <a:cxnSpLocks/>
            </p:cNvCxnSpPr>
            <p:nvPr/>
          </p:nvCxnSpPr>
          <p:spPr>
            <a:xfrm>
              <a:off x="4468834" y="4522757"/>
              <a:ext cx="2973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011CE66-BFB4-49A0-AE2B-6382A93DC325}"/>
                </a:ext>
              </a:extLst>
            </p:cNvPr>
            <p:cNvCxnSpPr>
              <a:cxnSpLocks/>
            </p:cNvCxnSpPr>
            <p:nvPr/>
          </p:nvCxnSpPr>
          <p:spPr>
            <a:xfrm>
              <a:off x="4466489" y="4801767"/>
              <a:ext cx="29735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4FBB222-124F-4331-9AA0-0045D336F0F0}"/>
                </a:ext>
              </a:extLst>
            </p:cNvPr>
            <p:cNvCxnSpPr/>
            <p:nvPr/>
          </p:nvCxnSpPr>
          <p:spPr>
            <a:xfrm>
              <a:off x="4100727" y="5071395"/>
              <a:ext cx="6654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C0B7A3-1DA2-4F77-9741-D0162BDBABF4}"/>
                </a:ext>
              </a:extLst>
            </p:cNvPr>
            <p:cNvSpPr txBox="1"/>
            <p:nvPr/>
          </p:nvSpPr>
          <p:spPr>
            <a:xfrm>
              <a:off x="3713455" y="1589651"/>
              <a:ext cx="3122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0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6DA91FC-648C-449A-AC6A-7FD543DC9CFA}"/>
                </a:ext>
              </a:extLst>
            </p:cNvPr>
            <p:cNvSpPr txBox="1"/>
            <p:nvPr/>
          </p:nvSpPr>
          <p:spPr>
            <a:xfrm>
              <a:off x="3807242" y="2408479"/>
              <a:ext cx="3122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3431BB5-E087-4035-9F74-6121B4DB83C9}"/>
                </a:ext>
              </a:extLst>
            </p:cNvPr>
            <p:cNvSpPr txBox="1"/>
            <p:nvPr/>
          </p:nvSpPr>
          <p:spPr>
            <a:xfrm>
              <a:off x="3819941" y="3229089"/>
              <a:ext cx="3122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43D0687-B94C-4578-B788-03F36985787B}"/>
                </a:ext>
              </a:extLst>
            </p:cNvPr>
            <p:cNvSpPr txBox="1"/>
            <p:nvPr/>
          </p:nvSpPr>
          <p:spPr>
            <a:xfrm>
              <a:off x="3803504" y="4063767"/>
              <a:ext cx="3122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719830A-8E26-4F7D-A9D4-DF18D8113468}"/>
                </a:ext>
              </a:extLst>
            </p:cNvPr>
            <p:cNvSpPr txBox="1"/>
            <p:nvPr/>
          </p:nvSpPr>
          <p:spPr>
            <a:xfrm>
              <a:off x="3798261" y="4884949"/>
              <a:ext cx="3122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4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0034F4B-B040-4CC8-8BEC-787B6098CB04}"/>
                </a:ext>
              </a:extLst>
            </p:cNvPr>
            <p:cNvSpPr/>
            <p:nvPr/>
          </p:nvSpPr>
          <p:spPr>
            <a:xfrm>
              <a:off x="3976067" y="5458265"/>
              <a:ext cx="450574" cy="440773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5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028" name="Picture 4" descr="Top View Background Of Fields With Various Types Of Agriculture ...">
            <a:extLst>
              <a:ext uri="{FF2B5EF4-FFF2-40B4-BE49-F238E27FC236}">
                <a16:creationId xmlns:a16="http://schemas.microsoft.com/office/drawing/2014/main" id="{E4C38347-B2D7-4EB3-89C9-4955DE520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93" y="4454009"/>
            <a:ext cx="3475431" cy="210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5A5142C-65A6-45D7-B1BD-717BA1E1E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37" y="958115"/>
            <a:ext cx="1688123" cy="126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469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D933F7-5A51-4D15-A500-7B61F4C4DF8D}"/>
              </a:ext>
            </a:extLst>
          </p:cNvPr>
          <p:cNvSpPr/>
          <p:nvPr/>
        </p:nvSpPr>
        <p:spPr>
          <a:xfrm>
            <a:off x="975887" y="2967335"/>
            <a:ext cx="1024023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Necessity it he mother of Invention</a:t>
            </a:r>
          </a:p>
          <a:p>
            <a:pPr algn="ctr"/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2023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838685-3CEF-48DE-B655-7AC42615EEF8}"/>
              </a:ext>
            </a:extLst>
          </p:cNvPr>
          <p:cNvSpPr/>
          <p:nvPr/>
        </p:nvSpPr>
        <p:spPr>
          <a:xfrm>
            <a:off x="418967" y="2397492"/>
            <a:ext cx="1135407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This is what leads us to the need of an</a:t>
            </a:r>
          </a:p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IoT platform</a:t>
            </a:r>
          </a:p>
        </p:txBody>
      </p:sp>
    </p:spTree>
    <p:extLst>
      <p:ext uri="{BB962C8B-B14F-4D97-AF65-F5344CB8AC3E}">
        <p14:creationId xmlns:p14="http://schemas.microsoft.com/office/powerpoint/2010/main" val="1582394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7E3A17C-9D5E-4118-8024-2833EF86C17E}"/>
              </a:ext>
            </a:extLst>
          </p:cNvPr>
          <p:cNvSpPr/>
          <p:nvPr/>
        </p:nvSpPr>
        <p:spPr>
          <a:xfrm>
            <a:off x="463825" y="4903305"/>
            <a:ext cx="3154018" cy="1789044"/>
          </a:xfrm>
          <a:prstGeom prst="ellipse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Collect Data</a:t>
            </a:r>
            <a:endParaRPr lang="en-IN" sz="32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F32259E-C564-441D-8469-6E69C1C84B33}"/>
              </a:ext>
            </a:extLst>
          </p:cNvPr>
          <p:cNvSpPr/>
          <p:nvPr/>
        </p:nvSpPr>
        <p:spPr>
          <a:xfrm>
            <a:off x="3843130" y="3114261"/>
            <a:ext cx="3154018" cy="1789044"/>
          </a:xfrm>
          <a:prstGeom prst="ellipse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Store Data</a:t>
            </a:r>
            <a:endParaRPr lang="en-IN" sz="32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5E94C2-8B74-4462-94D6-C356D6E036F9}"/>
              </a:ext>
            </a:extLst>
          </p:cNvPr>
          <p:cNvSpPr/>
          <p:nvPr/>
        </p:nvSpPr>
        <p:spPr>
          <a:xfrm>
            <a:off x="6612835" y="927591"/>
            <a:ext cx="4075045" cy="1789044"/>
          </a:xfrm>
          <a:prstGeom prst="ellipse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Present the information</a:t>
            </a:r>
            <a:endParaRPr lang="en-IN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A52ED8-CFEB-4E95-BCA9-6F7A9A771997}"/>
              </a:ext>
            </a:extLst>
          </p:cNvPr>
          <p:cNvSpPr/>
          <p:nvPr/>
        </p:nvSpPr>
        <p:spPr>
          <a:xfrm>
            <a:off x="3617843" y="6029743"/>
            <a:ext cx="132921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Sensors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1A0717-E610-4395-BB5B-76E975A7D1C4}"/>
              </a:ext>
            </a:extLst>
          </p:cNvPr>
          <p:cNvSpPr/>
          <p:nvPr/>
        </p:nvSpPr>
        <p:spPr>
          <a:xfrm>
            <a:off x="6421605" y="4641695"/>
            <a:ext cx="184614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Data bases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AACD05-4C36-4DDA-A111-9E77CED433DD}"/>
              </a:ext>
            </a:extLst>
          </p:cNvPr>
          <p:cNvSpPr/>
          <p:nvPr/>
        </p:nvSpPr>
        <p:spPr>
          <a:xfrm>
            <a:off x="4493283" y="182099"/>
            <a:ext cx="485466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Visualization or other front end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B15FB3AD-AF08-46D3-9813-7919A01CE03C}"/>
              </a:ext>
            </a:extLst>
          </p:cNvPr>
          <p:cNvCxnSpPr>
            <a:cxnSpLocks/>
            <a:stCxn id="2" idx="6"/>
            <a:endCxn id="3" idx="4"/>
          </p:cNvCxnSpPr>
          <p:nvPr/>
        </p:nvCxnSpPr>
        <p:spPr>
          <a:xfrm flipV="1">
            <a:off x="3617843" y="4903305"/>
            <a:ext cx="1802296" cy="894522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836968D-FA5B-417B-9859-851E17D4AD7D}"/>
              </a:ext>
            </a:extLst>
          </p:cNvPr>
          <p:cNvCxnSpPr>
            <a:cxnSpLocks/>
            <a:stCxn id="3" idx="6"/>
            <a:endCxn id="4" idx="4"/>
          </p:cNvCxnSpPr>
          <p:nvPr/>
        </p:nvCxnSpPr>
        <p:spPr>
          <a:xfrm flipV="1">
            <a:off x="6997148" y="2716635"/>
            <a:ext cx="1653210" cy="1292148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5C7D6EE-5E18-4A47-91FF-E10D69DD4E6B}"/>
              </a:ext>
            </a:extLst>
          </p:cNvPr>
          <p:cNvSpPr txBox="1"/>
          <p:nvPr/>
        </p:nvSpPr>
        <p:spPr>
          <a:xfrm>
            <a:off x="9568070" y="5930409"/>
            <a:ext cx="1631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Level -1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417000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4172387-8734-49B7-A973-10FD6E982107}"/>
              </a:ext>
            </a:extLst>
          </p:cNvPr>
          <p:cNvSpPr/>
          <p:nvPr/>
        </p:nvSpPr>
        <p:spPr>
          <a:xfrm>
            <a:off x="463825" y="4903305"/>
            <a:ext cx="3154018" cy="1789044"/>
          </a:xfrm>
          <a:prstGeom prst="ellipse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Collect Data</a:t>
            </a:r>
            <a:endParaRPr lang="en-IN" sz="32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0C9402-ADF2-4889-9829-464E1DC71387}"/>
              </a:ext>
            </a:extLst>
          </p:cNvPr>
          <p:cNvSpPr/>
          <p:nvPr/>
        </p:nvSpPr>
        <p:spPr>
          <a:xfrm>
            <a:off x="3458817" y="3578088"/>
            <a:ext cx="3154018" cy="1789044"/>
          </a:xfrm>
          <a:prstGeom prst="ellipse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Store Data</a:t>
            </a:r>
            <a:endParaRPr lang="en-IN" sz="32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080313-BC37-4C43-86AC-68BACF7382F3}"/>
              </a:ext>
            </a:extLst>
          </p:cNvPr>
          <p:cNvSpPr/>
          <p:nvPr/>
        </p:nvSpPr>
        <p:spPr>
          <a:xfrm>
            <a:off x="8116955" y="583095"/>
            <a:ext cx="4075045" cy="1789044"/>
          </a:xfrm>
          <a:prstGeom prst="ellipse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Present the information</a:t>
            </a:r>
            <a:endParaRPr lang="en-IN" sz="28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DB5FB1-6C0F-44EB-82A1-FEC813CCE1AA}"/>
              </a:ext>
            </a:extLst>
          </p:cNvPr>
          <p:cNvSpPr/>
          <p:nvPr/>
        </p:nvSpPr>
        <p:spPr>
          <a:xfrm>
            <a:off x="6251712" y="2226367"/>
            <a:ext cx="3154018" cy="1789044"/>
          </a:xfrm>
          <a:prstGeom prst="ellipse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Analyze data</a:t>
            </a:r>
            <a:endParaRPr lang="en-IN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B9906E-3053-4AD8-AF5F-E7A1DCA7B17A}"/>
              </a:ext>
            </a:extLst>
          </p:cNvPr>
          <p:cNvSpPr/>
          <p:nvPr/>
        </p:nvSpPr>
        <p:spPr>
          <a:xfrm>
            <a:off x="3617843" y="6029743"/>
            <a:ext cx="132921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Sensors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7B247A-C78C-43E2-B1EF-C5F178B1BFE0}"/>
              </a:ext>
            </a:extLst>
          </p:cNvPr>
          <p:cNvSpPr/>
          <p:nvPr/>
        </p:nvSpPr>
        <p:spPr>
          <a:xfrm>
            <a:off x="6421605" y="4641695"/>
            <a:ext cx="184614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Data bases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F57BAB-B3B5-4820-8F85-E7832097B4F1}"/>
              </a:ext>
            </a:extLst>
          </p:cNvPr>
          <p:cNvSpPr/>
          <p:nvPr/>
        </p:nvSpPr>
        <p:spPr>
          <a:xfrm>
            <a:off x="9538764" y="3316478"/>
            <a:ext cx="12314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Python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C76919-7847-471B-9D4B-D8B8532F4C7E}"/>
              </a:ext>
            </a:extLst>
          </p:cNvPr>
          <p:cNvSpPr/>
          <p:nvPr/>
        </p:nvSpPr>
        <p:spPr>
          <a:xfrm>
            <a:off x="4493283" y="182099"/>
            <a:ext cx="485466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Visualization or other front end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703AE68F-A66B-4193-85D4-9D2559BEE746}"/>
              </a:ext>
            </a:extLst>
          </p:cNvPr>
          <p:cNvCxnSpPr>
            <a:cxnSpLocks/>
            <a:endCxn id="4" idx="4"/>
          </p:cNvCxnSpPr>
          <p:nvPr/>
        </p:nvCxnSpPr>
        <p:spPr>
          <a:xfrm flipV="1">
            <a:off x="3617843" y="5367132"/>
            <a:ext cx="1417983" cy="543218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3CB8398-D87B-4289-863E-8CE4238949DE}"/>
              </a:ext>
            </a:extLst>
          </p:cNvPr>
          <p:cNvCxnSpPr>
            <a:cxnSpLocks/>
          </p:cNvCxnSpPr>
          <p:nvPr/>
        </p:nvCxnSpPr>
        <p:spPr>
          <a:xfrm flipV="1">
            <a:off x="6612835" y="3978964"/>
            <a:ext cx="1417983" cy="543218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28B5C0B9-8772-4375-9EE6-57D8D0C725DC}"/>
              </a:ext>
            </a:extLst>
          </p:cNvPr>
          <p:cNvCxnSpPr>
            <a:cxnSpLocks/>
          </p:cNvCxnSpPr>
          <p:nvPr/>
        </p:nvCxnSpPr>
        <p:spPr>
          <a:xfrm flipV="1">
            <a:off x="9380881" y="2353916"/>
            <a:ext cx="1417983" cy="543218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568F404-EE26-4C6A-9C15-9F87A5887671}"/>
              </a:ext>
            </a:extLst>
          </p:cNvPr>
          <p:cNvSpPr txBox="1"/>
          <p:nvPr/>
        </p:nvSpPr>
        <p:spPr>
          <a:xfrm>
            <a:off x="9787037" y="6029743"/>
            <a:ext cx="1631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Level -2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367383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F2D95F84-BA44-47F7-AF8D-6B51B46FEF22}"/>
              </a:ext>
            </a:extLst>
          </p:cNvPr>
          <p:cNvSpPr/>
          <p:nvPr/>
        </p:nvSpPr>
        <p:spPr>
          <a:xfrm>
            <a:off x="781878" y="4492488"/>
            <a:ext cx="3154018" cy="1789044"/>
          </a:xfrm>
          <a:prstGeom prst="ellipse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Collect Data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6C3E428-0A07-4D09-91A2-2879AFEDF18E}"/>
              </a:ext>
            </a:extLst>
          </p:cNvPr>
          <p:cNvSpPr/>
          <p:nvPr/>
        </p:nvSpPr>
        <p:spPr>
          <a:xfrm>
            <a:off x="4412974" y="2173356"/>
            <a:ext cx="3154018" cy="1789044"/>
          </a:xfrm>
          <a:prstGeom prst="ellipse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Analyze data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17FE63-49A9-4DCD-BBD9-4823B0C1FB79}"/>
              </a:ext>
            </a:extLst>
          </p:cNvPr>
          <p:cNvSpPr/>
          <p:nvPr/>
        </p:nvSpPr>
        <p:spPr>
          <a:xfrm>
            <a:off x="7673009" y="79514"/>
            <a:ext cx="3154018" cy="1789044"/>
          </a:xfrm>
          <a:prstGeom prst="ellipse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Optimize your operations</a:t>
            </a:r>
            <a:endParaRPr lang="en-IN" dirty="0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AAE6BFB-0029-4053-811D-80472DAB8136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3989870" y="3962400"/>
            <a:ext cx="2000113" cy="1424612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6B25D817-BC10-4532-873A-DB9F7E95162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7566992" y="1868558"/>
            <a:ext cx="1683026" cy="1060172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572FF544-2A22-43B6-AD2F-C3A34E1A9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506" y="3657602"/>
            <a:ext cx="1233354" cy="834886"/>
          </a:xfrm>
          <a:prstGeom prst="rect">
            <a:avLst/>
          </a:prstGeom>
        </p:spPr>
      </p:pic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349B0CBA-5A39-40F1-AA4F-4D6DD786F9E4}"/>
              </a:ext>
            </a:extLst>
          </p:cNvPr>
          <p:cNvCxnSpPr>
            <a:cxnSpLocks/>
            <a:stCxn id="5" idx="6"/>
            <a:endCxn id="18" idx="0"/>
          </p:cNvCxnSpPr>
          <p:nvPr/>
        </p:nvCxnSpPr>
        <p:spPr>
          <a:xfrm>
            <a:off x="7566992" y="3067878"/>
            <a:ext cx="1458191" cy="589724"/>
          </a:xfrm>
          <a:prstGeom prst="curvedConnector2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5EBC330-8879-4850-A736-3440985115FA}"/>
              </a:ext>
            </a:extLst>
          </p:cNvPr>
          <p:cNvSpPr txBox="1"/>
          <p:nvPr/>
        </p:nvSpPr>
        <p:spPr>
          <a:xfrm>
            <a:off x="8692561" y="467225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Metrices</a:t>
            </a:r>
            <a:endParaRPr lang="en-IN" dirty="0"/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700904DF-C0DA-4F50-8727-EF6370C8CDA1}"/>
              </a:ext>
            </a:extLst>
          </p:cNvPr>
          <p:cNvCxnSpPr>
            <a:cxnSpLocks/>
            <a:stCxn id="3" idx="2"/>
          </p:cNvCxnSpPr>
          <p:nvPr/>
        </p:nvCxnSpPr>
        <p:spPr>
          <a:xfrm rot="10800000" flipH="1">
            <a:off x="781878" y="974036"/>
            <a:ext cx="6838604" cy="4412974"/>
          </a:xfrm>
          <a:prstGeom prst="curvedConnector3">
            <a:avLst>
              <a:gd name="adj1" fmla="val -7994"/>
            </a:avLst>
          </a:prstGeom>
          <a:ln w="571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5E35F63-A387-42E0-B73A-4454A5F84EB2}"/>
              </a:ext>
            </a:extLst>
          </p:cNvPr>
          <p:cNvSpPr txBox="1"/>
          <p:nvPr/>
        </p:nvSpPr>
        <p:spPr>
          <a:xfrm>
            <a:off x="9787037" y="6029743"/>
            <a:ext cx="1631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Level -3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013097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7138</TotalTime>
  <Words>809</Words>
  <Application>Microsoft Office PowerPoint</Application>
  <PresentationFormat>Widescreen</PresentationFormat>
  <Paragraphs>117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Courier New</vt:lpstr>
      <vt:lpstr>Tw Cen MT</vt:lpstr>
      <vt:lpstr>Wingdings</vt:lpstr>
      <vt:lpstr>Circuit</vt:lpstr>
      <vt:lpstr>Dilemma of a modern day farmer </vt:lpstr>
      <vt:lpstr> Knowledgeable  and talented people  who understand the science of agriculture is getting into farming </vt:lpstr>
      <vt:lpstr>Modern Day Farmer</vt:lpstr>
      <vt:lpstr>Pumping water is a basic need and our solution will be not of much help to farmer. </vt:lpstr>
      <vt:lpstr>Basic problem with remote controlled pump</vt:lpstr>
      <vt:lpstr>How the solution should looks like ?</vt:lpstr>
      <vt:lpstr>IT cannot be  a DIY Solution or a prototype </vt:lpstr>
      <vt:lpstr>PowerPoint Presentation</vt:lpstr>
      <vt:lpstr>Is the pump pumping enough water  ?.</vt:lpstr>
      <vt:lpstr>PowerPoint Presentation</vt:lpstr>
      <vt:lpstr>How do we interface this  Sensor with ESP32</vt:lpstr>
      <vt:lpstr>PowerPoint Presentation</vt:lpstr>
      <vt:lpstr>There are few problems  with this approach</vt:lpstr>
      <vt:lpstr>PowerPoint Presentation</vt:lpstr>
      <vt:lpstr>Instantaneous  data is not enough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fundamentals</dc:title>
  <dc:creator>Girish Kumar</dc:creator>
  <cp:lastModifiedBy>Girish Kumar</cp:lastModifiedBy>
  <cp:revision>106</cp:revision>
  <dcterms:created xsi:type="dcterms:W3CDTF">2020-07-17T04:46:15Z</dcterms:created>
  <dcterms:modified xsi:type="dcterms:W3CDTF">2020-08-05T08:42:31Z</dcterms:modified>
</cp:coreProperties>
</file>