
<file path=[Content_Types].xml><?xml version="1.0" encoding="utf-8"?>
<Types xmlns="http://schemas.openxmlformats.org/package/2006/content-types">
  <Default Extension="gif" ContentType="image/gif"/>
  <Default Extension="jpeg" ContentType="image/jpeg"/>
  <Default Extension="png" ContentType="image/png"/>
  <Default Extension="rels" ContentType="application/vnd.openxmlformats-package.relationships+xml"/>
  <Default Extension="wdp" ContentType="image/vnd.ms-photo"/>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648" r:id="rId1"/>
  </p:sldMasterIdLst>
  <p:sldIdLst>
    <p:sldId id="260" r:id="rId2"/>
    <p:sldId id="261" r:id="rId3"/>
    <p:sldId id="268" r:id="rId4"/>
    <p:sldId id="273" r:id="rId5"/>
    <p:sldId id="269" r:id="rId6"/>
    <p:sldId id="270" r:id="rId7"/>
    <p:sldId id="271" r:id="rId8"/>
    <p:sldId id="272" r:id="rId9"/>
    <p:sldId id="274" r:id="rId10"/>
    <p:sldId id="275" r:id="rId11"/>
    <p:sldId id="276" r:id="rId12"/>
    <p:sldId id="277" r:id="rId13"/>
    <p:sldId id="278" r:id="rId14"/>
    <p:sldId id="279" r:id="rId15"/>
    <p:sldId id="280" r:id="rId16"/>
    <p:sldId id="284" r:id="rId17"/>
    <p:sldId id="262" r:id="rId18"/>
    <p:sldId id="281" r:id="rId19"/>
    <p:sldId id="282" r:id="rId20"/>
    <p:sldId id="263" r:id="rId21"/>
    <p:sldId id="283" r:id="rId22"/>
    <p:sldId id="285" r:id="rId23"/>
    <p:sldId id="286" r:id="rId24"/>
    <p:sldId id="288" r:id="rId25"/>
    <p:sldId id="287" r:id="rId26"/>
    <p:sldId id="264" r:id="rId27"/>
    <p:sldId id="265" r:id="rId28"/>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SorterView">
  <p:normalViewPr horzBarState="maximized">
    <p:restoredLeft sz="15000" autoAdjust="0"/>
    <p:restoredTop sz="94660"/>
  </p:normalViewPr>
  <p:slideViewPr>
    <p:cSldViewPr snapToGrid="0">
      <p:cViewPr varScale="1">
        <p:scale>
          <a:sx n="72" d="100"/>
          <a:sy n="72" d="100"/>
        </p:scale>
        <p:origin x="660" y="78"/>
      </p:cViewPr>
      <p:guideLst/>
    </p:cSldViewPr>
  </p:slideViewPr>
  <p:notesTextViewPr>
    <p:cViewPr>
      <p:scale>
        <a:sx n="1" d="1"/>
        <a:sy n="1" d="1"/>
      </p:scale>
      <p:origin x="0" y="0"/>
    </p:cViewPr>
  </p:notesTextViewPr>
  <p:sorterViewPr>
    <p:cViewPr>
      <p:scale>
        <a:sx n="100" d="100"/>
        <a:sy n="100" d="100"/>
      </p:scale>
      <p:origin x="0" y="-9414"/>
    </p:cViewPr>
  </p:sorter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viewProps" Target="viewProps.xml"/></Relationships>
</file>

<file path=ppt/slideLayouts/_rels/slideLayout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pic>
        <p:nvPicPr>
          <p:cNvPr id="66" name="Picture 2" descr="\\DROBO-FS\QuickDrops\JB\PPTX NG\Droplets\LightingOverlay.png"/>
          <p:cNvPicPr>
            <a:picLocks noChangeAspect="1" noChangeArrowheads="1"/>
          </p:cNvPicPr>
          <p:nvPr/>
        </p:nvPicPr>
        <p:blipFill>
          <a:blip r:embed="rId2">
            <a:alphaModFix amt="30000"/>
            <a:duotone>
              <a:prstClr val="black"/>
              <a:schemeClr val="tx2">
                <a:tint val="45000"/>
                <a:satMod val="400000"/>
              </a:schemeClr>
            </a:duotone>
            <a:extLst>
              <a:ext uri="{28A0092B-C50C-407E-A947-70E740481C1C}">
                <a14:useLocalDpi xmlns:a14="http://schemas.microsoft.com/office/drawing/2010/main" val="0"/>
              </a:ext>
            </a:extLst>
          </a:blip>
          <a:srcRect/>
          <a:stretch>
            <a:fillRect/>
          </a:stretch>
        </p:blipFill>
        <p:spPr bwMode="auto">
          <a:xfrm>
            <a:off x="0" y="-1"/>
            <a:ext cx="12192003" cy="6858001"/>
          </a:xfrm>
          <a:prstGeom prst="rect">
            <a:avLst/>
          </a:prstGeom>
          <a:noFill/>
          <a:extLst>
            <a:ext uri="{909E8E84-426E-40dd-AFC4-6F175D3DCCD1}">
              <a14:hiddenFill xmlns:a14="http://schemas.microsoft.com/office/drawing/2010/main" xmlns="">
                <a:solidFill>
                  <a:srgbClr val="FFFFFF"/>
                </a:solidFill>
              </a14:hiddenFill>
            </a:ext>
          </a:extLst>
        </p:spPr>
      </p:pic>
      <p:grpSp>
        <p:nvGrpSpPr>
          <p:cNvPr id="11" name="Group 10"/>
          <p:cNvGrpSpPr/>
          <p:nvPr/>
        </p:nvGrpSpPr>
        <p:grpSpPr>
          <a:xfrm>
            <a:off x="0" y="0"/>
            <a:ext cx="2305051" cy="6858001"/>
            <a:chOff x="0" y="0"/>
            <a:chExt cx="2305051" cy="6858001"/>
          </a:xfrm>
          <a:gradFill flip="none" rotWithShape="1">
            <a:gsLst>
              <a:gs pos="0">
                <a:schemeClr val="tx2"/>
              </a:gs>
              <a:gs pos="100000">
                <a:schemeClr val="tx2">
                  <a:lumMod val="75000"/>
                </a:schemeClr>
              </a:gs>
            </a:gsLst>
            <a:lin ang="5400000" scaled="0"/>
            <a:tileRect/>
          </a:gradFill>
        </p:grpSpPr>
        <p:sp>
          <p:nvSpPr>
            <p:cNvPr id="12" name="Rectangle 5"/>
            <p:cNvSpPr>
              <a:spLocks noChangeArrowheads="1"/>
            </p:cNvSpPr>
            <p:nvPr/>
          </p:nvSpPr>
          <p:spPr bwMode="auto">
            <a:xfrm>
              <a:off x="1209675" y="4763"/>
              <a:ext cx="23813" cy="2181225"/>
            </a:xfrm>
            <a:prstGeom prst="rect">
              <a:avLst/>
            </a:prstGeom>
            <a:grpFill/>
            <a:ln>
              <a:noFill/>
            </a:ln>
            <a:extLst>
              <a:ext uri="{91240B29-F687-4f45-9708-019B960494DF}">
                <a14:hiddenLine xmlns:a14="http://schemas.microsoft.com/office/drawing/2010/main" xmlns="" w="9525">
                  <a:solidFill>
                    <a:srgbClr val="000000"/>
                  </a:solidFill>
                  <a:miter lim="800000"/>
                  <a:headEnd/>
                  <a:tailEnd/>
                </a14:hiddenLine>
              </a:ext>
            </a:extLst>
          </p:spPr>
        </p:sp>
        <p:sp>
          <p:nvSpPr>
            <p:cNvPr id="13" name="Freeform 6"/>
            <p:cNvSpPr>
              <a:spLocks noEditPoints="1"/>
            </p:cNvSpPr>
            <p:nvPr/>
          </p:nvSpPr>
          <p:spPr bwMode="auto">
            <a:xfrm>
              <a:off x="1128713" y="217646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14" name="Freeform 7"/>
            <p:cNvSpPr>
              <a:spLocks noEditPoints="1"/>
            </p:cNvSpPr>
            <p:nvPr/>
          </p:nvSpPr>
          <p:spPr bwMode="auto">
            <a:xfrm>
              <a:off x="1123950" y="4021138"/>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15" name="Rectangle 8"/>
            <p:cNvSpPr>
              <a:spLocks noChangeArrowheads="1"/>
            </p:cNvSpPr>
            <p:nvPr/>
          </p:nvSpPr>
          <p:spPr bwMode="auto">
            <a:xfrm>
              <a:off x="414338" y="9525"/>
              <a:ext cx="28575" cy="4481513"/>
            </a:xfrm>
            <a:prstGeom prst="rect">
              <a:avLst/>
            </a:prstGeom>
            <a:grpFill/>
            <a:ln>
              <a:noFill/>
            </a:ln>
            <a:extLst>
              <a:ext uri="{91240B29-F687-4f45-9708-019B960494DF}">
                <a14:hiddenLine xmlns:a14="http://schemas.microsoft.com/office/drawing/2010/main" xmlns="" w="9525">
                  <a:solidFill>
                    <a:srgbClr val="000000"/>
                  </a:solidFill>
                  <a:miter lim="800000"/>
                  <a:headEnd/>
                  <a:tailEnd/>
                </a14:hiddenLine>
              </a:ext>
            </a:extLst>
          </p:spPr>
        </p:sp>
        <p:sp>
          <p:nvSpPr>
            <p:cNvPr id="16" name="Freeform 9"/>
            <p:cNvSpPr>
              <a:spLocks noEditPoints="1"/>
            </p:cNvSpPr>
            <p:nvPr/>
          </p:nvSpPr>
          <p:spPr bwMode="auto">
            <a:xfrm>
              <a:off x="333375" y="44815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17" name="Freeform 10"/>
            <p:cNvSpPr/>
            <p:nvPr/>
          </p:nvSpPr>
          <p:spPr bwMode="auto">
            <a:xfrm>
              <a:off x="190500" y="9525"/>
              <a:ext cx="152400" cy="908050"/>
            </a:xfrm>
            <a:custGeom>
              <a:avLst/>
              <a:gdLst/>
              <a:ahLst/>
              <a:cxnLst/>
              <a:rect l="0" t="0" r="r" b="b"/>
              <a:pathLst>
                <a:path w="96" h="572">
                  <a:moveTo>
                    <a:pt x="15" y="572"/>
                  </a:moveTo>
                  <a:lnTo>
                    <a:pt x="0" y="566"/>
                  </a:lnTo>
                  <a:lnTo>
                    <a:pt x="81" y="380"/>
                  </a:lnTo>
                  <a:lnTo>
                    <a:pt x="81" y="0"/>
                  </a:lnTo>
                  <a:lnTo>
                    <a:pt x="96" y="0"/>
                  </a:lnTo>
                  <a:lnTo>
                    <a:pt x="96" y="383"/>
                  </a:lnTo>
                  <a:lnTo>
                    <a:pt x="15" y="572"/>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18" name="Freeform 11"/>
            <p:cNvSpPr/>
            <p:nvPr/>
          </p:nvSpPr>
          <p:spPr bwMode="auto">
            <a:xfrm>
              <a:off x="1290638" y="14288"/>
              <a:ext cx="376238" cy="1801813"/>
            </a:xfrm>
            <a:custGeom>
              <a:avLst/>
              <a:gdLst/>
              <a:ahLst/>
              <a:cxnLst/>
              <a:rect l="0" t="0" r="r" b="b"/>
              <a:pathLst>
                <a:path w="237" h="1135">
                  <a:moveTo>
                    <a:pt x="222" y="1135"/>
                  </a:moveTo>
                  <a:lnTo>
                    <a:pt x="0" y="620"/>
                  </a:lnTo>
                  <a:lnTo>
                    <a:pt x="0" y="0"/>
                  </a:lnTo>
                  <a:lnTo>
                    <a:pt x="18" y="0"/>
                  </a:lnTo>
                  <a:lnTo>
                    <a:pt x="18" y="617"/>
                  </a:lnTo>
                  <a:lnTo>
                    <a:pt x="237" y="1129"/>
                  </a:lnTo>
                  <a:lnTo>
                    <a:pt x="222" y="1135"/>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19" name="Freeform 12"/>
            <p:cNvSpPr>
              <a:spLocks noEditPoints="1"/>
            </p:cNvSpPr>
            <p:nvPr/>
          </p:nvSpPr>
          <p:spPr bwMode="auto">
            <a:xfrm>
              <a:off x="1600200" y="1801813"/>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0" name="Freeform 13"/>
            <p:cNvSpPr/>
            <p:nvPr/>
          </p:nvSpPr>
          <p:spPr bwMode="auto">
            <a:xfrm>
              <a:off x="1381125" y="9525"/>
              <a:ext cx="371475" cy="1425575"/>
            </a:xfrm>
            <a:custGeom>
              <a:avLst/>
              <a:gdLst/>
              <a:ahLst/>
              <a:cxnLst/>
              <a:rect l="0" t="0" r="r" b="b"/>
              <a:pathLst>
                <a:path w="234" h="898">
                  <a:moveTo>
                    <a:pt x="219" y="898"/>
                  </a:moveTo>
                  <a:lnTo>
                    <a:pt x="0" y="383"/>
                  </a:lnTo>
                  <a:lnTo>
                    <a:pt x="0" y="0"/>
                  </a:lnTo>
                  <a:lnTo>
                    <a:pt x="15" y="0"/>
                  </a:lnTo>
                  <a:lnTo>
                    <a:pt x="15" y="380"/>
                  </a:lnTo>
                  <a:lnTo>
                    <a:pt x="234" y="892"/>
                  </a:lnTo>
                  <a:lnTo>
                    <a:pt x="219" y="898"/>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1" name="Freeform 14"/>
            <p:cNvSpPr/>
            <p:nvPr/>
          </p:nvSpPr>
          <p:spPr bwMode="auto">
            <a:xfrm>
              <a:off x="1643063" y="0"/>
              <a:ext cx="152400" cy="912813"/>
            </a:xfrm>
            <a:custGeom>
              <a:avLst/>
              <a:gdLst/>
              <a:ahLst/>
              <a:cxnLst/>
              <a:rect l="0" t="0" r="r" b="b"/>
              <a:pathLst>
                <a:path w="96" h="575">
                  <a:moveTo>
                    <a:pt x="96" y="575"/>
                  </a:moveTo>
                  <a:lnTo>
                    <a:pt x="78" y="575"/>
                  </a:lnTo>
                  <a:lnTo>
                    <a:pt x="78" y="192"/>
                  </a:lnTo>
                  <a:lnTo>
                    <a:pt x="0" y="6"/>
                  </a:lnTo>
                  <a:lnTo>
                    <a:pt x="15" y="0"/>
                  </a:lnTo>
                  <a:lnTo>
                    <a:pt x="96" y="189"/>
                  </a:lnTo>
                  <a:lnTo>
                    <a:pt x="96" y="575"/>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2" name="Freeform 15"/>
            <p:cNvSpPr>
              <a:spLocks noEditPoints="1"/>
            </p:cNvSpPr>
            <p:nvPr/>
          </p:nvSpPr>
          <p:spPr bwMode="auto">
            <a:xfrm>
              <a:off x="1685925" y="14208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3" name="Freeform 16"/>
            <p:cNvSpPr>
              <a:spLocks noEditPoints="1"/>
            </p:cNvSpPr>
            <p:nvPr/>
          </p:nvSpPr>
          <p:spPr bwMode="auto">
            <a:xfrm>
              <a:off x="1685925" y="9032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4" name="Freeform 17"/>
            <p:cNvSpPr/>
            <p:nvPr/>
          </p:nvSpPr>
          <p:spPr bwMode="auto">
            <a:xfrm>
              <a:off x="1743075" y="4763"/>
              <a:ext cx="419100" cy="522288"/>
            </a:xfrm>
            <a:custGeom>
              <a:avLst/>
              <a:gdLst/>
              <a:ahLst/>
              <a:cxnLst/>
              <a:rect l="0" t="0" r="r" b="b"/>
              <a:pathLst>
                <a:path w="264" h="329">
                  <a:moveTo>
                    <a:pt x="252" y="329"/>
                  </a:moveTo>
                  <a:lnTo>
                    <a:pt x="45" y="120"/>
                  </a:lnTo>
                  <a:lnTo>
                    <a:pt x="0" y="6"/>
                  </a:lnTo>
                  <a:lnTo>
                    <a:pt x="15" y="0"/>
                  </a:lnTo>
                  <a:lnTo>
                    <a:pt x="60" y="111"/>
                  </a:lnTo>
                  <a:lnTo>
                    <a:pt x="264" y="317"/>
                  </a:lnTo>
                  <a:lnTo>
                    <a:pt x="252" y="329"/>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5" name="Freeform 18"/>
            <p:cNvSpPr>
              <a:spLocks noEditPoints="1"/>
            </p:cNvSpPr>
            <p:nvPr/>
          </p:nvSpPr>
          <p:spPr bwMode="auto">
            <a:xfrm>
              <a:off x="2119313" y="488950"/>
              <a:ext cx="161925" cy="147638"/>
            </a:xfrm>
            <a:custGeom>
              <a:avLst/>
              <a:gdLst/>
              <a:ahLst/>
              <a:cxnLst/>
              <a:rect l="0" t="0" r="r" b="b"/>
              <a:pathLst>
                <a:path w="34" h="31">
                  <a:moveTo>
                    <a:pt x="17" y="31"/>
                  </a:moveTo>
                  <a:cubicBezTo>
                    <a:pt x="13" y="31"/>
                    <a:pt x="9" y="30"/>
                    <a:pt x="6" y="27"/>
                  </a:cubicBezTo>
                  <a:cubicBezTo>
                    <a:pt x="0" y="20"/>
                    <a:pt x="0" y="10"/>
                    <a:pt x="6" y="4"/>
                  </a:cubicBezTo>
                  <a:cubicBezTo>
                    <a:pt x="9" y="1"/>
                    <a:pt x="13" y="0"/>
                    <a:pt x="17" y="0"/>
                  </a:cubicBezTo>
                  <a:cubicBezTo>
                    <a:pt x="21" y="0"/>
                    <a:pt x="25" y="1"/>
                    <a:pt x="28" y="4"/>
                  </a:cubicBezTo>
                  <a:cubicBezTo>
                    <a:pt x="34" y="10"/>
                    <a:pt x="34" y="20"/>
                    <a:pt x="28" y="27"/>
                  </a:cubicBezTo>
                  <a:cubicBezTo>
                    <a:pt x="25" y="30"/>
                    <a:pt x="21" y="31"/>
                    <a:pt x="17" y="31"/>
                  </a:cubicBezTo>
                  <a:close/>
                  <a:moveTo>
                    <a:pt x="17" y="4"/>
                  </a:moveTo>
                  <a:cubicBezTo>
                    <a:pt x="14" y="4"/>
                    <a:pt x="11" y="5"/>
                    <a:pt x="9" y="7"/>
                  </a:cubicBezTo>
                  <a:cubicBezTo>
                    <a:pt x="4" y="12"/>
                    <a:pt x="4" y="19"/>
                    <a:pt x="9" y="24"/>
                  </a:cubicBezTo>
                  <a:cubicBezTo>
                    <a:pt x="11" y="26"/>
                    <a:pt x="14" y="27"/>
                    <a:pt x="17" y="27"/>
                  </a:cubicBezTo>
                  <a:cubicBezTo>
                    <a:pt x="20" y="27"/>
                    <a:pt x="23" y="26"/>
                    <a:pt x="25" y="24"/>
                  </a:cubicBezTo>
                  <a:cubicBezTo>
                    <a:pt x="30" y="19"/>
                    <a:pt x="30" y="12"/>
                    <a:pt x="25" y="7"/>
                  </a:cubicBezTo>
                  <a:cubicBezTo>
                    <a:pt x="23" y="5"/>
                    <a:pt x="20" y="4"/>
                    <a:pt x="17"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6" name="Freeform 19"/>
            <p:cNvSpPr/>
            <p:nvPr/>
          </p:nvSpPr>
          <p:spPr bwMode="auto">
            <a:xfrm>
              <a:off x="952500" y="4763"/>
              <a:ext cx="152400" cy="908050"/>
            </a:xfrm>
            <a:custGeom>
              <a:avLst/>
              <a:gdLst/>
              <a:ahLst/>
              <a:cxnLst/>
              <a:rect l="0" t="0" r="r" b="b"/>
              <a:pathLst>
                <a:path w="96" h="572">
                  <a:moveTo>
                    <a:pt x="15" y="572"/>
                  </a:moveTo>
                  <a:lnTo>
                    <a:pt x="0" y="572"/>
                  </a:lnTo>
                  <a:lnTo>
                    <a:pt x="0" y="189"/>
                  </a:lnTo>
                  <a:lnTo>
                    <a:pt x="81" y="0"/>
                  </a:lnTo>
                  <a:lnTo>
                    <a:pt x="96" y="6"/>
                  </a:lnTo>
                  <a:lnTo>
                    <a:pt x="15" y="192"/>
                  </a:lnTo>
                  <a:lnTo>
                    <a:pt x="15" y="572"/>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7" name="Freeform 20"/>
            <p:cNvSpPr>
              <a:spLocks noEditPoints="1"/>
            </p:cNvSpPr>
            <p:nvPr/>
          </p:nvSpPr>
          <p:spPr bwMode="auto">
            <a:xfrm>
              <a:off x="866775" y="9032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2"/>
                    <a:pt x="4" y="20"/>
                  </a:cubicBezTo>
                  <a:cubicBezTo>
                    <a:pt x="4" y="29"/>
                    <a:pt x="11" y="36"/>
                    <a:pt x="20" y="36"/>
                  </a:cubicBezTo>
                  <a:cubicBezTo>
                    <a:pt x="29" y="36"/>
                    <a:pt x="36" y="29"/>
                    <a:pt x="36" y="20"/>
                  </a:cubicBezTo>
                  <a:cubicBezTo>
                    <a:pt x="36" y="12"/>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8" name="Freeform 21"/>
            <p:cNvSpPr>
              <a:spLocks noEditPoints="1"/>
            </p:cNvSpPr>
            <p:nvPr/>
          </p:nvSpPr>
          <p:spPr bwMode="auto">
            <a:xfrm>
              <a:off x="890588" y="155416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8"/>
                    <a:pt x="11" y="36"/>
                    <a:pt x="20" y="36"/>
                  </a:cubicBezTo>
                  <a:cubicBezTo>
                    <a:pt x="29" y="36"/>
                    <a:pt x="36" y="28"/>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9" name="Freeform 22"/>
            <p:cNvSpPr/>
            <p:nvPr/>
          </p:nvSpPr>
          <p:spPr bwMode="auto">
            <a:xfrm>
              <a:off x="738188" y="5622925"/>
              <a:ext cx="338138" cy="1216025"/>
            </a:xfrm>
            <a:custGeom>
              <a:avLst/>
              <a:gdLst/>
              <a:ahLst/>
              <a:cxnLst/>
              <a:rect l="0" t="0" r="r" b="b"/>
              <a:pathLst>
                <a:path w="213" h="766">
                  <a:moveTo>
                    <a:pt x="213" y="766"/>
                  </a:moveTo>
                  <a:lnTo>
                    <a:pt x="195" y="766"/>
                  </a:lnTo>
                  <a:lnTo>
                    <a:pt x="195" y="464"/>
                  </a:lnTo>
                  <a:lnTo>
                    <a:pt x="0" y="6"/>
                  </a:lnTo>
                  <a:lnTo>
                    <a:pt x="12" y="0"/>
                  </a:lnTo>
                  <a:lnTo>
                    <a:pt x="213" y="461"/>
                  </a:lnTo>
                  <a:lnTo>
                    <a:pt x="213" y="766"/>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0" name="Freeform 23"/>
            <p:cNvSpPr>
              <a:spLocks noEditPoints="1"/>
            </p:cNvSpPr>
            <p:nvPr/>
          </p:nvSpPr>
          <p:spPr bwMode="auto">
            <a:xfrm>
              <a:off x="647700" y="5480050"/>
              <a:ext cx="157163" cy="157163"/>
            </a:xfrm>
            <a:custGeom>
              <a:avLst/>
              <a:gdLst/>
              <a:ahLst/>
              <a:cxnLst/>
              <a:rect l="0" t="0" r="r" b="b"/>
              <a:pathLst>
                <a:path w="33" h="33">
                  <a:moveTo>
                    <a:pt x="17" y="33"/>
                  </a:moveTo>
                  <a:cubicBezTo>
                    <a:pt x="8" y="33"/>
                    <a:pt x="0" y="26"/>
                    <a:pt x="0" y="17"/>
                  </a:cubicBezTo>
                  <a:cubicBezTo>
                    <a:pt x="0" y="8"/>
                    <a:pt x="8" y="0"/>
                    <a:pt x="17" y="0"/>
                  </a:cubicBezTo>
                  <a:cubicBezTo>
                    <a:pt x="26" y="0"/>
                    <a:pt x="33" y="8"/>
                    <a:pt x="33" y="17"/>
                  </a:cubicBezTo>
                  <a:cubicBezTo>
                    <a:pt x="33" y="26"/>
                    <a:pt x="26" y="33"/>
                    <a:pt x="17" y="33"/>
                  </a:cubicBezTo>
                  <a:close/>
                  <a:moveTo>
                    <a:pt x="17" y="4"/>
                  </a:moveTo>
                  <a:cubicBezTo>
                    <a:pt x="10" y="4"/>
                    <a:pt x="4" y="10"/>
                    <a:pt x="4" y="17"/>
                  </a:cubicBezTo>
                  <a:cubicBezTo>
                    <a:pt x="4" y="24"/>
                    <a:pt x="10" y="29"/>
                    <a:pt x="17" y="29"/>
                  </a:cubicBezTo>
                  <a:cubicBezTo>
                    <a:pt x="23" y="29"/>
                    <a:pt x="29" y="24"/>
                    <a:pt x="29" y="17"/>
                  </a:cubicBezTo>
                  <a:cubicBezTo>
                    <a:pt x="29" y="10"/>
                    <a:pt x="23" y="4"/>
                    <a:pt x="17"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1" name="Freeform 24"/>
            <p:cNvSpPr>
              <a:spLocks noEditPoints="1"/>
            </p:cNvSpPr>
            <p:nvPr/>
          </p:nvSpPr>
          <p:spPr bwMode="auto">
            <a:xfrm>
              <a:off x="66675" y="903288"/>
              <a:ext cx="190500" cy="190500"/>
            </a:xfrm>
            <a:custGeom>
              <a:avLst/>
              <a:gdLst/>
              <a:ahLst/>
              <a:cxnLst/>
              <a:rect l="0" t="0" r="r" b="b"/>
              <a:pathLst>
                <a:path w="40" h="40">
                  <a:moveTo>
                    <a:pt x="20" y="40"/>
                  </a:moveTo>
                  <a:cubicBezTo>
                    <a:pt x="9" y="40"/>
                    <a:pt x="0" y="31"/>
                    <a:pt x="0" y="20"/>
                  </a:cubicBezTo>
                  <a:cubicBezTo>
                    <a:pt x="0" y="9"/>
                    <a:pt x="9" y="0"/>
                    <a:pt x="20" y="0"/>
                  </a:cubicBezTo>
                  <a:cubicBezTo>
                    <a:pt x="32" y="0"/>
                    <a:pt x="40" y="9"/>
                    <a:pt x="40" y="20"/>
                  </a:cubicBezTo>
                  <a:cubicBezTo>
                    <a:pt x="40" y="31"/>
                    <a:pt x="32" y="40"/>
                    <a:pt x="20" y="40"/>
                  </a:cubicBezTo>
                  <a:close/>
                  <a:moveTo>
                    <a:pt x="20" y="4"/>
                  </a:moveTo>
                  <a:cubicBezTo>
                    <a:pt x="12" y="4"/>
                    <a:pt x="4" y="12"/>
                    <a:pt x="4" y="20"/>
                  </a:cubicBezTo>
                  <a:cubicBezTo>
                    <a:pt x="4" y="29"/>
                    <a:pt x="12" y="36"/>
                    <a:pt x="20" y="36"/>
                  </a:cubicBezTo>
                  <a:cubicBezTo>
                    <a:pt x="29" y="36"/>
                    <a:pt x="36" y="29"/>
                    <a:pt x="36" y="20"/>
                  </a:cubicBezTo>
                  <a:cubicBezTo>
                    <a:pt x="36" y="12"/>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2" name="Freeform 25"/>
            <p:cNvSpPr/>
            <p:nvPr/>
          </p:nvSpPr>
          <p:spPr bwMode="auto">
            <a:xfrm>
              <a:off x="0" y="3897313"/>
              <a:ext cx="133350" cy="266700"/>
            </a:xfrm>
            <a:custGeom>
              <a:avLst/>
              <a:gdLst/>
              <a:ahLst/>
              <a:cxnLst/>
              <a:rect l="0" t="0" r="r" b="b"/>
              <a:pathLst>
                <a:path w="84" h="168">
                  <a:moveTo>
                    <a:pt x="69" y="168"/>
                  </a:moveTo>
                  <a:lnTo>
                    <a:pt x="0" y="6"/>
                  </a:lnTo>
                  <a:lnTo>
                    <a:pt x="12" y="0"/>
                  </a:lnTo>
                  <a:lnTo>
                    <a:pt x="84" y="162"/>
                  </a:lnTo>
                  <a:lnTo>
                    <a:pt x="69" y="168"/>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3" name="Freeform 26"/>
            <p:cNvSpPr>
              <a:spLocks noEditPoints="1"/>
            </p:cNvSpPr>
            <p:nvPr/>
          </p:nvSpPr>
          <p:spPr bwMode="auto">
            <a:xfrm>
              <a:off x="66675" y="4149725"/>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8"/>
                    <a:pt x="11" y="36"/>
                    <a:pt x="20" y="36"/>
                  </a:cubicBezTo>
                  <a:cubicBezTo>
                    <a:pt x="29" y="36"/>
                    <a:pt x="36" y="28"/>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4" name="Freeform 27"/>
            <p:cNvSpPr/>
            <p:nvPr/>
          </p:nvSpPr>
          <p:spPr bwMode="auto">
            <a:xfrm>
              <a:off x="0" y="1644650"/>
              <a:ext cx="133350" cy="269875"/>
            </a:xfrm>
            <a:custGeom>
              <a:avLst/>
              <a:gdLst/>
              <a:ahLst/>
              <a:cxnLst/>
              <a:rect l="0" t="0" r="r" b="b"/>
              <a:pathLst>
                <a:path w="84" h="170">
                  <a:moveTo>
                    <a:pt x="12" y="170"/>
                  </a:moveTo>
                  <a:lnTo>
                    <a:pt x="0" y="164"/>
                  </a:lnTo>
                  <a:lnTo>
                    <a:pt x="69" y="0"/>
                  </a:lnTo>
                  <a:lnTo>
                    <a:pt x="84" y="6"/>
                  </a:lnTo>
                  <a:lnTo>
                    <a:pt x="12" y="170"/>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5" name="Freeform 28"/>
            <p:cNvSpPr>
              <a:spLocks noEditPoints="1"/>
            </p:cNvSpPr>
            <p:nvPr/>
          </p:nvSpPr>
          <p:spPr bwMode="auto">
            <a:xfrm>
              <a:off x="66675" y="146843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8"/>
                    <a:pt x="11" y="36"/>
                    <a:pt x="20" y="36"/>
                  </a:cubicBezTo>
                  <a:cubicBezTo>
                    <a:pt x="29" y="36"/>
                    <a:pt x="36" y="28"/>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6" name="Freeform 29"/>
            <p:cNvSpPr/>
            <p:nvPr/>
          </p:nvSpPr>
          <p:spPr bwMode="auto">
            <a:xfrm>
              <a:off x="695325" y="4763"/>
              <a:ext cx="309563" cy="1558925"/>
            </a:xfrm>
            <a:custGeom>
              <a:avLst/>
              <a:gdLst/>
              <a:ahLst/>
              <a:cxnLst/>
              <a:rect l="0" t="0" r="r" b="b"/>
              <a:pathLst>
                <a:path w="195" h="982">
                  <a:moveTo>
                    <a:pt x="195" y="982"/>
                  </a:moveTo>
                  <a:lnTo>
                    <a:pt x="177" y="982"/>
                  </a:lnTo>
                  <a:lnTo>
                    <a:pt x="177" y="805"/>
                  </a:lnTo>
                  <a:lnTo>
                    <a:pt x="0" y="629"/>
                  </a:lnTo>
                  <a:lnTo>
                    <a:pt x="0" y="0"/>
                  </a:lnTo>
                  <a:lnTo>
                    <a:pt x="18" y="0"/>
                  </a:lnTo>
                  <a:lnTo>
                    <a:pt x="18" y="623"/>
                  </a:lnTo>
                  <a:lnTo>
                    <a:pt x="195" y="796"/>
                  </a:lnTo>
                  <a:lnTo>
                    <a:pt x="195" y="982"/>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7" name="Freeform 30"/>
            <p:cNvSpPr>
              <a:spLocks noEditPoints="1"/>
            </p:cNvSpPr>
            <p:nvPr/>
          </p:nvSpPr>
          <p:spPr bwMode="auto">
            <a:xfrm>
              <a:off x="57150" y="4881563"/>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8" name="Freeform 31"/>
            <p:cNvSpPr/>
            <p:nvPr/>
          </p:nvSpPr>
          <p:spPr bwMode="auto">
            <a:xfrm>
              <a:off x="138113" y="5060950"/>
              <a:ext cx="304800" cy="1778000"/>
            </a:xfrm>
            <a:custGeom>
              <a:avLst/>
              <a:gdLst/>
              <a:ahLst/>
              <a:cxnLst/>
              <a:rect l="0" t="0" r="r" b="b"/>
              <a:pathLst>
                <a:path w="192" h="1120">
                  <a:moveTo>
                    <a:pt x="192" y="1120"/>
                  </a:moveTo>
                  <a:lnTo>
                    <a:pt x="177" y="1120"/>
                  </a:lnTo>
                  <a:lnTo>
                    <a:pt x="177" y="360"/>
                  </a:lnTo>
                  <a:lnTo>
                    <a:pt x="0" y="183"/>
                  </a:lnTo>
                  <a:lnTo>
                    <a:pt x="0" y="0"/>
                  </a:lnTo>
                  <a:lnTo>
                    <a:pt x="15" y="0"/>
                  </a:lnTo>
                  <a:lnTo>
                    <a:pt x="15" y="177"/>
                  </a:lnTo>
                  <a:lnTo>
                    <a:pt x="192" y="354"/>
                  </a:lnTo>
                  <a:lnTo>
                    <a:pt x="192" y="1120"/>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9" name="Freeform 32"/>
            <p:cNvSpPr>
              <a:spLocks noEditPoints="1"/>
            </p:cNvSpPr>
            <p:nvPr/>
          </p:nvSpPr>
          <p:spPr bwMode="auto">
            <a:xfrm>
              <a:off x="561975" y="6430963"/>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40" name="Rectangle 33"/>
            <p:cNvSpPr>
              <a:spLocks noChangeArrowheads="1"/>
            </p:cNvSpPr>
            <p:nvPr/>
          </p:nvSpPr>
          <p:spPr bwMode="auto">
            <a:xfrm>
              <a:off x="642938" y="6610350"/>
              <a:ext cx="23813" cy="242888"/>
            </a:xfrm>
            <a:prstGeom prst="rect">
              <a:avLst/>
            </a:prstGeom>
            <a:grpFill/>
            <a:ln>
              <a:noFill/>
            </a:ln>
            <a:extLst>
              <a:ext uri="{91240B29-F687-4f45-9708-019B960494DF}">
                <a14:hiddenLine xmlns:a14="http://schemas.microsoft.com/office/drawing/2010/main" xmlns="" w="9525">
                  <a:solidFill>
                    <a:srgbClr val="000000"/>
                  </a:solidFill>
                  <a:miter lim="800000"/>
                  <a:headEnd/>
                  <a:tailEnd/>
                </a14:hiddenLine>
              </a:ext>
            </a:extLst>
          </p:spPr>
        </p:sp>
        <p:sp>
          <p:nvSpPr>
            <p:cNvPr id="41" name="Freeform 34"/>
            <p:cNvSpPr>
              <a:spLocks noEditPoints="1"/>
            </p:cNvSpPr>
            <p:nvPr/>
          </p:nvSpPr>
          <p:spPr bwMode="auto">
            <a:xfrm>
              <a:off x="76200" y="6430963"/>
              <a:ext cx="190500" cy="188913"/>
            </a:xfrm>
            <a:custGeom>
              <a:avLst/>
              <a:gdLst/>
              <a:ahLst/>
              <a:cxnLst/>
              <a:rect l="0" t="0" r="r" b="b"/>
              <a:pathLst>
                <a:path w="40" h="40">
                  <a:moveTo>
                    <a:pt x="20" y="40"/>
                  </a:moveTo>
                  <a:cubicBezTo>
                    <a:pt x="9" y="40"/>
                    <a:pt x="0" y="31"/>
                    <a:pt x="0" y="20"/>
                  </a:cubicBezTo>
                  <a:cubicBezTo>
                    <a:pt x="0" y="9"/>
                    <a:pt x="9" y="0"/>
                    <a:pt x="20" y="0"/>
                  </a:cubicBezTo>
                  <a:cubicBezTo>
                    <a:pt x="32" y="0"/>
                    <a:pt x="40" y="9"/>
                    <a:pt x="40" y="20"/>
                  </a:cubicBezTo>
                  <a:cubicBezTo>
                    <a:pt x="40" y="31"/>
                    <a:pt x="32"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42" name="Freeform 35"/>
            <p:cNvSpPr/>
            <p:nvPr/>
          </p:nvSpPr>
          <p:spPr bwMode="auto">
            <a:xfrm>
              <a:off x="0" y="5978525"/>
              <a:ext cx="190500" cy="461963"/>
            </a:xfrm>
            <a:custGeom>
              <a:avLst/>
              <a:gdLst/>
              <a:ahLst/>
              <a:cxnLst/>
              <a:rect l="0" t="0" r="r" b="b"/>
              <a:pathLst>
                <a:path w="120" h="291">
                  <a:moveTo>
                    <a:pt x="120" y="291"/>
                  </a:moveTo>
                  <a:lnTo>
                    <a:pt x="105" y="291"/>
                  </a:lnTo>
                  <a:lnTo>
                    <a:pt x="105" y="114"/>
                  </a:lnTo>
                  <a:lnTo>
                    <a:pt x="0" y="9"/>
                  </a:lnTo>
                  <a:lnTo>
                    <a:pt x="12" y="0"/>
                  </a:lnTo>
                  <a:lnTo>
                    <a:pt x="120" y="108"/>
                  </a:lnTo>
                  <a:lnTo>
                    <a:pt x="120" y="291"/>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43" name="Freeform 36"/>
            <p:cNvSpPr/>
            <p:nvPr/>
          </p:nvSpPr>
          <p:spPr bwMode="auto">
            <a:xfrm>
              <a:off x="1014413" y="1801813"/>
              <a:ext cx="214313" cy="755650"/>
            </a:xfrm>
            <a:custGeom>
              <a:avLst/>
              <a:gdLst/>
              <a:ahLst/>
              <a:cxnLst/>
              <a:rect l="0" t="0" r="r" b="b"/>
              <a:pathLst>
                <a:path w="135" h="476">
                  <a:moveTo>
                    <a:pt x="12" y="476"/>
                  </a:moveTo>
                  <a:lnTo>
                    <a:pt x="0" y="476"/>
                  </a:lnTo>
                  <a:lnTo>
                    <a:pt x="0" y="128"/>
                  </a:lnTo>
                  <a:lnTo>
                    <a:pt x="126" y="0"/>
                  </a:lnTo>
                  <a:lnTo>
                    <a:pt x="135" y="9"/>
                  </a:lnTo>
                  <a:lnTo>
                    <a:pt x="12" y="131"/>
                  </a:lnTo>
                  <a:lnTo>
                    <a:pt x="12" y="476"/>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44" name="Freeform 37"/>
            <p:cNvSpPr>
              <a:spLocks noEditPoints="1"/>
            </p:cNvSpPr>
            <p:nvPr/>
          </p:nvSpPr>
          <p:spPr bwMode="auto">
            <a:xfrm>
              <a:off x="938213" y="2547938"/>
              <a:ext cx="166688" cy="160338"/>
            </a:xfrm>
            <a:custGeom>
              <a:avLst/>
              <a:gdLst/>
              <a:ahLst/>
              <a:cxnLst/>
              <a:rect l="0" t="0" r="r" b="b"/>
              <a:pathLst>
                <a:path w="35" h="34">
                  <a:moveTo>
                    <a:pt x="18" y="34"/>
                  </a:moveTo>
                  <a:cubicBezTo>
                    <a:pt x="8" y="34"/>
                    <a:pt x="0" y="26"/>
                    <a:pt x="0" y="17"/>
                  </a:cubicBezTo>
                  <a:cubicBezTo>
                    <a:pt x="0" y="7"/>
                    <a:pt x="8" y="0"/>
                    <a:pt x="18" y="0"/>
                  </a:cubicBezTo>
                  <a:cubicBezTo>
                    <a:pt x="27" y="0"/>
                    <a:pt x="35" y="7"/>
                    <a:pt x="35" y="17"/>
                  </a:cubicBezTo>
                  <a:cubicBezTo>
                    <a:pt x="35" y="26"/>
                    <a:pt x="27" y="34"/>
                    <a:pt x="18" y="34"/>
                  </a:cubicBezTo>
                  <a:close/>
                  <a:moveTo>
                    <a:pt x="18" y="4"/>
                  </a:moveTo>
                  <a:cubicBezTo>
                    <a:pt x="10" y="4"/>
                    <a:pt x="4" y="10"/>
                    <a:pt x="4" y="17"/>
                  </a:cubicBezTo>
                  <a:cubicBezTo>
                    <a:pt x="4" y="24"/>
                    <a:pt x="10" y="30"/>
                    <a:pt x="18" y="30"/>
                  </a:cubicBezTo>
                  <a:cubicBezTo>
                    <a:pt x="25" y="30"/>
                    <a:pt x="31" y="24"/>
                    <a:pt x="31" y="17"/>
                  </a:cubicBezTo>
                  <a:cubicBezTo>
                    <a:pt x="31" y="10"/>
                    <a:pt x="25" y="4"/>
                    <a:pt x="18"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45" name="Freeform 38"/>
            <p:cNvSpPr/>
            <p:nvPr/>
          </p:nvSpPr>
          <p:spPr bwMode="auto">
            <a:xfrm>
              <a:off x="595313" y="4763"/>
              <a:ext cx="638175" cy="4025900"/>
            </a:xfrm>
            <a:custGeom>
              <a:avLst/>
              <a:gdLst/>
              <a:ahLst/>
              <a:cxnLst/>
              <a:rect l="0" t="0" r="r" b="b"/>
              <a:pathLst>
                <a:path w="402" h="2536">
                  <a:moveTo>
                    <a:pt x="402" y="2536"/>
                  </a:moveTo>
                  <a:lnTo>
                    <a:pt x="387" y="2536"/>
                  </a:lnTo>
                  <a:lnTo>
                    <a:pt x="387" y="2311"/>
                  </a:lnTo>
                  <a:lnTo>
                    <a:pt x="0" y="1925"/>
                  </a:lnTo>
                  <a:lnTo>
                    <a:pt x="0" y="0"/>
                  </a:lnTo>
                  <a:lnTo>
                    <a:pt x="15" y="0"/>
                  </a:lnTo>
                  <a:lnTo>
                    <a:pt x="15" y="1916"/>
                  </a:lnTo>
                  <a:lnTo>
                    <a:pt x="402" y="2302"/>
                  </a:lnTo>
                  <a:lnTo>
                    <a:pt x="402" y="2536"/>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46" name="Freeform 39"/>
            <p:cNvSpPr/>
            <p:nvPr/>
          </p:nvSpPr>
          <p:spPr bwMode="auto">
            <a:xfrm>
              <a:off x="1223963" y="1382713"/>
              <a:ext cx="142875" cy="476250"/>
            </a:xfrm>
            <a:custGeom>
              <a:avLst/>
              <a:gdLst/>
              <a:ahLst/>
              <a:cxnLst/>
              <a:rect l="0" t="0" r="r" b="b"/>
              <a:pathLst>
                <a:path w="90" h="300">
                  <a:moveTo>
                    <a:pt x="90" y="300"/>
                  </a:moveTo>
                  <a:lnTo>
                    <a:pt x="78" y="300"/>
                  </a:lnTo>
                  <a:lnTo>
                    <a:pt x="78" y="84"/>
                  </a:lnTo>
                  <a:lnTo>
                    <a:pt x="0" y="9"/>
                  </a:lnTo>
                  <a:lnTo>
                    <a:pt x="9" y="0"/>
                  </a:lnTo>
                  <a:lnTo>
                    <a:pt x="90" y="81"/>
                  </a:lnTo>
                  <a:lnTo>
                    <a:pt x="90" y="300"/>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47" name="Freeform 40"/>
            <p:cNvSpPr>
              <a:spLocks noEditPoints="1"/>
            </p:cNvSpPr>
            <p:nvPr/>
          </p:nvSpPr>
          <p:spPr bwMode="auto">
            <a:xfrm>
              <a:off x="1300163" y="1849438"/>
              <a:ext cx="109538" cy="107950"/>
            </a:xfrm>
            <a:custGeom>
              <a:avLst/>
              <a:gdLst/>
              <a:ahLst/>
              <a:cxnLst/>
              <a:rect l="0" t="0" r="r" b="b"/>
              <a:pathLst>
                <a:path w="23" h="23">
                  <a:moveTo>
                    <a:pt x="12" y="23"/>
                  </a:moveTo>
                  <a:cubicBezTo>
                    <a:pt x="5" y="23"/>
                    <a:pt x="0" y="18"/>
                    <a:pt x="0" y="12"/>
                  </a:cubicBezTo>
                  <a:cubicBezTo>
                    <a:pt x="0" y="5"/>
                    <a:pt x="5" y="0"/>
                    <a:pt x="12" y="0"/>
                  </a:cubicBezTo>
                  <a:cubicBezTo>
                    <a:pt x="18" y="0"/>
                    <a:pt x="23" y="5"/>
                    <a:pt x="23" y="12"/>
                  </a:cubicBezTo>
                  <a:cubicBezTo>
                    <a:pt x="23" y="18"/>
                    <a:pt x="18" y="23"/>
                    <a:pt x="12" y="23"/>
                  </a:cubicBezTo>
                  <a:close/>
                  <a:moveTo>
                    <a:pt x="12" y="4"/>
                  </a:moveTo>
                  <a:cubicBezTo>
                    <a:pt x="8" y="4"/>
                    <a:pt x="4" y="8"/>
                    <a:pt x="4" y="12"/>
                  </a:cubicBezTo>
                  <a:cubicBezTo>
                    <a:pt x="4" y="16"/>
                    <a:pt x="8" y="19"/>
                    <a:pt x="12" y="19"/>
                  </a:cubicBezTo>
                  <a:cubicBezTo>
                    <a:pt x="16" y="19"/>
                    <a:pt x="19" y="16"/>
                    <a:pt x="19" y="12"/>
                  </a:cubicBezTo>
                  <a:cubicBezTo>
                    <a:pt x="19" y="8"/>
                    <a:pt x="16" y="4"/>
                    <a:pt x="12"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48" name="Freeform 41"/>
            <p:cNvSpPr/>
            <p:nvPr/>
          </p:nvSpPr>
          <p:spPr bwMode="auto">
            <a:xfrm>
              <a:off x="280988" y="3417888"/>
              <a:ext cx="142875" cy="474663"/>
            </a:xfrm>
            <a:custGeom>
              <a:avLst/>
              <a:gdLst/>
              <a:ahLst/>
              <a:cxnLst/>
              <a:rect l="0" t="0" r="r" b="b"/>
              <a:pathLst>
                <a:path w="90" h="299">
                  <a:moveTo>
                    <a:pt x="12" y="299"/>
                  </a:moveTo>
                  <a:lnTo>
                    <a:pt x="0" y="299"/>
                  </a:lnTo>
                  <a:lnTo>
                    <a:pt x="0" y="80"/>
                  </a:lnTo>
                  <a:lnTo>
                    <a:pt x="81" y="0"/>
                  </a:lnTo>
                  <a:lnTo>
                    <a:pt x="90" y="8"/>
                  </a:lnTo>
                  <a:lnTo>
                    <a:pt x="12" y="83"/>
                  </a:lnTo>
                  <a:lnTo>
                    <a:pt x="12" y="299"/>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49" name="Freeform 42"/>
            <p:cNvSpPr>
              <a:spLocks noEditPoints="1"/>
            </p:cNvSpPr>
            <p:nvPr/>
          </p:nvSpPr>
          <p:spPr bwMode="auto">
            <a:xfrm>
              <a:off x="238125" y="3883025"/>
              <a:ext cx="109538" cy="109538"/>
            </a:xfrm>
            <a:custGeom>
              <a:avLst/>
              <a:gdLst/>
              <a:ahLst/>
              <a:cxnLst/>
              <a:rect l="0" t="0" r="r" b="b"/>
              <a:pathLst>
                <a:path w="23" h="23">
                  <a:moveTo>
                    <a:pt x="11" y="23"/>
                  </a:moveTo>
                  <a:cubicBezTo>
                    <a:pt x="5" y="23"/>
                    <a:pt x="0" y="18"/>
                    <a:pt x="0" y="12"/>
                  </a:cubicBezTo>
                  <a:cubicBezTo>
                    <a:pt x="0" y="5"/>
                    <a:pt x="5" y="0"/>
                    <a:pt x="11" y="0"/>
                  </a:cubicBezTo>
                  <a:cubicBezTo>
                    <a:pt x="17" y="0"/>
                    <a:pt x="23" y="5"/>
                    <a:pt x="23" y="12"/>
                  </a:cubicBezTo>
                  <a:cubicBezTo>
                    <a:pt x="23" y="18"/>
                    <a:pt x="17" y="23"/>
                    <a:pt x="11" y="23"/>
                  </a:cubicBezTo>
                  <a:close/>
                  <a:moveTo>
                    <a:pt x="11" y="4"/>
                  </a:moveTo>
                  <a:cubicBezTo>
                    <a:pt x="7" y="4"/>
                    <a:pt x="4" y="8"/>
                    <a:pt x="4" y="12"/>
                  </a:cubicBezTo>
                  <a:cubicBezTo>
                    <a:pt x="4" y="16"/>
                    <a:pt x="7" y="19"/>
                    <a:pt x="11" y="19"/>
                  </a:cubicBezTo>
                  <a:cubicBezTo>
                    <a:pt x="15" y="19"/>
                    <a:pt x="19" y="16"/>
                    <a:pt x="19" y="12"/>
                  </a:cubicBezTo>
                  <a:cubicBezTo>
                    <a:pt x="19" y="8"/>
                    <a:pt x="15" y="4"/>
                    <a:pt x="11"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50" name="Freeform 43"/>
            <p:cNvSpPr/>
            <p:nvPr/>
          </p:nvSpPr>
          <p:spPr bwMode="auto">
            <a:xfrm>
              <a:off x="4763" y="2166938"/>
              <a:ext cx="114300" cy="452438"/>
            </a:xfrm>
            <a:custGeom>
              <a:avLst/>
              <a:gdLst/>
              <a:ahLst/>
              <a:cxnLst/>
              <a:rect l="0" t="0" r="r" b="b"/>
              <a:pathLst>
                <a:path w="72" h="285">
                  <a:moveTo>
                    <a:pt x="6" y="285"/>
                  </a:moveTo>
                  <a:lnTo>
                    <a:pt x="0" y="276"/>
                  </a:lnTo>
                  <a:lnTo>
                    <a:pt x="60" y="216"/>
                  </a:lnTo>
                  <a:lnTo>
                    <a:pt x="60" y="0"/>
                  </a:lnTo>
                  <a:lnTo>
                    <a:pt x="72" y="0"/>
                  </a:lnTo>
                  <a:lnTo>
                    <a:pt x="72" y="222"/>
                  </a:lnTo>
                  <a:lnTo>
                    <a:pt x="6" y="285"/>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51" name="Freeform 44"/>
            <p:cNvSpPr>
              <a:spLocks noEditPoints="1"/>
            </p:cNvSpPr>
            <p:nvPr/>
          </p:nvSpPr>
          <p:spPr bwMode="auto">
            <a:xfrm>
              <a:off x="52388" y="2066925"/>
              <a:ext cx="109538" cy="109538"/>
            </a:xfrm>
            <a:custGeom>
              <a:avLst/>
              <a:gdLst/>
              <a:ahLst/>
              <a:cxnLst/>
              <a:rect l="0" t="0" r="r" b="b"/>
              <a:pathLst>
                <a:path w="23" h="23">
                  <a:moveTo>
                    <a:pt x="12" y="23"/>
                  </a:moveTo>
                  <a:cubicBezTo>
                    <a:pt x="5" y="23"/>
                    <a:pt x="0" y="18"/>
                    <a:pt x="0" y="12"/>
                  </a:cubicBezTo>
                  <a:cubicBezTo>
                    <a:pt x="0" y="5"/>
                    <a:pt x="5" y="0"/>
                    <a:pt x="12" y="0"/>
                  </a:cubicBezTo>
                  <a:cubicBezTo>
                    <a:pt x="18" y="0"/>
                    <a:pt x="23" y="5"/>
                    <a:pt x="23" y="12"/>
                  </a:cubicBezTo>
                  <a:cubicBezTo>
                    <a:pt x="23" y="18"/>
                    <a:pt x="18" y="23"/>
                    <a:pt x="12" y="23"/>
                  </a:cubicBezTo>
                  <a:close/>
                  <a:moveTo>
                    <a:pt x="12" y="4"/>
                  </a:moveTo>
                  <a:cubicBezTo>
                    <a:pt x="8" y="4"/>
                    <a:pt x="4" y="8"/>
                    <a:pt x="4" y="12"/>
                  </a:cubicBezTo>
                  <a:cubicBezTo>
                    <a:pt x="4" y="16"/>
                    <a:pt x="8" y="19"/>
                    <a:pt x="12" y="19"/>
                  </a:cubicBezTo>
                  <a:cubicBezTo>
                    <a:pt x="16" y="19"/>
                    <a:pt x="19" y="16"/>
                    <a:pt x="19" y="12"/>
                  </a:cubicBezTo>
                  <a:cubicBezTo>
                    <a:pt x="19" y="8"/>
                    <a:pt x="16" y="4"/>
                    <a:pt x="12"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52" name="Rectangle 45"/>
            <p:cNvSpPr>
              <a:spLocks noChangeArrowheads="1"/>
            </p:cNvSpPr>
            <p:nvPr/>
          </p:nvSpPr>
          <p:spPr bwMode="auto">
            <a:xfrm>
              <a:off x="1228725" y="4662488"/>
              <a:ext cx="23813" cy="2181225"/>
            </a:xfrm>
            <a:prstGeom prst="rect">
              <a:avLst/>
            </a:prstGeom>
            <a:grpFill/>
            <a:ln>
              <a:noFill/>
            </a:ln>
            <a:extLst>
              <a:ext uri="{91240B29-F687-4f45-9708-019B960494DF}">
                <a14:hiddenLine xmlns:a14="http://schemas.microsoft.com/office/drawing/2010/main" xmlns="" w="9525">
                  <a:solidFill>
                    <a:srgbClr val="000000"/>
                  </a:solidFill>
                  <a:miter lim="800000"/>
                  <a:headEnd/>
                  <a:tailEnd/>
                </a14:hiddenLine>
              </a:ext>
            </a:extLst>
          </p:spPr>
        </p:sp>
        <p:sp>
          <p:nvSpPr>
            <p:cNvPr id="53" name="Freeform 46"/>
            <p:cNvSpPr/>
            <p:nvPr/>
          </p:nvSpPr>
          <p:spPr bwMode="auto">
            <a:xfrm>
              <a:off x="1319213" y="5041900"/>
              <a:ext cx="371475" cy="1801813"/>
            </a:xfrm>
            <a:custGeom>
              <a:avLst/>
              <a:gdLst/>
              <a:ahLst/>
              <a:cxnLst/>
              <a:rect l="0" t="0" r="r" b="b"/>
              <a:pathLst>
                <a:path w="234" h="1135">
                  <a:moveTo>
                    <a:pt x="15" y="1135"/>
                  </a:moveTo>
                  <a:lnTo>
                    <a:pt x="0" y="1135"/>
                  </a:lnTo>
                  <a:lnTo>
                    <a:pt x="0" y="515"/>
                  </a:lnTo>
                  <a:lnTo>
                    <a:pt x="0" y="512"/>
                  </a:lnTo>
                  <a:lnTo>
                    <a:pt x="219" y="0"/>
                  </a:lnTo>
                  <a:lnTo>
                    <a:pt x="234" y="6"/>
                  </a:lnTo>
                  <a:lnTo>
                    <a:pt x="15" y="518"/>
                  </a:lnTo>
                  <a:lnTo>
                    <a:pt x="15" y="1135"/>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54" name="Freeform 47"/>
            <p:cNvSpPr>
              <a:spLocks noEditPoints="1"/>
            </p:cNvSpPr>
            <p:nvPr/>
          </p:nvSpPr>
          <p:spPr bwMode="auto">
            <a:xfrm>
              <a:off x="1147763" y="44815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55" name="Freeform 48"/>
            <p:cNvSpPr/>
            <p:nvPr/>
          </p:nvSpPr>
          <p:spPr bwMode="auto">
            <a:xfrm>
              <a:off x="819150" y="3983038"/>
              <a:ext cx="347663" cy="2860675"/>
            </a:xfrm>
            <a:custGeom>
              <a:avLst/>
              <a:gdLst/>
              <a:ahLst/>
              <a:cxnLst/>
              <a:rect l="0" t="0" r="r" b="b"/>
              <a:pathLst>
                <a:path w="219" h="1802">
                  <a:moveTo>
                    <a:pt x="219" y="1802"/>
                  </a:moveTo>
                  <a:lnTo>
                    <a:pt x="201" y="1802"/>
                  </a:lnTo>
                  <a:lnTo>
                    <a:pt x="201" y="1185"/>
                  </a:lnTo>
                  <a:lnTo>
                    <a:pt x="0" y="3"/>
                  </a:lnTo>
                  <a:lnTo>
                    <a:pt x="15" y="0"/>
                  </a:lnTo>
                  <a:lnTo>
                    <a:pt x="219" y="1185"/>
                  </a:lnTo>
                  <a:lnTo>
                    <a:pt x="219" y="1802"/>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56" name="Freeform 49"/>
            <p:cNvSpPr>
              <a:spLocks noEditPoints="1"/>
            </p:cNvSpPr>
            <p:nvPr/>
          </p:nvSpPr>
          <p:spPr bwMode="auto">
            <a:xfrm>
              <a:off x="728663" y="3806825"/>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8"/>
                    <a:pt x="11" y="36"/>
                    <a:pt x="20" y="36"/>
                  </a:cubicBezTo>
                  <a:cubicBezTo>
                    <a:pt x="29" y="36"/>
                    <a:pt x="36" y="28"/>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57" name="Freeform 50"/>
            <p:cNvSpPr>
              <a:spLocks noEditPoints="1"/>
            </p:cNvSpPr>
            <p:nvPr/>
          </p:nvSpPr>
          <p:spPr bwMode="auto">
            <a:xfrm>
              <a:off x="1624013" y="4867275"/>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58" name="Freeform 51"/>
            <p:cNvSpPr/>
            <p:nvPr/>
          </p:nvSpPr>
          <p:spPr bwMode="auto">
            <a:xfrm>
              <a:off x="1404938" y="5422900"/>
              <a:ext cx="371475" cy="1425575"/>
            </a:xfrm>
            <a:custGeom>
              <a:avLst/>
              <a:gdLst/>
              <a:ahLst/>
              <a:cxnLst/>
              <a:rect l="0" t="0" r="r" b="b"/>
              <a:pathLst>
                <a:path w="234" h="898">
                  <a:moveTo>
                    <a:pt x="18" y="898"/>
                  </a:moveTo>
                  <a:lnTo>
                    <a:pt x="0" y="898"/>
                  </a:lnTo>
                  <a:lnTo>
                    <a:pt x="0" y="515"/>
                  </a:lnTo>
                  <a:lnTo>
                    <a:pt x="0" y="512"/>
                  </a:lnTo>
                  <a:lnTo>
                    <a:pt x="222" y="0"/>
                  </a:lnTo>
                  <a:lnTo>
                    <a:pt x="234" y="6"/>
                  </a:lnTo>
                  <a:lnTo>
                    <a:pt x="18" y="518"/>
                  </a:lnTo>
                  <a:lnTo>
                    <a:pt x="18" y="898"/>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59" name="Freeform 52"/>
            <p:cNvSpPr/>
            <p:nvPr/>
          </p:nvSpPr>
          <p:spPr bwMode="auto">
            <a:xfrm>
              <a:off x="1666875" y="5945188"/>
              <a:ext cx="152400" cy="912813"/>
            </a:xfrm>
            <a:custGeom>
              <a:avLst/>
              <a:gdLst/>
              <a:ahLst/>
              <a:cxnLst/>
              <a:rect l="0" t="0" r="r" b="b"/>
              <a:pathLst>
                <a:path w="96" h="575">
                  <a:moveTo>
                    <a:pt x="15" y="575"/>
                  </a:moveTo>
                  <a:lnTo>
                    <a:pt x="0" y="569"/>
                  </a:lnTo>
                  <a:lnTo>
                    <a:pt x="81" y="383"/>
                  </a:lnTo>
                  <a:lnTo>
                    <a:pt x="81" y="0"/>
                  </a:lnTo>
                  <a:lnTo>
                    <a:pt x="96" y="0"/>
                  </a:lnTo>
                  <a:lnTo>
                    <a:pt x="96" y="386"/>
                  </a:lnTo>
                  <a:lnTo>
                    <a:pt x="15" y="575"/>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60" name="Freeform 53"/>
            <p:cNvSpPr>
              <a:spLocks noEditPoints="1"/>
            </p:cNvSpPr>
            <p:nvPr/>
          </p:nvSpPr>
          <p:spPr bwMode="auto">
            <a:xfrm>
              <a:off x="1709738" y="52466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61" name="Freeform 54"/>
            <p:cNvSpPr>
              <a:spLocks noEditPoints="1"/>
            </p:cNvSpPr>
            <p:nvPr/>
          </p:nvSpPr>
          <p:spPr bwMode="auto">
            <a:xfrm>
              <a:off x="1709738" y="57642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62" name="Freeform 55"/>
            <p:cNvSpPr/>
            <p:nvPr/>
          </p:nvSpPr>
          <p:spPr bwMode="auto">
            <a:xfrm>
              <a:off x="1766888" y="6330950"/>
              <a:ext cx="419100" cy="527050"/>
            </a:xfrm>
            <a:custGeom>
              <a:avLst/>
              <a:gdLst/>
              <a:ahLst/>
              <a:cxnLst/>
              <a:rect l="0" t="0" r="r" b="b"/>
              <a:pathLst>
                <a:path w="264" h="332">
                  <a:moveTo>
                    <a:pt x="12" y="332"/>
                  </a:moveTo>
                  <a:lnTo>
                    <a:pt x="0" y="326"/>
                  </a:lnTo>
                  <a:lnTo>
                    <a:pt x="45" y="206"/>
                  </a:lnTo>
                  <a:lnTo>
                    <a:pt x="255" y="0"/>
                  </a:lnTo>
                  <a:lnTo>
                    <a:pt x="264" y="12"/>
                  </a:lnTo>
                  <a:lnTo>
                    <a:pt x="60" y="215"/>
                  </a:lnTo>
                  <a:lnTo>
                    <a:pt x="12" y="332"/>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63" name="Freeform 56"/>
            <p:cNvSpPr>
              <a:spLocks noEditPoints="1"/>
            </p:cNvSpPr>
            <p:nvPr/>
          </p:nvSpPr>
          <p:spPr bwMode="auto">
            <a:xfrm>
              <a:off x="2147888" y="6221413"/>
              <a:ext cx="157163" cy="147638"/>
            </a:xfrm>
            <a:custGeom>
              <a:avLst/>
              <a:gdLst/>
              <a:ahLst/>
              <a:cxnLst/>
              <a:rect l="0" t="0" r="r" b="b"/>
              <a:pathLst>
                <a:path w="33" h="31">
                  <a:moveTo>
                    <a:pt x="16" y="31"/>
                  </a:moveTo>
                  <a:cubicBezTo>
                    <a:pt x="12" y="31"/>
                    <a:pt x="8" y="29"/>
                    <a:pt x="5" y="26"/>
                  </a:cubicBezTo>
                  <a:cubicBezTo>
                    <a:pt x="2" y="24"/>
                    <a:pt x="0" y="20"/>
                    <a:pt x="0" y="15"/>
                  </a:cubicBezTo>
                  <a:cubicBezTo>
                    <a:pt x="0" y="11"/>
                    <a:pt x="2" y="7"/>
                    <a:pt x="5" y="4"/>
                  </a:cubicBezTo>
                  <a:cubicBezTo>
                    <a:pt x="8" y="1"/>
                    <a:pt x="12" y="0"/>
                    <a:pt x="16" y="0"/>
                  </a:cubicBezTo>
                  <a:cubicBezTo>
                    <a:pt x="20" y="0"/>
                    <a:pt x="24" y="1"/>
                    <a:pt x="27" y="4"/>
                  </a:cubicBezTo>
                  <a:cubicBezTo>
                    <a:pt x="33" y="10"/>
                    <a:pt x="33" y="20"/>
                    <a:pt x="27" y="26"/>
                  </a:cubicBezTo>
                  <a:cubicBezTo>
                    <a:pt x="24" y="29"/>
                    <a:pt x="20" y="31"/>
                    <a:pt x="16" y="31"/>
                  </a:cubicBezTo>
                  <a:close/>
                  <a:moveTo>
                    <a:pt x="16" y="4"/>
                  </a:moveTo>
                  <a:cubicBezTo>
                    <a:pt x="13" y="4"/>
                    <a:pt x="10" y="5"/>
                    <a:pt x="8" y="7"/>
                  </a:cubicBezTo>
                  <a:cubicBezTo>
                    <a:pt x="6" y="9"/>
                    <a:pt x="4" y="12"/>
                    <a:pt x="4" y="15"/>
                  </a:cubicBezTo>
                  <a:cubicBezTo>
                    <a:pt x="4" y="19"/>
                    <a:pt x="6" y="21"/>
                    <a:pt x="8" y="24"/>
                  </a:cubicBezTo>
                  <a:cubicBezTo>
                    <a:pt x="10" y="26"/>
                    <a:pt x="13" y="27"/>
                    <a:pt x="16" y="27"/>
                  </a:cubicBezTo>
                  <a:cubicBezTo>
                    <a:pt x="19" y="27"/>
                    <a:pt x="22" y="26"/>
                    <a:pt x="24" y="24"/>
                  </a:cubicBezTo>
                  <a:cubicBezTo>
                    <a:pt x="29" y="19"/>
                    <a:pt x="29" y="12"/>
                    <a:pt x="24" y="7"/>
                  </a:cubicBezTo>
                  <a:cubicBezTo>
                    <a:pt x="22" y="5"/>
                    <a:pt x="19" y="4"/>
                    <a:pt x="16"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64" name="Freeform 57"/>
            <p:cNvSpPr/>
            <p:nvPr/>
          </p:nvSpPr>
          <p:spPr bwMode="auto">
            <a:xfrm>
              <a:off x="504825" y="9525"/>
              <a:ext cx="233363" cy="5103813"/>
            </a:xfrm>
            <a:custGeom>
              <a:avLst/>
              <a:gdLst/>
              <a:ahLst/>
              <a:cxnLst/>
              <a:rect l="0" t="0" r="r" b="b"/>
              <a:pathLst>
                <a:path w="147" h="3215">
                  <a:moveTo>
                    <a:pt x="132" y="3215"/>
                  </a:moveTo>
                  <a:lnTo>
                    <a:pt x="129" y="2754"/>
                  </a:lnTo>
                  <a:lnTo>
                    <a:pt x="0" y="1901"/>
                  </a:lnTo>
                  <a:lnTo>
                    <a:pt x="0" y="0"/>
                  </a:lnTo>
                  <a:lnTo>
                    <a:pt x="15" y="0"/>
                  </a:lnTo>
                  <a:lnTo>
                    <a:pt x="15" y="1898"/>
                  </a:lnTo>
                  <a:lnTo>
                    <a:pt x="144" y="2754"/>
                  </a:lnTo>
                  <a:lnTo>
                    <a:pt x="147" y="3215"/>
                  </a:lnTo>
                  <a:lnTo>
                    <a:pt x="132" y="3215"/>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65" name="Freeform 58"/>
            <p:cNvSpPr>
              <a:spLocks noEditPoints="1"/>
            </p:cNvSpPr>
            <p:nvPr/>
          </p:nvSpPr>
          <p:spPr bwMode="auto">
            <a:xfrm>
              <a:off x="633413" y="5103813"/>
              <a:ext cx="185738" cy="185738"/>
            </a:xfrm>
            <a:custGeom>
              <a:avLst/>
              <a:gdLst/>
              <a:ahLst/>
              <a:cxnLst/>
              <a:rect l="0" t="0" r="r" b="b"/>
              <a:pathLst>
                <a:path w="39" h="39">
                  <a:moveTo>
                    <a:pt x="20" y="39"/>
                  </a:moveTo>
                  <a:cubicBezTo>
                    <a:pt x="9" y="39"/>
                    <a:pt x="0" y="30"/>
                    <a:pt x="0" y="19"/>
                  </a:cubicBezTo>
                  <a:cubicBezTo>
                    <a:pt x="0" y="9"/>
                    <a:pt x="9" y="0"/>
                    <a:pt x="20" y="0"/>
                  </a:cubicBezTo>
                  <a:cubicBezTo>
                    <a:pt x="30" y="0"/>
                    <a:pt x="39" y="9"/>
                    <a:pt x="39" y="19"/>
                  </a:cubicBezTo>
                  <a:cubicBezTo>
                    <a:pt x="39" y="30"/>
                    <a:pt x="30" y="39"/>
                    <a:pt x="20" y="39"/>
                  </a:cubicBezTo>
                  <a:close/>
                  <a:moveTo>
                    <a:pt x="20" y="4"/>
                  </a:moveTo>
                  <a:cubicBezTo>
                    <a:pt x="11" y="4"/>
                    <a:pt x="4" y="11"/>
                    <a:pt x="4" y="19"/>
                  </a:cubicBezTo>
                  <a:cubicBezTo>
                    <a:pt x="4" y="28"/>
                    <a:pt x="11" y="35"/>
                    <a:pt x="20" y="35"/>
                  </a:cubicBezTo>
                  <a:cubicBezTo>
                    <a:pt x="28" y="35"/>
                    <a:pt x="35" y="28"/>
                    <a:pt x="35" y="19"/>
                  </a:cubicBezTo>
                  <a:cubicBezTo>
                    <a:pt x="35" y="11"/>
                    <a:pt x="28"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grpSp>
      <p:sp>
        <p:nvSpPr>
          <p:cNvPr id="2" name="Title 1"/>
          <p:cNvSpPr>
            <a:spLocks noGrp="1"/>
          </p:cNvSpPr>
          <p:nvPr>
            <p:ph type="ctrTitle"/>
          </p:nvPr>
        </p:nvSpPr>
        <p:spPr>
          <a:xfrm>
            <a:off x="1876424" y="1122363"/>
            <a:ext cx="8791575" cy="2387600"/>
          </a:xfrm>
        </p:spPr>
        <p:txBody>
          <a:bodyPr anchor="b">
            <a:normAutofit/>
          </a:bodyPr>
          <a:lstStyle>
            <a:lvl1pPr algn="l">
              <a:defRPr sz="4800"/>
            </a:lvl1pPr>
          </a:lstStyle>
          <a:p>
            <a:r>
              <a:rPr lang="en-US"/>
              <a:t>Click to edit Master title style</a:t>
            </a:r>
            <a:endParaRPr lang="en-US" dirty="0"/>
          </a:p>
        </p:txBody>
      </p:sp>
      <p:sp>
        <p:nvSpPr>
          <p:cNvPr id="3" name="Subtitle 2"/>
          <p:cNvSpPr>
            <a:spLocks noGrp="1"/>
          </p:cNvSpPr>
          <p:nvPr>
            <p:ph type="subTitle" idx="1"/>
          </p:nvPr>
        </p:nvSpPr>
        <p:spPr>
          <a:xfrm>
            <a:off x="1876424" y="3602038"/>
            <a:ext cx="8791575" cy="1655762"/>
          </a:xfrm>
        </p:spPr>
        <p:txBody>
          <a:bodyPr>
            <a:normAutofit/>
          </a:bodyPr>
          <a:lstStyle>
            <a:lvl1pPr marL="0" indent="0" algn="l">
              <a:buNone/>
              <a:defRPr sz="2000" cap="all" baseline="0">
                <a:solidFill>
                  <a:schemeClr val="accent2"/>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a:xfrm>
            <a:off x="7077511" y="5410201"/>
            <a:ext cx="2743200" cy="365125"/>
          </a:xfrm>
        </p:spPr>
        <p:txBody>
          <a:bodyPr/>
          <a:lstStyle/>
          <a:p>
            <a:fld id="{48A87A34-81AB-432B-8DAE-1953F412C126}" type="datetimeFigureOut">
              <a:rPr lang="en-US" dirty="0"/>
              <a:t>7/21/2020</a:t>
            </a:fld>
            <a:endParaRPr lang="en-US" dirty="0"/>
          </a:p>
        </p:txBody>
      </p:sp>
      <p:sp>
        <p:nvSpPr>
          <p:cNvPr id="5" name="Footer Placeholder 4"/>
          <p:cNvSpPr>
            <a:spLocks noGrp="1"/>
          </p:cNvSpPr>
          <p:nvPr>
            <p:ph type="ftr" sz="quarter" idx="11"/>
          </p:nvPr>
        </p:nvSpPr>
        <p:spPr>
          <a:xfrm>
            <a:off x="1876424" y="5410201"/>
            <a:ext cx="5124886" cy="365125"/>
          </a:xfrm>
        </p:spPr>
        <p:txBody>
          <a:bodyPr/>
          <a:lstStyle/>
          <a:p>
            <a:endParaRPr lang="en-US" dirty="0"/>
          </a:p>
        </p:txBody>
      </p:sp>
      <p:sp>
        <p:nvSpPr>
          <p:cNvPr id="6" name="Slide Number Placeholder 5"/>
          <p:cNvSpPr>
            <a:spLocks noGrp="1"/>
          </p:cNvSpPr>
          <p:nvPr>
            <p:ph type="sldNum" sz="quarter" idx="12"/>
          </p:nvPr>
        </p:nvSpPr>
        <p:spPr>
          <a:xfrm>
            <a:off x="9896911" y="5410199"/>
            <a:ext cx="771089" cy="365125"/>
          </a:xfrm>
        </p:spPr>
        <p:txBody>
          <a:bodyPr/>
          <a:lstStyle/>
          <a:p>
            <a:fld id="{6D22F896-40B5-4ADD-8801-0D06FADFA095}" type="slidenum">
              <a:rPr lang="en-US" dirty="0"/>
              <a:t>‹#›</a:t>
            </a:fld>
            <a:endParaRPr lang="en-US"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48A87A34-81AB-432B-8DAE-1953F412C126}" type="datetimeFigureOut">
              <a:rPr lang="en-US" dirty="0"/>
              <a:t>7/21/2020</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1141411" y="1419226"/>
            <a:ext cx="9906000" cy="2852737"/>
          </a:xfrm>
        </p:spPr>
        <p:txBody>
          <a:bodyPr anchor="b">
            <a:normAutofit/>
          </a:bodyPr>
          <a:lstStyle>
            <a:lvl1pPr>
              <a:defRPr sz="3600"/>
            </a:lvl1pPr>
          </a:lstStyle>
          <a:p>
            <a:r>
              <a:rPr lang="en-US"/>
              <a:t>Click to edit Master title style</a:t>
            </a:r>
            <a:endParaRPr lang="en-US" dirty="0"/>
          </a:p>
        </p:txBody>
      </p:sp>
      <p:sp>
        <p:nvSpPr>
          <p:cNvPr id="3" name="Text Placeholder 2"/>
          <p:cNvSpPr>
            <a:spLocks noGrp="1"/>
          </p:cNvSpPr>
          <p:nvPr>
            <p:ph type="body" idx="1"/>
          </p:nvPr>
        </p:nvSpPr>
        <p:spPr>
          <a:xfrm>
            <a:off x="1141411" y="4424362"/>
            <a:ext cx="9906000" cy="1374776"/>
          </a:xfrm>
        </p:spPr>
        <p:txBody>
          <a:bodyPr>
            <a:normAutofit/>
          </a:bodyPr>
          <a:lstStyle>
            <a:lvl1pPr marL="0" indent="0">
              <a:buNone/>
              <a:defRPr sz="1800" cap="all" baseline="0">
                <a:solidFill>
                  <a:schemeClr val="tx1">
                    <a:tint val="75000"/>
                  </a:schemeClr>
                </a:solidFill>
              </a:defRPr>
            </a:lvl1pPr>
            <a:lvl2pPr marL="457200" indent="0">
              <a:buNone/>
              <a:defRPr sz="18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48A87A34-81AB-432B-8DAE-1953F412C126}" type="datetimeFigureOut">
              <a:rPr lang="en-US" dirty="0"/>
              <a:t>7/21/2020</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1141410" y="2249486"/>
            <a:ext cx="4878389" cy="354171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172200" y="2249486"/>
            <a:ext cx="4875211" cy="354171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48A87A34-81AB-432B-8DAE-1953F412C126}" type="datetimeFigureOut">
              <a:rPr lang="en-US" dirty="0"/>
              <a:t>7/21/2020</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1141411" y="619126"/>
            <a:ext cx="9906000" cy="1477961"/>
          </a:xfrm>
        </p:spPr>
        <p:txBody>
          <a:bodyPr/>
          <a:lstStyle/>
          <a:p>
            <a:r>
              <a:rPr lang="en-US"/>
              <a:t>Click to edit Master title style</a:t>
            </a:r>
            <a:endParaRPr lang="en-US" dirty="0"/>
          </a:p>
        </p:txBody>
      </p:sp>
      <p:sp>
        <p:nvSpPr>
          <p:cNvPr id="3" name="Text Placeholder 2"/>
          <p:cNvSpPr>
            <a:spLocks noGrp="1"/>
          </p:cNvSpPr>
          <p:nvPr>
            <p:ph type="body" idx="1"/>
          </p:nvPr>
        </p:nvSpPr>
        <p:spPr>
          <a:xfrm>
            <a:off x="1370019" y="2249486"/>
            <a:ext cx="4649783" cy="823912"/>
          </a:xfrm>
        </p:spPr>
        <p:txBody>
          <a:bodyPr anchor="b"/>
          <a:lstStyle>
            <a:lvl1pPr marL="0" indent="0">
              <a:lnSpc>
                <a:spcPct val="90000"/>
              </a:lnSpc>
              <a:buNone/>
              <a:defRPr sz="24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141410" y="3073397"/>
            <a:ext cx="4878391" cy="271780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400808" y="2249485"/>
            <a:ext cx="4646602" cy="823912"/>
          </a:xfrm>
        </p:spPr>
        <p:txBody>
          <a:bodyPr anchor="b"/>
          <a:lstStyle>
            <a:lvl1pPr marL="0" indent="0">
              <a:lnSpc>
                <a:spcPct val="90000"/>
              </a:lnSpc>
              <a:buNone/>
              <a:defRPr sz="24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3073397"/>
            <a:ext cx="4875210" cy="271780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48A87A34-81AB-432B-8DAE-1953F412C126}" type="datetimeFigureOut">
              <a:rPr lang="en-US" dirty="0"/>
              <a:t>7/21/2020</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48A87A34-81AB-432B-8DAE-1953F412C126}" type="datetimeFigureOut">
              <a:rPr lang="en-US" dirty="0"/>
              <a:t>7/21/2020</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48A87A34-81AB-432B-8DAE-1953F412C126}" type="datetimeFigureOut">
              <a:rPr lang="en-US" dirty="0"/>
              <a:t>7/21/2020</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46705" y="609601"/>
            <a:ext cx="3856037" cy="1639884"/>
          </a:xfrm>
        </p:spPr>
        <p:txBody>
          <a:bodyPr anchor="b"/>
          <a:lstStyle>
            <a:lvl1pPr>
              <a:defRPr sz="3200"/>
            </a:lvl1pPr>
          </a:lstStyle>
          <a:p>
            <a:r>
              <a:rPr lang="en-US"/>
              <a:t>Click to edit Master title style</a:t>
            </a:r>
            <a:endParaRPr lang="en-US" dirty="0"/>
          </a:p>
        </p:txBody>
      </p:sp>
      <p:sp>
        <p:nvSpPr>
          <p:cNvPr id="3" name="Content Placeholder 2"/>
          <p:cNvSpPr>
            <a:spLocks noGrp="1"/>
          </p:cNvSpPr>
          <p:nvPr>
            <p:ph idx="1"/>
          </p:nvPr>
        </p:nvSpPr>
        <p:spPr>
          <a:xfrm>
            <a:off x="5156200" y="592666"/>
            <a:ext cx="5891209" cy="5198534"/>
          </a:xfrm>
        </p:spPr>
        <p:txBody>
          <a:bodyPr anchor="ct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1146705" y="2249486"/>
            <a:ext cx="3856037" cy="3541714"/>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48A87A34-81AB-432B-8DAE-1953F412C126}" type="datetimeFigureOut">
              <a:rPr lang="en-US" dirty="0"/>
              <a:t>7/21/2020</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41413" y="609600"/>
            <a:ext cx="5934508" cy="1639886"/>
          </a:xfrm>
        </p:spPr>
        <p:txBody>
          <a:bodyPr anchor="b"/>
          <a:lstStyle>
            <a:lvl1pP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7380721" y="609601"/>
            <a:ext cx="3666690" cy="5181599"/>
          </a:xfrm>
          <a:prstGeom prst="round2DiagRect">
            <a:avLst>
              <a:gd name="adj1" fmla="val 5608"/>
              <a:gd name="adj2" fmla="val 0"/>
            </a:avLst>
          </a:prstGeom>
          <a:ln w="19050" cap="sq">
            <a:solidFill>
              <a:schemeClr val="tx2">
                <a:lumMod val="60000"/>
                <a:lumOff val="40000"/>
                <a:alpha val="60000"/>
              </a:schemeClr>
            </a:solidFill>
            <a:miter lim="800000"/>
          </a:ln>
          <a:effectLst>
            <a:outerShdw blurRad="88900" dist="38100" dir="5400000" algn="t" rotWithShape="0">
              <a:prstClr val="black">
                <a:alpha val="40000"/>
              </a:prstClr>
            </a:outerShdw>
          </a:effectLst>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1141410" y="2249486"/>
            <a:ext cx="5934511" cy="3541714"/>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48A87A34-81AB-432B-8DAE-1953F412C126}" type="datetimeFigureOut">
              <a:rPr lang="en-US" dirty="0"/>
              <a:t>7/21/2020</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41410" y="4304664"/>
            <a:ext cx="9912355" cy="819355"/>
          </a:xfrm>
        </p:spPr>
        <p:txBody>
          <a:bodyPr anchor="b">
            <a:normAutofit/>
          </a:bodyPr>
          <a:lstStyle>
            <a:lvl1pP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1141411" y="606426"/>
            <a:ext cx="9912354" cy="3299778"/>
          </a:xfrm>
          <a:prstGeom prst="round2DiagRect">
            <a:avLst>
              <a:gd name="adj1" fmla="val 4860"/>
              <a:gd name="adj2" fmla="val 0"/>
            </a:avLst>
          </a:prstGeom>
          <a:ln w="19050" cap="sq">
            <a:solidFill>
              <a:schemeClr val="tx2">
                <a:lumMod val="60000"/>
                <a:lumOff val="40000"/>
                <a:alpha val="60000"/>
              </a:schemeClr>
            </a:solidFill>
            <a:miter lim="800000"/>
          </a:ln>
          <a:effectLst>
            <a:outerShdw blurRad="88900" dist="38100" dir="5400000" algn="t" rotWithShape="0">
              <a:prstClr val="black">
                <a:alpha val="40000"/>
              </a:prstClr>
            </a:outerShdw>
          </a:effectLst>
        </p:spPr>
        <p:txBody>
          <a:bodyPr vert="horz" lIns="91440" tIns="45720" rIns="91440" bIns="45720" rtlCol="0" anchor="t">
            <a:normAutofit/>
          </a:bodyPr>
          <a:lstStyle>
            <a:lvl1pPr>
              <a:buNone/>
              <a:defRPr lang="en-US" sz="3200"/>
            </a:lvl1pPr>
          </a:lstStyle>
          <a:p>
            <a:pPr marL="0" lvl="0" indent="0">
              <a:buNone/>
            </a:pPr>
            <a:r>
              <a:rPr lang="en-US"/>
              <a:t>Click icon to add picture</a:t>
            </a:r>
            <a:endParaRPr lang="en-US" dirty="0"/>
          </a:p>
        </p:txBody>
      </p:sp>
      <p:sp>
        <p:nvSpPr>
          <p:cNvPr id="4" name="Text Placeholder 3"/>
          <p:cNvSpPr>
            <a:spLocks noGrp="1"/>
          </p:cNvSpPr>
          <p:nvPr>
            <p:ph type="body" sz="half" idx="2"/>
          </p:nvPr>
        </p:nvSpPr>
        <p:spPr>
          <a:xfrm>
            <a:off x="1141364" y="5124020"/>
            <a:ext cx="9910859" cy="682472"/>
          </a:xfrm>
        </p:spPr>
        <p:txBody>
          <a:bodyPr>
            <a:normAutofit/>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48A87A34-81AB-432B-8DAE-1953F412C126}" type="datetimeFigureOut">
              <a:rPr lang="en-US" dirty="0"/>
              <a:t>7/21/2020</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1141456" y="609600"/>
            <a:ext cx="9905955" cy="3429000"/>
          </a:xfrm>
        </p:spPr>
        <p:txBody>
          <a:bodyPr anchor="ctr">
            <a:normAutofit/>
          </a:bodyPr>
          <a:lstStyle>
            <a:lvl1pPr>
              <a:defRPr sz="3600"/>
            </a:lvl1pPr>
          </a:lstStyle>
          <a:p>
            <a:r>
              <a:rPr lang="en-US"/>
              <a:t>Click to edit Master title style</a:t>
            </a:r>
            <a:endParaRPr lang="en-US" dirty="0"/>
          </a:p>
        </p:txBody>
      </p:sp>
      <p:sp>
        <p:nvSpPr>
          <p:cNvPr id="4" name="Text Placeholder 3"/>
          <p:cNvSpPr>
            <a:spLocks noGrp="1"/>
          </p:cNvSpPr>
          <p:nvPr>
            <p:ph type="body" sz="half" idx="2"/>
          </p:nvPr>
        </p:nvSpPr>
        <p:spPr>
          <a:xfrm>
            <a:off x="1141410" y="4419599"/>
            <a:ext cx="9904459" cy="1371599"/>
          </a:xfrm>
        </p:spPr>
        <p:txBody>
          <a:bodyPr anchor="ctr">
            <a:normAutofit/>
          </a:bodyPr>
          <a:lstStyle>
            <a:lvl1pPr marL="0" indent="0">
              <a:buNone/>
              <a:defRPr sz="18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48A87A34-81AB-432B-8DAE-1953F412C126}" type="datetimeFigureOut">
              <a:rPr lang="en-US" dirty="0"/>
              <a:t>7/21/2020</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446212" y="609599"/>
            <a:ext cx="9302752" cy="2748429"/>
          </a:xfrm>
        </p:spPr>
        <p:txBody>
          <a:bodyPr anchor="ctr">
            <a:normAutofit/>
          </a:bodyPr>
          <a:lstStyle>
            <a:lvl1pPr>
              <a:defRPr sz="3600"/>
            </a:lvl1pPr>
          </a:lstStyle>
          <a:p>
            <a:r>
              <a:rPr lang="en-US"/>
              <a:t>Click to edit Master title style</a:t>
            </a:r>
            <a:endParaRPr lang="en-US" dirty="0"/>
          </a:p>
        </p:txBody>
      </p:sp>
      <p:sp>
        <p:nvSpPr>
          <p:cNvPr id="12" name="Text Placeholder 3"/>
          <p:cNvSpPr>
            <a:spLocks noGrp="1"/>
          </p:cNvSpPr>
          <p:nvPr>
            <p:ph type="body" sz="half" idx="13"/>
          </p:nvPr>
        </p:nvSpPr>
        <p:spPr>
          <a:xfrm>
            <a:off x="1720644" y="3365557"/>
            <a:ext cx="8752299" cy="548968"/>
          </a:xfrm>
        </p:spPr>
        <p:txBody>
          <a:bodyPr anchor="t">
            <a:normAutofit/>
          </a:bodyPr>
          <a:lstStyle>
            <a:lvl1pPr marL="0" indent="0">
              <a:buNone/>
              <a:defRPr sz="14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4" name="Text Placeholder 3"/>
          <p:cNvSpPr>
            <a:spLocks noGrp="1"/>
          </p:cNvSpPr>
          <p:nvPr>
            <p:ph type="body" sz="half" idx="2"/>
          </p:nvPr>
        </p:nvSpPr>
        <p:spPr>
          <a:xfrm>
            <a:off x="1141411" y="4309919"/>
            <a:ext cx="9906002" cy="1489496"/>
          </a:xfrm>
        </p:spPr>
        <p:txBody>
          <a:bodyPr anchor="ctr">
            <a:normAutofit/>
          </a:bodyPr>
          <a:lstStyle>
            <a:lvl1pPr marL="0" indent="0">
              <a:buNone/>
              <a:defRPr sz="18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48A87A34-81AB-432B-8DAE-1953F412C126}" type="datetimeFigureOut">
              <a:rPr lang="en-US" dirty="0"/>
              <a:t>7/21/2020</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D22F896-40B5-4ADD-8801-0D06FADFA095}" type="slidenum">
              <a:rPr lang="en-US" dirty="0"/>
              <a:t>‹#›</a:t>
            </a:fld>
            <a:endParaRPr lang="en-US" dirty="0"/>
          </a:p>
        </p:txBody>
      </p:sp>
      <p:sp>
        <p:nvSpPr>
          <p:cNvPr id="60" name="TextBox 59"/>
          <p:cNvSpPr txBox="1"/>
          <p:nvPr/>
        </p:nvSpPr>
        <p:spPr>
          <a:xfrm>
            <a:off x="903512" y="732394"/>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latin typeface="+mj-lt"/>
                <a:ea typeface="+mj-ea"/>
                <a:cs typeface="Trebuchet MS"/>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tx1"/>
                </a:solidFill>
                <a:effectLst/>
              </a:rPr>
              <a:t>“</a:t>
            </a:r>
          </a:p>
        </p:txBody>
      </p:sp>
      <p:sp>
        <p:nvSpPr>
          <p:cNvPr id="61" name="TextBox 60"/>
          <p:cNvSpPr txBox="1"/>
          <p:nvPr/>
        </p:nvSpPr>
        <p:spPr>
          <a:xfrm>
            <a:off x="10537370" y="2764972"/>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latin typeface="+mj-lt"/>
                <a:ea typeface="+mj-ea"/>
                <a:cs typeface="Trebuchet MS"/>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tx1"/>
                </a:solidFill>
                <a:effectLst/>
              </a:rPr>
              <a:t>”</a:t>
            </a: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1141410" y="2134041"/>
            <a:ext cx="9906001" cy="2511835"/>
          </a:xfrm>
        </p:spPr>
        <p:txBody>
          <a:bodyPr anchor="b">
            <a:normAutofit/>
          </a:bodyPr>
          <a:lstStyle>
            <a:lvl1pPr>
              <a:defRPr sz="3600"/>
            </a:lvl1pPr>
          </a:lstStyle>
          <a:p>
            <a:r>
              <a:rPr lang="en-US"/>
              <a:t>Click to edit Master title style</a:t>
            </a:r>
            <a:endParaRPr lang="en-US" dirty="0"/>
          </a:p>
        </p:txBody>
      </p:sp>
      <p:sp>
        <p:nvSpPr>
          <p:cNvPr id="4" name="Text Placeholder 3"/>
          <p:cNvSpPr>
            <a:spLocks noGrp="1"/>
          </p:cNvSpPr>
          <p:nvPr>
            <p:ph type="body" sz="half" idx="2"/>
          </p:nvPr>
        </p:nvSpPr>
        <p:spPr>
          <a:xfrm>
            <a:off x="1141364" y="4657655"/>
            <a:ext cx="9904505" cy="1140644"/>
          </a:xfrm>
        </p:spPr>
        <p:txBody>
          <a:bodyPr anchor="t">
            <a:normAutofit/>
          </a:bodyPr>
          <a:lstStyle>
            <a:lvl1pPr marL="0" indent="0">
              <a:buNone/>
              <a:defRPr sz="18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48A87A34-81AB-432B-8DAE-1953F412C126}" type="datetimeFigureOut">
              <a:rPr lang="en-US" dirty="0"/>
              <a:t>7/21/2020</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3 Column">
    <p:spTree>
      <p:nvGrpSpPr>
        <p:cNvPr id="1" name=""/>
        <p:cNvGrpSpPr/>
        <p:nvPr/>
      </p:nvGrpSpPr>
      <p:grpSpPr>
        <a:xfrm>
          <a:off x="0" y="0"/>
          <a:ext cx="0" cy="0"/>
          <a:chOff x="0" y="0"/>
          <a:chExt cx="0" cy="0"/>
        </a:xfrm>
      </p:grpSpPr>
      <p:sp>
        <p:nvSpPr>
          <p:cNvPr id="15" name="Title 1"/>
          <p:cNvSpPr>
            <a:spLocks noGrp="1"/>
          </p:cNvSpPr>
          <p:nvPr>
            <p:ph type="title"/>
          </p:nvPr>
        </p:nvSpPr>
        <p:spPr>
          <a:xfrm>
            <a:off x="1141413" y="609600"/>
            <a:ext cx="9905998" cy="1905000"/>
          </a:xfrm>
        </p:spPr>
        <p:txBody>
          <a:bodyPr/>
          <a:lstStyle/>
          <a:p>
            <a:r>
              <a:rPr lang="en-US"/>
              <a:t>Click to edit Master title style</a:t>
            </a:r>
            <a:endParaRPr lang="en-US" dirty="0"/>
          </a:p>
        </p:txBody>
      </p:sp>
      <p:sp>
        <p:nvSpPr>
          <p:cNvPr id="7" name="Text Placeholder 2"/>
          <p:cNvSpPr>
            <a:spLocks noGrp="1"/>
          </p:cNvSpPr>
          <p:nvPr>
            <p:ph type="body" idx="1"/>
          </p:nvPr>
        </p:nvSpPr>
        <p:spPr>
          <a:xfrm>
            <a:off x="1141410" y="2674463"/>
            <a:ext cx="3196899" cy="685800"/>
          </a:xfrm>
        </p:spPr>
        <p:txBody>
          <a:bodyPr anchor="b">
            <a:noAutofit/>
          </a:bodyPr>
          <a:lstStyle>
            <a:lvl1pPr marL="0" indent="0">
              <a:lnSpc>
                <a:spcPct val="90000"/>
              </a:lnSpc>
              <a:buNone/>
              <a:defRPr sz="24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8" name="Text Placeholder 3"/>
          <p:cNvSpPr>
            <a:spLocks noGrp="1"/>
          </p:cNvSpPr>
          <p:nvPr>
            <p:ph type="body" sz="half" idx="15"/>
          </p:nvPr>
        </p:nvSpPr>
        <p:spPr>
          <a:xfrm>
            <a:off x="1127918" y="3360263"/>
            <a:ext cx="3208735" cy="2430936"/>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9" name="Text Placeholder 4"/>
          <p:cNvSpPr>
            <a:spLocks noGrp="1"/>
          </p:cNvSpPr>
          <p:nvPr>
            <p:ph type="body" sz="quarter" idx="3"/>
          </p:nvPr>
        </p:nvSpPr>
        <p:spPr>
          <a:xfrm>
            <a:off x="4514766" y="2677635"/>
            <a:ext cx="3184385" cy="685800"/>
          </a:xfrm>
        </p:spPr>
        <p:txBody>
          <a:bodyPr anchor="b">
            <a:noAutofit/>
          </a:bodyPr>
          <a:lstStyle>
            <a:lvl1pPr marL="0" indent="0">
              <a:lnSpc>
                <a:spcPct val="90000"/>
              </a:lnSpc>
              <a:buNone/>
              <a:defRPr sz="24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0" name="Text Placeholder 3"/>
          <p:cNvSpPr>
            <a:spLocks noGrp="1"/>
          </p:cNvSpPr>
          <p:nvPr>
            <p:ph type="body" sz="half" idx="16"/>
          </p:nvPr>
        </p:nvSpPr>
        <p:spPr>
          <a:xfrm>
            <a:off x="4504213" y="3363435"/>
            <a:ext cx="3195830" cy="2430936"/>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11" name="Text Placeholder 4"/>
          <p:cNvSpPr>
            <a:spLocks noGrp="1"/>
          </p:cNvSpPr>
          <p:nvPr>
            <p:ph type="body" sz="quarter" idx="13"/>
          </p:nvPr>
        </p:nvSpPr>
        <p:spPr>
          <a:xfrm>
            <a:off x="7852442" y="2674463"/>
            <a:ext cx="3194968" cy="685800"/>
          </a:xfrm>
        </p:spPr>
        <p:txBody>
          <a:bodyPr anchor="b">
            <a:noAutofit/>
          </a:bodyPr>
          <a:lstStyle>
            <a:lvl1pPr marL="0" indent="0">
              <a:lnSpc>
                <a:spcPct val="90000"/>
              </a:lnSpc>
              <a:buNone/>
              <a:defRPr sz="24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2" name="Text Placeholder 3"/>
          <p:cNvSpPr>
            <a:spLocks noGrp="1"/>
          </p:cNvSpPr>
          <p:nvPr>
            <p:ph type="body" sz="half" idx="17"/>
          </p:nvPr>
        </p:nvSpPr>
        <p:spPr>
          <a:xfrm>
            <a:off x="7852442" y="3360263"/>
            <a:ext cx="3194968" cy="2430936"/>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3" name="Date Placeholder 2"/>
          <p:cNvSpPr>
            <a:spLocks noGrp="1"/>
          </p:cNvSpPr>
          <p:nvPr>
            <p:ph type="dt" sz="half" idx="10"/>
          </p:nvPr>
        </p:nvSpPr>
        <p:spPr/>
        <p:txBody>
          <a:bodyPr/>
          <a:lstStyle/>
          <a:p>
            <a:fld id="{48A87A34-81AB-432B-8DAE-1953F412C126}" type="datetimeFigureOut">
              <a:rPr lang="en-US" dirty="0"/>
              <a:t>7/21/2020</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3 Picture Column">
    <p:spTree>
      <p:nvGrpSpPr>
        <p:cNvPr id="1" name=""/>
        <p:cNvGrpSpPr/>
        <p:nvPr/>
      </p:nvGrpSpPr>
      <p:grpSpPr>
        <a:xfrm>
          <a:off x="0" y="0"/>
          <a:ext cx="0" cy="0"/>
          <a:chOff x="0" y="0"/>
          <a:chExt cx="0" cy="0"/>
        </a:xfrm>
      </p:grpSpPr>
      <p:sp>
        <p:nvSpPr>
          <p:cNvPr id="30" name="Title 1"/>
          <p:cNvSpPr>
            <a:spLocks noGrp="1"/>
          </p:cNvSpPr>
          <p:nvPr>
            <p:ph type="title"/>
          </p:nvPr>
        </p:nvSpPr>
        <p:spPr>
          <a:xfrm>
            <a:off x="1141411" y="609600"/>
            <a:ext cx="9905999" cy="1905000"/>
          </a:xfrm>
        </p:spPr>
        <p:txBody>
          <a:bodyPr/>
          <a:lstStyle/>
          <a:p>
            <a:r>
              <a:rPr lang="en-US"/>
              <a:t>Click to edit Master title style</a:t>
            </a:r>
            <a:endParaRPr lang="en-US" dirty="0"/>
          </a:p>
        </p:txBody>
      </p:sp>
      <p:sp>
        <p:nvSpPr>
          <p:cNvPr id="19" name="Text Placeholder 2"/>
          <p:cNvSpPr>
            <a:spLocks noGrp="1"/>
          </p:cNvSpPr>
          <p:nvPr>
            <p:ph type="body" idx="1"/>
          </p:nvPr>
        </p:nvSpPr>
        <p:spPr>
          <a:xfrm>
            <a:off x="1141413" y="4404596"/>
            <a:ext cx="3195240" cy="576262"/>
          </a:xfrm>
        </p:spPr>
        <p:txBody>
          <a:bodyPr anchor="b">
            <a:noAutofit/>
          </a:bodyPr>
          <a:lstStyle>
            <a:lvl1pPr marL="0" indent="0">
              <a:lnSpc>
                <a:spcPct val="90000"/>
              </a:lnSpc>
              <a:buNone/>
              <a:defRPr sz="20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0" name="Picture Placeholder 2"/>
          <p:cNvSpPr>
            <a:spLocks noGrp="1" noChangeAspect="1"/>
          </p:cNvSpPr>
          <p:nvPr>
            <p:ph type="pic" idx="15"/>
          </p:nvPr>
        </p:nvSpPr>
        <p:spPr>
          <a:xfrm>
            <a:off x="1141413" y="2666998"/>
            <a:ext cx="3195240" cy="1524000"/>
          </a:xfrm>
          <a:prstGeom prst="round2DiagRect">
            <a:avLst/>
          </a:prstGeom>
          <a:ln w="19050" cap="sq">
            <a:solidFill>
              <a:schemeClr val="tx2">
                <a:lumMod val="60000"/>
                <a:lumOff val="40000"/>
                <a:alpha val="60000"/>
              </a:schemeClr>
            </a:solidFill>
            <a:miter lim="800000"/>
          </a:ln>
          <a:effectLst>
            <a:outerShdw blurRad="88900" dist="38100" dir="5400000" algn="t" rotWithShape="0">
              <a:prstClr val="black">
                <a:alpha val="40000"/>
              </a:prstClr>
            </a:outerShdw>
          </a:effectLst>
        </p:spPr>
        <p:txBody>
          <a:bodyPr vert="horz" lIns="91440" tIns="45720" rIns="91440" bIns="45720" rtlCol="0" anchor="t">
            <a:normAutofit/>
          </a:bodyPr>
          <a:lstStyle>
            <a:lvl1pPr>
              <a:buNone/>
              <a:defRPr lang="en-US" sz="2000" dirty="0"/>
            </a:lvl1pPr>
          </a:lstStyle>
          <a:p>
            <a:pPr marL="0" lvl="0" indent="0">
              <a:buNone/>
            </a:pPr>
            <a:r>
              <a:rPr lang="en-US"/>
              <a:t>Click icon to add picture</a:t>
            </a:r>
            <a:endParaRPr lang="en-US" dirty="0"/>
          </a:p>
        </p:txBody>
      </p:sp>
      <p:sp>
        <p:nvSpPr>
          <p:cNvPr id="21" name="Text Placeholder 3"/>
          <p:cNvSpPr>
            <a:spLocks noGrp="1"/>
          </p:cNvSpPr>
          <p:nvPr>
            <p:ph type="body" sz="half" idx="18"/>
          </p:nvPr>
        </p:nvSpPr>
        <p:spPr>
          <a:xfrm>
            <a:off x="1141413" y="4980858"/>
            <a:ext cx="3195240" cy="817843"/>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22" name="Text Placeholder 4"/>
          <p:cNvSpPr>
            <a:spLocks noGrp="1"/>
          </p:cNvSpPr>
          <p:nvPr>
            <p:ph type="body" sz="quarter" idx="3"/>
          </p:nvPr>
        </p:nvSpPr>
        <p:spPr>
          <a:xfrm>
            <a:off x="4489053" y="4404596"/>
            <a:ext cx="3200400" cy="576262"/>
          </a:xfrm>
        </p:spPr>
        <p:txBody>
          <a:bodyPr anchor="b">
            <a:noAutofit/>
          </a:bodyPr>
          <a:lstStyle>
            <a:lvl1pPr marL="0" indent="0">
              <a:lnSpc>
                <a:spcPct val="90000"/>
              </a:lnSpc>
              <a:buNone/>
              <a:defRPr sz="20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3" name="Picture Placeholder 2"/>
          <p:cNvSpPr>
            <a:spLocks noGrp="1" noChangeAspect="1"/>
          </p:cNvSpPr>
          <p:nvPr>
            <p:ph type="pic" idx="21"/>
          </p:nvPr>
        </p:nvSpPr>
        <p:spPr>
          <a:xfrm>
            <a:off x="4489053" y="2666998"/>
            <a:ext cx="3198940" cy="1524000"/>
          </a:xfrm>
          <a:prstGeom prst="round2DiagRect">
            <a:avLst/>
          </a:prstGeom>
          <a:ln w="19050" cap="sq">
            <a:solidFill>
              <a:schemeClr val="tx2">
                <a:lumMod val="60000"/>
                <a:lumOff val="40000"/>
                <a:alpha val="60000"/>
              </a:schemeClr>
            </a:solidFill>
            <a:miter lim="800000"/>
          </a:ln>
          <a:effectLst>
            <a:outerShdw blurRad="88900" dist="38100" dir="5400000" algn="t" rotWithShape="0">
              <a:prstClr val="black">
                <a:alpha val="40000"/>
              </a:prstClr>
            </a:outerShdw>
          </a:effectLst>
        </p:spPr>
        <p:txBody>
          <a:bodyPr vert="horz" lIns="91440" tIns="45720" rIns="91440" bIns="45720" rtlCol="0" anchor="t">
            <a:normAutofit/>
          </a:bodyPr>
          <a:lstStyle>
            <a:lvl1pPr>
              <a:buNone/>
              <a:defRPr lang="en-US" sz="2000" dirty="0"/>
            </a:lvl1pPr>
          </a:lstStyle>
          <a:p>
            <a:pPr marL="0" lvl="0" indent="0">
              <a:buNone/>
            </a:pPr>
            <a:r>
              <a:rPr lang="en-US"/>
              <a:t>Click icon to add picture</a:t>
            </a:r>
            <a:endParaRPr lang="en-US" dirty="0"/>
          </a:p>
        </p:txBody>
      </p:sp>
      <p:sp>
        <p:nvSpPr>
          <p:cNvPr id="24" name="Text Placeholder 3"/>
          <p:cNvSpPr>
            <a:spLocks noGrp="1"/>
          </p:cNvSpPr>
          <p:nvPr>
            <p:ph type="body" sz="half" idx="19"/>
          </p:nvPr>
        </p:nvSpPr>
        <p:spPr>
          <a:xfrm>
            <a:off x="4487593" y="4980857"/>
            <a:ext cx="3200400" cy="810342"/>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25" name="Text Placeholder 4"/>
          <p:cNvSpPr>
            <a:spLocks noGrp="1"/>
          </p:cNvSpPr>
          <p:nvPr>
            <p:ph type="body" sz="quarter" idx="13"/>
          </p:nvPr>
        </p:nvSpPr>
        <p:spPr>
          <a:xfrm>
            <a:off x="7852567" y="4404595"/>
            <a:ext cx="3190741" cy="576262"/>
          </a:xfrm>
        </p:spPr>
        <p:txBody>
          <a:bodyPr anchor="b">
            <a:noAutofit/>
          </a:bodyPr>
          <a:lstStyle>
            <a:lvl1pPr marL="0" indent="0">
              <a:lnSpc>
                <a:spcPct val="90000"/>
              </a:lnSpc>
              <a:buNone/>
              <a:defRPr sz="20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6" name="Picture Placeholder 2"/>
          <p:cNvSpPr>
            <a:spLocks noGrp="1" noChangeAspect="1"/>
          </p:cNvSpPr>
          <p:nvPr>
            <p:ph type="pic" idx="22"/>
          </p:nvPr>
        </p:nvSpPr>
        <p:spPr>
          <a:xfrm>
            <a:off x="7852442" y="2666998"/>
            <a:ext cx="3194969" cy="1524000"/>
          </a:xfrm>
          <a:prstGeom prst="round2DiagRect">
            <a:avLst/>
          </a:prstGeom>
          <a:ln w="19050" cap="sq">
            <a:solidFill>
              <a:schemeClr val="tx2">
                <a:lumMod val="60000"/>
                <a:lumOff val="40000"/>
                <a:alpha val="60000"/>
              </a:schemeClr>
            </a:solidFill>
            <a:miter lim="800000"/>
          </a:ln>
          <a:effectLst>
            <a:outerShdw blurRad="88900" dist="38100" dir="5400000" algn="t" rotWithShape="0">
              <a:prstClr val="black">
                <a:alpha val="40000"/>
              </a:prstClr>
            </a:outerShdw>
          </a:effectLst>
        </p:spPr>
        <p:txBody>
          <a:bodyPr vert="horz" lIns="91440" tIns="45720" rIns="91440" bIns="45720" rtlCol="0" anchor="t">
            <a:normAutofit/>
          </a:bodyPr>
          <a:lstStyle>
            <a:lvl1pPr>
              <a:buNone/>
              <a:defRPr lang="en-US" sz="2000" dirty="0"/>
            </a:lvl1pPr>
          </a:lstStyle>
          <a:p>
            <a:pPr marL="0" lvl="0" indent="0">
              <a:buNone/>
            </a:pPr>
            <a:r>
              <a:rPr lang="en-US"/>
              <a:t>Click icon to add picture</a:t>
            </a:r>
            <a:endParaRPr lang="en-US" dirty="0"/>
          </a:p>
        </p:txBody>
      </p:sp>
      <p:sp>
        <p:nvSpPr>
          <p:cNvPr id="27" name="Text Placeholder 3"/>
          <p:cNvSpPr>
            <a:spLocks noGrp="1"/>
          </p:cNvSpPr>
          <p:nvPr>
            <p:ph type="body" sz="half" idx="20"/>
          </p:nvPr>
        </p:nvSpPr>
        <p:spPr>
          <a:xfrm>
            <a:off x="7852442" y="4980854"/>
            <a:ext cx="3194968" cy="810345"/>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3" name="Date Placeholder 2"/>
          <p:cNvSpPr>
            <a:spLocks noGrp="1"/>
          </p:cNvSpPr>
          <p:nvPr>
            <p:ph type="dt" sz="half" idx="10"/>
          </p:nvPr>
        </p:nvSpPr>
        <p:spPr/>
        <p:txBody>
          <a:bodyPr/>
          <a:lstStyle/>
          <a:p>
            <a:fld id="{48A87A34-81AB-432B-8DAE-1953F412C126}" type="datetimeFigureOut">
              <a:rPr lang="en-US" dirty="0"/>
              <a:t>7/21/2020</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48A87A34-81AB-432B-8DAE-1953F412C126}" type="datetimeFigureOut">
              <a:rPr lang="en-US" dirty="0"/>
              <a:t>7/21/2020</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9042400" y="609599"/>
            <a:ext cx="2005011" cy="5181601"/>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1141410" y="609599"/>
            <a:ext cx="7748590" cy="5181601"/>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48A87A34-81AB-432B-8DAE-1953F412C126}" type="datetimeFigureOut">
              <a:rPr lang="en-US" dirty="0"/>
              <a:t>7/21/2020</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image" Target="../media/image2.png"/><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pic>
        <p:nvPicPr>
          <p:cNvPr id="7" name="Picture 2" descr="\\DROBO-FS\QuickDrops\JB\PPTX NG\Droplets\LightingOverlay.png"/>
          <p:cNvPicPr>
            <a:picLocks noChangeAspect="1" noChangeArrowheads="1"/>
          </p:cNvPicPr>
          <p:nvPr/>
        </p:nvPicPr>
        <p:blipFill>
          <a:blip r:embed="rId19">
            <a:alphaModFix amt="30000"/>
            <a:duotone>
              <a:prstClr val="black"/>
              <a:schemeClr val="tx2">
                <a:tint val="45000"/>
                <a:satMod val="400000"/>
              </a:schemeClr>
            </a:duotone>
            <a:extLst>
              <a:ext uri="{28A0092B-C50C-407E-A947-70E740481C1C}">
                <a14:useLocalDpi xmlns:a14="http://schemas.microsoft.com/office/drawing/2010/main" val="0"/>
              </a:ext>
            </a:extLst>
          </a:blip>
          <a:srcRect/>
          <a:stretch>
            <a:fillRect/>
          </a:stretch>
        </p:blipFill>
        <p:spPr bwMode="auto">
          <a:xfrm>
            <a:off x="0" y="-1"/>
            <a:ext cx="12192003" cy="6858001"/>
          </a:xfrm>
          <a:prstGeom prst="rect">
            <a:avLst/>
          </a:prstGeom>
          <a:noFill/>
          <a:extLst>
            <a:ext uri="{909E8E84-426E-40dd-AFC4-6F175D3DCCD1}">
              <a14:hiddenFill xmlns:a14="http://schemas.microsoft.com/office/drawing/2010/main" xmlns="">
                <a:solidFill>
                  <a:srgbClr val="FFFFFF"/>
                </a:solidFill>
              </a14:hiddenFill>
            </a:ext>
          </a:extLst>
        </p:spPr>
      </p:pic>
      <p:grpSp>
        <p:nvGrpSpPr>
          <p:cNvPr id="8" name="Group 7"/>
          <p:cNvGrpSpPr/>
          <p:nvPr/>
        </p:nvGrpSpPr>
        <p:grpSpPr>
          <a:xfrm>
            <a:off x="-14288" y="0"/>
            <a:ext cx="12053888" cy="6858001"/>
            <a:chOff x="-14288" y="0"/>
            <a:chExt cx="12053888" cy="6858001"/>
          </a:xfrm>
          <a:gradFill flip="none" rotWithShape="1">
            <a:gsLst>
              <a:gs pos="0">
                <a:schemeClr val="tx2"/>
              </a:gs>
              <a:gs pos="100000">
                <a:schemeClr val="tx2">
                  <a:lumMod val="50000"/>
                </a:schemeClr>
              </a:gs>
            </a:gsLst>
            <a:lin ang="5400000" scaled="0"/>
            <a:tileRect/>
          </a:gradFill>
        </p:grpSpPr>
        <p:grpSp>
          <p:nvGrpSpPr>
            <p:cNvPr id="9" name="Group 8"/>
            <p:cNvGrpSpPr/>
            <p:nvPr/>
          </p:nvGrpSpPr>
          <p:grpSpPr>
            <a:xfrm>
              <a:off x="-14288" y="0"/>
              <a:ext cx="1220788" cy="6858001"/>
              <a:chOff x="-14288" y="0"/>
              <a:chExt cx="1220788" cy="6858001"/>
            </a:xfrm>
            <a:grpFill/>
          </p:grpSpPr>
          <p:sp>
            <p:nvSpPr>
              <p:cNvPr id="21" name="Rectangle 5"/>
              <p:cNvSpPr>
                <a:spLocks noChangeArrowheads="1"/>
              </p:cNvSpPr>
              <p:nvPr/>
            </p:nvSpPr>
            <p:spPr bwMode="auto">
              <a:xfrm>
                <a:off x="114300" y="4763"/>
                <a:ext cx="23813" cy="2181225"/>
              </a:xfrm>
              <a:prstGeom prst="rect">
                <a:avLst/>
              </a:prstGeom>
              <a:grpFill/>
              <a:ln>
                <a:noFill/>
              </a:ln>
              <a:extLst>
                <a:ext uri="{91240B29-F687-4f45-9708-019B960494DF}">
                  <a14:hiddenLine xmlns:a14="http://schemas.microsoft.com/office/drawing/2010/main" xmlns="" w="9525">
                    <a:solidFill>
                      <a:srgbClr val="000000"/>
                    </a:solidFill>
                    <a:miter lim="800000"/>
                    <a:headEnd/>
                    <a:tailEnd/>
                  </a14:hiddenLine>
                </a:ext>
              </a:extLst>
            </p:spPr>
          </p:sp>
          <p:sp>
            <p:nvSpPr>
              <p:cNvPr id="22" name="Freeform 6"/>
              <p:cNvSpPr>
                <a:spLocks noEditPoints="1"/>
              </p:cNvSpPr>
              <p:nvPr/>
            </p:nvSpPr>
            <p:spPr bwMode="auto">
              <a:xfrm>
                <a:off x="33337" y="217646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3" name="Freeform 7"/>
              <p:cNvSpPr>
                <a:spLocks noEditPoints="1"/>
              </p:cNvSpPr>
              <p:nvPr/>
            </p:nvSpPr>
            <p:spPr bwMode="auto">
              <a:xfrm>
                <a:off x="28575" y="4021138"/>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4" name="Freeform 8"/>
              <p:cNvSpPr/>
              <p:nvPr/>
            </p:nvSpPr>
            <p:spPr bwMode="auto">
              <a:xfrm>
                <a:off x="200025" y="4763"/>
                <a:ext cx="369888" cy="1811338"/>
              </a:xfrm>
              <a:custGeom>
                <a:avLst/>
                <a:gdLst/>
                <a:ahLst/>
                <a:cxnLst/>
                <a:rect l="0" t="0" r="r" b="b"/>
                <a:pathLst>
                  <a:path w="233" h="1141">
                    <a:moveTo>
                      <a:pt x="218" y="1141"/>
                    </a:moveTo>
                    <a:lnTo>
                      <a:pt x="0" y="626"/>
                    </a:lnTo>
                    <a:lnTo>
                      <a:pt x="0" y="0"/>
                    </a:lnTo>
                    <a:lnTo>
                      <a:pt x="15" y="0"/>
                    </a:lnTo>
                    <a:lnTo>
                      <a:pt x="15" y="623"/>
                    </a:lnTo>
                    <a:lnTo>
                      <a:pt x="233" y="1135"/>
                    </a:lnTo>
                    <a:lnTo>
                      <a:pt x="218" y="1141"/>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5" name="Freeform 9"/>
              <p:cNvSpPr>
                <a:spLocks noEditPoints="1"/>
              </p:cNvSpPr>
              <p:nvPr/>
            </p:nvSpPr>
            <p:spPr bwMode="auto">
              <a:xfrm>
                <a:off x="503237" y="1801813"/>
                <a:ext cx="190500" cy="188913"/>
              </a:xfrm>
              <a:custGeom>
                <a:avLst/>
                <a:gdLst/>
                <a:ahLst/>
                <a:cxnLst/>
                <a:rect l="0" t="0" r="r" b="b"/>
                <a:pathLst>
                  <a:path w="40" h="40">
                    <a:moveTo>
                      <a:pt x="20" y="40"/>
                    </a:moveTo>
                    <a:cubicBezTo>
                      <a:pt x="9" y="40"/>
                      <a:pt x="0" y="31"/>
                      <a:pt x="0" y="20"/>
                    </a:cubicBezTo>
                    <a:cubicBezTo>
                      <a:pt x="0" y="9"/>
                      <a:pt x="9" y="0"/>
                      <a:pt x="20" y="0"/>
                    </a:cubicBezTo>
                    <a:cubicBezTo>
                      <a:pt x="33" y="0"/>
                      <a:pt x="40" y="6"/>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9"/>
                      <a:pt x="31"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6" name="Freeform 10"/>
              <p:cNvSpPr/>
              <p:nvPr/>
            </p:nvSpPr>
            <p:spPr bwMode="auto">
              <a:xfrm>
                <a:off x="285750" y="4763"/>
                <a:ext cx="369888" cy="1430338"/>
              </a:xfrm>
              <a:custGeom>
                <a:avLst/>
                <a:gdLst/>
                <a:ahLst/>
                <a:cxnLst/>
                <a:rect l="0" t="0" r="r" b="b"/>
                <a:pathLst>
                  <a:path w="233" h="901">
                    <a:moveTo>
                      <a:pt x="221" y="901"/>
                    </a:moveTo>
                    <a:lnTo>
                      <a:pt x="0" y="383"/>
                    </a:lnTo>
                    <a:lnTo>
                      <a:pt x="0" y="0"/>
                    </a:lnTo>
                    <a:lnTo>
                      <a:pt x="18" y="0"/>
                    </a:lnTo>
                    <a:lnTo>
                      <a:pt x="18" y="380"/>
                    </a:lnTo>
                    <a:lnTo>
                      <a:pt x="233" y="895"/>
                    </a:lnTo>
                    <a:lnTo>
                      <a:pt x="221" y="901"/>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7" name="Freeform 11"/>
              <p:cNvSpPr/>
              <p:nvPr/>
            </p:nvSpPr>
            <p:spPr bwMode="auto">
              <a:xfrm>
                <a:off x="546100" y="0"/>
                <a:ext cx="152400" cy="912813"/>
              </a:xfrm>
              <a:custGeom>
                <a:avLst/>
                <a:gdLst/>
                <a:ahLst/>
                <a:cxnLst/>
                <a:rect l="0" t="0" r="r" b="b"/>
                <a:pathLst>
                  <a:path w="96" h="575">
                    <a:moveTo>
                      <a:pt x="96" y="575"/>
                    </a:moveTo>
                    <a:lnTo>
                      <a:pt x="78" y="575"/>
                    </a:lnTo>
                    <a:lnTo>
                      <a:pt x="78" y="192"/>
                    </a:lnTo>
                    <a:lnTo>
                      <a:pt x="0" y="6"/>
                    </a:lnTo>
                    <a:lnTo>
                      <a:pt x="15" y="0"/>
                    </a:lnTo>
                    <a:lnTo>
                      <a:pt x="96" y="189"/>
                    </a:lnTo>
                    <a:lnTo>
                      <a:pt x="96" y="575"/>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8" name="Freeform 12"/>
              <p:cNvSpPr>
                <a:spLocks noEditPoints="1"/>
              </p:cNvSpPr>
              <p:nvPr/>
            </p:nvSpPr>
            <p:spPr bwMode="auto">
              <a:xfrm>
                <a:off x="588962" y="1420813"/>
                <a:ext cx="190500" cy="190500"/>
              </a:xfrm>
              <a:custGeom>
                <a:avLst/>
                <a:gdLst/>
                <a:ahLst/>
                <a:cxnLst/>
                <a:rect l="0" t="0" r="r" b="b"/>
                <a:pathLst>
                  <a:path w="40" h="40">
                    <a:moveTo>
                      <a:pt x="20" y="40"/>
                    </a:moveTo>
                    <a:cubicBezTo>
                      <a:pt x="9" y="40"/>
                      <a:pt x="0" y="31"/>
                      <a:pt x="0" y="20"/>
                    </a:cubicBezTo>
                    <a:cubicBezTo>
                      <a:pt x="0" y="9"/>
                      <a:pt x="9" y="0"/>
                      <a:pt x="20" y="0"/>
                    </a:cubicBezTo>
                    <a:cubicBezTo>
                      <a:pt x="33" y="0"/>
                      <a:pt x="40" y="7"/>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9"/>
                      <a:pt x="31"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9" name="Freeform 13"/>
              <p:cNvSpPr>
                <a:spLocks noEditPoints="1"/>
              </p:cNvSpPr>
              <p:nvPr/>
            </p:nvSpPr>
            <p:spPr bwMode="auto">
              <a:xfrm>
                <a:off x="588962" y="9032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0" name="Freeform 14"/>
              <p:cNvSpPr/>
              <p:nvPr/>
            </p:nvSpPr>
            <p:spPr bwMode="auto">
              <a:xfrm>
                <a:off x="641350" y="0"/>
                <a:ext cx="422275" cy="527050"/>
              </a:xfrm>
              <a:custGeom>
                <a:avLst/>
                <a:gdLst/>
                <a:ahLst/>
                <a:cxnLst/>
                <a:rect l="0" t="0" r="r" b="b"/>
                <a:pathLst>
                  <a:path w="266" h="332">
                    <a:moveTo>
                      <a:pt x="257" y="332"/>
                    </a:moveTo>
                    <a:lnTo>
                      <a:pt x="48" y="123"/>
                    </a:lnTo>
                    <a:lnTo>
                      <a:pt x="0" y="6"/>
                    </a:lnTo>
                    <a:lnTo>
                      <a:pt x="15" y="0"/>
                    </a:lnTo>
                    <a:lnTo>
                      <a:pt x="63" y="114"/>
                    </a:lnTo>
                    <a:lnTo>
                      <a:pt x="266" y="320"/>
                    </a:lnTo>
                    <a:lnTo>
                      <a:pt x="257" y="332"/>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1" name="Freeform 15"/>
              <p:cNvSpPr>
                <a:spLocks noEditPoints="1"/>
              </p:cNvSpPr>
              <p:nvPr/>
            </p:nvSpPr>
            <p:spPr bwMode="auto">
              <a:xfrm>
                <a:off x="1020762" y="488950"/>
                <a:ext cx="161925" cy="147638"/>
              </a:xfrm>
              <a:custGeom>
                <a:avLst/>
                <a:gdLst/>
                <a:ahLst/>
                <a:cxnLst/>
                <a:rect l="0" t="0" r="r" b="b"/>
                <a:pathLst>
                  <a:path w="34" h="31">
                    <a:moveTo>
                      <a:pt x="17" y="31"/>
                    </a:moveTo>
                    <a:cubicBezTo>
                      <a:pt x="13" y="31"/>
                      <a:pt x="9" y="30"/>
                      <a:pt x="6" y="27"/>
                    </a:cubicBezTo>
                    <a:cubicBezTo>
                      <a:pt x="0" y="20"/>
                      <a:pt x="0" y="10"/>
                      <a:pt x="6" y="4"/>
                    </a:cubicBezTo>
                    <a:cubicBezTo>
                      <a:pt x="9" y="1"/>
                      <a:pt x="13" y="0"/>
                      <a:pt x="17" y="0"/>
                    </a:cubicBezTo>
                    <a:cubicBezTo>
                      <a:pt x="21" y="0"/>
                      <a:pt x="25" y="1"/>
                      <a:pt x="28" y="4"/>
                    </a:cubicBezTo>
                    <a:cubicBezTo>
                      <a:pt x="34" y="10"/>
                      <a:pt x="34" y="20"/>
                      <a:pt x="28" y="27"/>
                    </a:cubicBezTo>
                    <a:cubicBezTo>
                      <a:pt x="25" y="30"/>
                      <a:pt x="21" y="31"/>
                      <a:pt x="17" y="31"/>
                    </a:cubicBezTo>
                    <a:close/>
                    <a:moveTo>
                      <a:pt x="17" y="4"/>
                    </a:moveTo>
                    <a:cubicBezTo>
                      <a:pt x="14" y="4"/>
                      <a:pt x="11" y="5"/>
                      <a:pt x="9" y="7"/>
                    </a:cubicBezTo>
                    <a:cubicBezTo>
                      <a:pt x="4" y="12"/>
                      <a:pt x="4" y="19"/>
                      <a:pt x="9" y="24"/>
                    </a:cubicBezTo>
                    <a:cubicBezTo>
                      <a:pt x="11" y="26"/>
                      <a:pt x="14" y="27"/>
                      <a:pt x="17" y="27"/>
                    </a:cubicBezTo>
                    <a:cubicBezTo>
                      <a:pt x="20" y="27"/>
                      <a:pt x="23" y="26"/>
                      <a:pt x="25" y="24"/>
                    </a:cubicBezTo>
                    <a:cubicBezTo>
                      <a:pt x="30" y="19"/>
                      <a:pt x="30" y="12"/>
                      <a:pt x="25" y="7"/>
                    </a:cubicBezTo>
                    <a:cubicBezTo>
                      <a:pt x="23" y="5"/>
                      <a:pt x="20" y="4"/>
                      <a:pt x="17"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2" name="Line 16"/>
              <p:cNvSpPr>
                <a:spLocks noChangeShapeType="1"/>
              </p:cNvSpPr>
              <p:nvPr/>
            </p:nvSpPr>
            <p:spPr bwMode="auto">
              <a:xfrm>
                <a:off x="-4763" y="9525"/>
                <a:ext cx="0" cy="0"/>
              </a:xfrm>
              <a:prstGeom prst="line">
                <a:avLst/>
              </a:prstGeom>
              <a:grpFill/>
              <a:ln w="15" cap="flat">
                <a:solidFill>
                  <a:srgbClr val="FFFFFF"/>
                </a:solidFill>
                <a:prstDash val="solid"/>
                <a:miter lim="800000"/>
                <a:headEnd/>
                <a:tailEnd/>
              </a:ln>
            </p:spPr>
          </p:sp>
          <p:sp>
            <p:nvSpPr>
              <p:cNvPr id="33" name="Freeform 17"/>
              <p:cNvSpPr/>
              <p:nvPr/>
            </p:nvSpPr>
            <p:spPr bwMode="auto">
              <a:xfrm>
                <a:off x="9525" y="1801813"/>
                <a:ext cx="123825" cy="127000"/>
              </a:xfrm>
              <a:custGeom>
                <a:avLst/>
                <a:gdLst/>
                <a:ahLst/>
                <a:cxnLst/>
                <a:rect l="0" t="0" r="r" b="b"/>
                <a:pathLst>
                  <a:path w="78" h="80">
                    <a:moveTo>
                      <a:pt x="6" y="80"/>
                    </a:moveTo>
                    <a:lnTo>
                      <a:pt x="0" y="71"/>
                    </a:lnTo>
                    <a:lnTo>
                      <a:pt x="69" y="0"/>
                    </a:lnTo>
                    <a:lnTo>
                      <a:pt x="78" y="9"/>
                    </a:lnTo>
                    <a:lnTo>
                      <a:pt x="6" y="80"/>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4" name="Freeform 18"/>
              <p:cNvSpPr/>
              <p:nvPr/>
            </p:nvSpPr>
            <p:spPr bwMode="auto">
              <a:xfrm>
                <a:off x="-9525" y="3549650"/>
                <a:ext cx="147638" cy="481013"/>
              </a:xfrm>
              <a:custGeom>
                <a:avLst/>
                <a:gdLst/>
                <a:ahLst/>
                <a:cxnLst/>
                <a:rect l="0" t="0" r="r" b="b"/>
                <a:pathLst>
                  <a:path w="93" h="303">
                    <a:moveTo>
                      <a:pt x="93" y="303"/>
                    </a:moveTo>
                    <a:lnTo>
                      <a:pt x="78" y="303"/>
                    </a:lnTo>
                    <a:lnTo>
                      <a:pt x="78" y="78"/>
                    </a:lnTo>
                    <a:lnTo>
                      <a:pt x="0" y="12"/>
                    </a:lnTo>
                    <a:lnTo>
                      <a:pt x="12" y="0"/>
                    </a:lnTo>
                    <a:lnTo>
                      <a:pt x="93" y="69"/>
                    </a:lnTo>
                    <a:lnTo>
                      <a:pt x="93" y="303"/>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5" name="Freeform 19"/>
              <p:cNvSpPr/>
              <p:nvPr/>
            </p:nvSpPr>
            <p:spPr bwMode="auto">
              <a:xfrm>
                <a:off x="128587" y="1382713"/>
                <a:ext cx="142875" cy="476250"/>
              </a:xfrm>
              <a:custGeom>
                <a:avLst/>
                <a:gdLst/>
                <a:ahLst/>
                <a:cxnLst/>
                <a:rect l="0" t="0" r="r" b="b"/>
                <a:pathLst>
                  <a:path w="90" h="300">
                    <a:moveTo>
                      <a:pt x="90" y="300"/>
                    </a:moveTo>
                    <a:lnTo>
                      <a:pt x="78" y="300"/>
                    </a:lnTo>
                    <a:lnTo>
                      <a:pt x="78" y="84"/>
                    </a:lnTo>
                    <a:lnTo>
                      <a:pt x="0" y="9"/>
                    </a:lnTo>
                    <a:lnTo>
                      <a:pt x="9" y="0"/>
                    </a:lnTo>
                    <a:lnTo>
                      <a:pt x="90" y="81"/>
                    </a:lnTo>
                    <a:lnTo>
                      <a:pt x="90" y="300"/>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6" name="Freeform 20"/>
              <p:cNvSpPr>
                <a:spLocks noEditPoints="1"/>
              </p:cNvSpPr>
              <p:nvPr/>
            </p:nvSpPr>
            <p:spPr bwMode="auto">
              <a:xfrm>
                <a:off x="204787" y="1849438"/>
                <a:ext cx="114300" cy="107950"/>
              </a:xfrm>
              <a:custGeom>
                <a:avLst/>
                <a:gdLst/>
                <a:ahLst/>
                <a:cxnLst/>
                <a:rect l="0" t="0" r="r" b="b"/>
                <a:pathLst>
                  <a:path w="24" h="23">
                    <a:moveTo>
                      <a:pt x="12" y="23"/>
                    </a:moveTo>
                    <a:cubicBezTo>
                      <a:pt x="6" y="23"/>
                      <a:pt x="0" y="18"/>
                      <a:pt x="0" y="12"/>
                    </a:cubicBezTo>
                    <a:cubicBezTo>
                      <a:pt x="0" y="5"/>
                      <a:pt x="6" y="0"/>
                      <a:pt x="12" y="0"/>
                    </a:cubicBezTo>
                    <a:cubicBezTo>
                      <a:pt x="18" y="0"/>
                      <a:pt x="24" y="5"/>
                      <a:pt x="24" y="12"/>
                    </a:cubicBezTo>
                    <a:cubicBezTo>
                      <a:pt x="24" y="18"/>
                      <a:pt x="18" y="23"/>
                      <a:pt x="12" y="23"/>
                    </a:cubicBezTo>
                    <a:close/>
                    <a:moveTo>
                      <a:pt x="12" y="4"/>
                    </a:moveTo>
                    <a:cubicBezTo>
                      <a:pt x="8" y="4"/>
                      <a:pt x="4" y="8"/>
                      <a:pt x="4" y="12"/>
                    </a:cubicBezTo>
                    <a:cubicBezTo>
                      <a:pt x="4" y="16"/>
                      <a:pt x="8" y="19"/>
                      <a:pt x="12" y="19"/>
                    </a:cubicBezTo>
                    <a:cubicBezTo>
                      <a:pt x="16" y="19"/>
                      <a:pt x="20" y="16"/>
                      <a:pt x="20" y="12"/>
                    </a:cubicBezTo>
                    <a:cubicBezTo>
                      <a:pt x="20" y="8"/>
                      <a:pt x="16" y="4"/>
                      <a:pt x="12"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7" name="Rectangle 21"/>
              <p:cNvSpPr>
                <a:spLocks noChangeArrowheads="1"/>
              </p:cNvSpPr>
              <p:nvPr/>
            </p:nvSpPr>
            <p:spPr bwMode="auto">
              <a:xfrm>
                <a:off x="133350" y="4662488"/>
                <a:ext cx="23813" cy="2181225"/>
              </a:xfrm>
              <a:prstGeom prst="rect">
                <a:avLst/>
              </a:prstGeom>
              <a:grpFill/>
              <a:ln>
                <a:noFill/>
              </a:ln>
              <a:extLst>
                <a:ext uri="{91240B29-F687-4f45-9708-019B960494DF}">
                  <a14:hiddenLine xmlns:a14="http://schemas.microsoft.com/office/drawing/2010/main" xmlns="" w="9525">
                    <a:solidFill>
                      <a:srgbClr val="000000"/>
                    </a:solidFill>
                    <a:miter lim="800000"/>
                    <a:headEnd/>
                    <a:tailEnd/>
                  </a14:hiddenLine>
                </a:ext>
              </a:extLst>
            </p:spPr>
          </p:sp>
          <p:sp>
            <p:nvSpPr>
              <p:cNvPr id="38" name="Freeform 22"/>
              <p:cNvSpPr/>
              <p:nvPr/>
            </p:nvSpPr>
            <p:spPr bwMode="auto">
              <a:xfrm>
                <a:off x="223837" y="5041900"/>
                <a:ext cx="369888" cy="1801813"/>
              </a:xfrm>
              <a:custGeom>
                <a:avLst/>
                <a:gdLst/>
                <a:ahLst/>
                <a:cxnLst/>
                <a:rect l="0" t="0" r="r" b="b"/>
                <a:pathLst>
                  <a:path w="233" h="1135">
                    <a:moveTo>
                      <a:pt x="15" y="1135"/>
                    </a:moveTo>
                    <a:lnTo>
                      <a:pt x="0" y="1135"/>
                    </a:lnTo>
                    <a:lnTo>
                      <a:pt x="0" y="515"/>
                    </a:lnTo>
                    <a:lnTo>
                      <a:pt x="0" y="512"/>
                    </a:lnTo>
                    <a:lnTo>
                      <a:pt x="218" y="0"/>
                    </a:lnTo>
                    <a:lnTo>
                      <a:pt x="233" y="6"/>
                    </a:lnTo>
                    <a:lnTo>
                      <a:pt x="15" y="518"/>
                    </a:lnTo>
                    <a:lnTo>
                      <a:pt x="15" y="1135"/>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9" name="Freeform 23"/>
              <p:cNvSpPr>
                <a:spLocks noEditPoints="1"/>
              </p:cNvSpPr>
              <p:nvPr/>
            </p:nvSpPr>
            <p:spPr bwMode="auto">
              <a:xfrm>
                <a:off x="52387" y="44815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40" name="Freeform 24"/>
              <p:cNvSpPr/>
              <p:nvPr/>
            </p:nvSpPr>
            <p:spPr bwMode="auto">
              <a:xfrm>
                <a:off x="-14288" y="5627688"/>
                <a:ext cx="85725" cy="1216025"/>
              </a:xfrm>
              <a:custGeom>
                <a:avLst/>
                <a:gdLst/>
                <a:ahLst/>
                <a:cxnLst/>
                <a:rect l="0" t="0" r="r" b="b"/>
                <a:pathLst>
                  <a:path w="54" h="766">
                    <a:moveTo>
                      <a:pt x="54" y="766"/>
                    </a:moveTo>
                    <a:lnTo>
                      <a:pt x="36" y="766"/>
                    </a:lnTo>
                    <a:lnTo>
                      <a:pt x="36" y="149"/>
                    </a:lnTo>
                    <a:lnTo>
                      <a:pt x="0" y="3"/>
                    </a:lnTo>
                    <a:lnTo>
                      <a:pt x="18" y="0"/>
                    </a:lnTo>
                    <a:lnTo>
                      <a:pt x="54" y="146"/>
                    </a:lnTo>
                    <a:lnTo>
                      <a:pt x="54" y="766"/>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41" name="Freeform 25"/>
              <p:cNvSpPr>
                <a:spLocks noEditPoints="1"/>
              </p:cNvSpPr>
              <p:nvPr/>
            </p:nvSpPr>
            <p:spPr bwMode="auto">
              <a:xfrm>
                <a:off x="527050" y="4867275"/>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42" name="Freeform 26"/>
              <p:cNvSpPr/>
              <p:nvPr/>
            </p:nvSpPr>
            <p:spPr bwMode="auto">
              <a:xfrm>
                <a:off x="309562" y="5422900"/>
                <a:ext cx="374650" cy="1425575"/>
              </a:xfrm>
              <a:custGeom>
                <a:avLst/>
                <a:gdLst/>
                <a:ahLst/>
                <a:cxnLst/>
                <a:rect l="0" t="0" r="r" b="b"/>
                <a:pathLst>
                  <a:path w="236" h="898">
                    <a:moveTo>
                      <a:pt x="18" y="898"/>
                    </a:moveTo>
                    <a:lnTo>
                      <a:pt x="0" y="898"/>
                    </a:lnTo>
                    <a:lnTo>
                      <a:pt x="0" y="515"/>
                    </a:lnTo>
                    <a:lnTo>
                      <a:pt x="3" y="512"/>
                    </a:lnTo>
                    <a:lnTo>
                      <a:pt x="221" y="0"/>
                    </a:lnTo>
                    <a:lnTo>
                      <a:pt x="236" y="6"/>
                    </a:lnTo>
                    <a:lnTo>
                      <a:pt x="18" y="518"/>
                    </a:lnTo>
                    <a:lnTo>
                      <a:pt x="18" y="898"/>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43" name="Freeform 27"/>
              <p:cNvSpPr/>
              <p:nvPr/>
            </p:nvSpPr>
            <p:spPr bwMode="auto">
              <a:xfrm>
                <a:off x="569912" y="5945188"/>
                <a:ext cx="152400" cy="912813"/>
              </a:xfrm>
              <a:custGeom>
                <a:avLst/>
                <a:gdLst/>
                <a:ahLst/>
                <a:cxnLst/>
                <a:rect l="0" t="0" r="r" b="b"/>
                <a:pathLst>
                  <a:path w="96" h="575">
                    <a:moveTo>
                      <a:pt x="15" y="575"/>
                    </a:moveTo>
                    <a:lnTo>
                      <a:pt x="0" y="569"/>
                    </a:lnTo>
                    <a:lnTo>
                      <a:pt x="81" y="383"/>
                    </a:lnTo>
                    <a:lnTo>
                      <a:pt x="81" y="0"/>
                    </a:lnTo>
                    <a:lnTo>
                      <a:pt x="96" y="0"/>
                    </a:lnTo>
                    <a:lnTo>
                      <a:pt x="96" y="386"/>
                    </a:lnTo>
                    <a:lnTo>
                      <a:pt x="15" y="575"/>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44" name="Freeform 28"/>
              <p:cNvSpPr>
                <a:spLocks noEditPoints="1"/>
              </p:cNvSpPr>
              <p:nvPr/>
            </p:nvSpPr>
            <p:spPr bwMode="auto">
              <a:xfrm>
                <a:off x="612775" y="52466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45" name="Freeform 29"/>
              <p:cNvSpPr>
                <a:spLocks noEditPoints="1"/>
              </p:cNvSpPr>
              <p:nvPr/>
            </p:nvSpPr>
            <p:spPr bwMode="auto">
              <a:xfrm>
                <a:off x="612775" y="57642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46" name="Freeform 30"/>
              <p:cNvSpPr/>
              <p:nvPr/>
            </p:nvSpPr>
            <p:spPr bwMode="auto">
              <a:xfrm>
                <a:off x="669925" y="6330950"/>
                <a:ext cx="417513" cy="517525"/>
              </a:xfrm>
              <a:custGeom>
                <a:avLst/>
                <a:gdLst/>
                <a:ahLst/>
                <a:cxnLst/>
                <a:rect l="0" t="0" r="r" b="b"/>
                <a:pathLst>
                  <a:path w="263" h="326">
                    <a:moveTo>
                      <a:pt x="15" y="326"/>
                    </a:moveTo>
                    <a:lnTo>
                      <a:pt x="0" y="320"/>
                    </a:lnTo>
                    <a:lnTo>
                      <a:pt x="45" y="206"/>
                    </a:lnTo>
                    <a:lnTo>
                      <a:pt x="48" y="206"/>
                    </a:lnTo>
                    <a:lnTo>
                      <a:pt x="254" y="0"/>
                    </a:lnTo>
                    <a:lnTo>
                      <a:pt x="263" y="12"/>
                    </a:lnTo>
                    <a:lnTo>
                      <a:pt x="60" y="215"/>
                    </a:lnTo>
                    <a:lnTo>
                      <a:pt x="15" y="326"/>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47" name="Freeform 31"/>
              <p:cNvSpPr>
                <a:spLocks noEditPoints="1"/>
              </p:cNvSpPr>
              <p:nvPr/>
            </p:nvSpPr>
            <p:spPr bwMode="auto">
              <a:xfrm>
                <a:off x="1049337" y="6221413"/>
                <a:ext cx="157163" cy="147638"/>
              </a:xfrm>
              <a:custGeom>
                <a:avLst/>
                <a:gdLst/>
                <a:ahLst/>
                <a:cxnLst/>
                <a:rect l="0" t="0" r="r" b="b"/>
                <a:pathLst>
                  <a:path w="33" h="31">
                    <a:moveTo>
                      <a:pt x="16" y="31"/>
                    </a:moveTo>
                    <a:cubicBezTo>
                      <a:pt x="12" y="31"/>
                      <a:pt x="8" y="29"/>
                      <a:pt x="5" y="26"/>
                    </a:cubicBezTo>
                    <a:cubicBezTo>
                      <a:pt x="2" y="24"/>
                      <a:pt x="0" y="20"/>
                      <a:pt x="0" y="15"/>
                    </a:cubicBezTo>
                    <a:cubicBezTo>
                      <a:pt x="0" y="11"/>
                      <a:pt x="2" y="7"/>
                      <a:pt x="5" y="4"/>
                    </a:cubicBezTo>
                    <a:cubicBezTo>
                      <a:pt x="8" y="1"/>
                      <a:pt x="12" y="0"/>
                      <a:pt x="16" y="0"/>
                    </a:cubicBezTo>
                    <a:cubicBezTo>
                      <a:pt x="20" y="0"/>
                      <a:pt x="24" y="1"/>
                      <a:pt x="27" y="4"/>
                    </a:cubicBezTo>
                    <a:cubicBezTo>
                      <a:pt x="33" y="10"/>
                      <a:pt x="33" y="20"/>
                      <a:pt x="27" y="26"/>
                    </a:cubicBezTo>
                    <a:cubicBezTo>
                      <a:pt x="24" y="29"/>
                      <a:pt x="20" y="31"/>
                      <a:pt x="16" y="31"/>
                    </a:cubicBezTo>
                    <a:close/>
                    <a:moveTo>
                      <a:pt x="16" y="4"/>
                    </a:moveTo>
                    <a:cubicBezTo>
                      <a:pt x="13" y="4"/>
                      <a:pt x="10" y="5"/>
                      <a:pt x="8" y="7"/>
                    </a:cubicBezTo>
                    <a:cubicBezTo>
                      <a:pt x="6" y="9"/>
                      <a:pt x="4" y="12"/>
                      <a:pt x="4" y="15"/>
                    </a:cubicBezTo>
                    <a:cubicBezTo>
                      <a:pt x="4" y="19"/>
                      <a:pt x="6" y="21"/>
                      <a:pt x="8" y="24"/>
                    </a:cubicBezTo>
                    <a:cubicBezTo>
                      <a:pt x="10" y="26"/>
                      <a:pt x="13" y="27"/>
                      <a:pt x="16" y="27"/>
                    </a:cubicBezTo>
                    <a:cubicBezTo>
                      <a:pt x="19" y="27"/>
                      <a:pt x="22" y="26"/>
                      <a:pt x="24" y="24"/>
                    </a:cubicBezTo>
                    <a:cubicBezTo>
                      <a:pt x="29" y="19"/>
                      <a:pt x="29" y="12"/>
                      <a:pt x="24" y="7"/>
                    </a:cubicBezTo>
                    <a:cubicBezTo>
                      <a:pt x="22" y="5"/>
                      <a:pt x="19" y="4"/>
                      <a:pt x="16"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grpSp>
        <p:grpSp>
          <p:nvGrpSpPr>
            <p:cNvPr id="10" name="Group 9"/>
            <p:cNvGrpSpPr/>
            <p:nvPr/>
          </p:nvGrpSpPr>
          <p:grpSpPr>
            <a:xfrm>
              <a:off x="11364912" y="0"/>
              <a:ext cx="674688" cy="6848476"/>
              <a:chOff x="11364912" y="0"/>
              <a:chExt cx="674688" cy="6848476"/>
            </a:xfrm>
            <a:grpFill/>
          </p:grpSpPr>
          <p:sp>
            <p:nvSpPr>
              <p:cNvPr id="11" name="Freeform 32"/>
              <p:cNvSpPr/>
              <p:nvPr/>
            </p:nvSpPr>
            <p:spPr bwMode="auto">
              <a:xfrm>
                <a:off x="11483975" y="0"/>
                <a:ext cx="417513" cy="512763"/>
              </a:xfrm>
              <a:custGeom>
                <a:avLst/>
                <a:gdLst/>
                <a:ahLst/>
                <a:cxnLst/>
                <a:rect l="0" t="0" r="r" b="b"/>
                <a:pathLst>
                  <a:path w="263" h="323">
                    <a:moveTo>
                      <a:pt x="12" y="323"/>
                    </a:moveTo>
                    <a:lnTo>
                      <a:pt x="0" y="314"/>
                    </a:lnTo>
                    <a:lnTo>
                      <a:pt x="203" y="108"/>
                    </a:lnTo>
                    <a:lnTo>
                      <a:pt x="248" y="0"/>
                    </a:lnTo>
                    <a:lnTo>
                      <a:pt x="263" y="6"/>
                    </a:lnTo>
                    <a:lnTo>
                      <a:pt x="218" y="117"/>
                    </a:lnTo>
                    <a:lnTo>
                      <a:pt x="218" y="117"/>
                    </a:lnTo>
                    <a:lnTo>
                      <a:pt x="12" y="323"/>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12" name="Freeform 33"/>
              <p:cNvSpPr>
                <a:spLocks noEditPoints="1"/>
              </p:cNvSpPr>
              <p:nvPr/>
            </p:nvSpPr>
            <p:spPr bwMode="auto">
              <a:xfrm>
                <a:off x="11364912" y="474663"/>
                <a:ext cx="157163" cy="152400"/>
              </a:xfrm>
              <a:custGeom>
                <a:avLst/>
                <a:gdLst/>
                <a:ahLst/>
                <a:cxnLst/>
                <a:rect l="0" t="0" r="r" b="b"/>
                <a:pathLst>
                  <a:path w="33" h="32">
                    <a:moveTo>
                      <a:pt x="17" y="32"/>
                    </a:moveTo>
                    <a:cubicBezTo>
                      <a:pt x="13" y="32"/>
                      <a:pt x="9" y="30"/>
                      <a:pt x="6" y="27"/>
                    </a:cubicBezTo>
                    <a:cubicBezTo>
                      <a:pt x="0" y="21"/>
                      <a:pt x="0" y="11"/>
                      <a:pt x="6" y="5"/>
                    </a:cubicBezTo>
                    <a:cubicBezTo>
                      <a:pt x="9" y="2"/>
                      <a:pt x="13" y="0"/>
                      <a:pt x="17" y="0"/>
                    </a:cubicBezTo>
                    <a:cubicBezTo>
                      <a:pt x="21" y="0"/>
                      <a:pt x="25" y="2"/>
                      <a:pt x="28" y="5"/>
                    </a:cubicBezTo>
                    <a:cubicBezTo>
                      <a:pt x="31" y="8"/>
                      <a:pt x="33" y="12"/>
                      <a:pt x="33" y="16"/>
                    </a:cubicBezTo>
                    <a:cubicBezTo>
                      <a:pt x="33" y="20"/>
                      <a:pt x="31" y="24"/>
                      <a:pt x="28" y="27"/>
                    </a:cubicBezTo>
                    <a:cubicBezTo>
                      <a:pt x="25" y="30"/>
                      <a:pt x="21" y="32"/>
                      <a:pt x="17" y="32"/>
                    </a:cubicBezTo>
                    <a:close/>
                    <a:moveTo>
                      <a:pt x="17" y="4"/>
                    </a:moveTo>
                    <a:cubicBezTo>
                      <a:pt x="14" y="4"/>
                      <a:pt x="11" y="6"/>
                      <a:pt x="9" y="8"/>
                    </a:cubicBezTo>
                    <a:cubicBezTo>
                      <a:pt x="4" y="12"/>
                      <a:pt x="4" y="20"/>
                      <a:pt x="9" y="24"/>
                    </a:cubicBezTo>
                    <a:cubicBezTo>
                      <a:pt x="11" y="27"/>
                      <a:pt x="14" y="28"/>
                      <a:pt x="17" y="28"/>
                    </a:cubicBezTo>
                    <a:cubicBezTo>
                      <a:pt x="20" y="28"/>
                      <a:pt x="23" y="27"/>
                      <a:pt x="26" y="24"/>
                    </a:cubicBezTo>
                    <a:cubicBezTo>
                      <a:pt x="30" y="20"/>
                      <a:pt x="30" y="12"/>
                      <a:pt x="26" y="8"/>
                    </a:cubicBezTo>
                    <a:cubicBezTo>
                      <a:pt x="23" y="6"/>
                      <a:pt x="20" y="4"/>
                      <a:pt x="17"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13" name="Freeform 34"/>
              <p:cNvSpPr>
                <a:spLocks noEditPoints="1"/>
              </p:cNvSpPr>
              <p:nvPr/>
            </p:nvSpPr>
            <p:spPr bwMode="auto">
              <a:xfrm>
                <a:off x="11631612" y="1539875"/>
                <a:ext cx="188913"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14" name="Freeform 35"/>
              <p:cNvSpPr/>
              <p:nvPr/>
            </p:nvSpPr>
            <p:spPr bwMode="auto">
              <a:xfrm>
                <a:off x="11531600" y="5694363"/>
                <a:ext cx="298450" cy="1154113"/>
              </a:xfrm>
              <a:custGeom>
                <a:avLst/>
                <a:gdLst/>
                <a:ahLst/>
                <a:cxnLst/>
                <a:rect l="0" t="0" r="r" b="b"/>
                <a:pathLst>
                  <a:path w="188" h="727">
                    <a:moveTo>
                      <a:pt x="15" y="727"/>
                    </a:moveTo>
                    <a:lnTo>
                      <a:pt x="0" y="727"/>
                    </a:lnTo>
                    <a:lnTo>
                      <a:pt x="0" y="407"/>
                    </a:lnTo>
                    <a:lnTo>
                      <a:pt x="0" y="407"/>
                    </a:lnTo>
                    <a:lnTo>
                      <a:pt x="176" y="0"/>
                    </a:lnTo>
                    <a:lnTo>
                      <a:pt x="188" y="6"/>
                    </a:lnTo>
                    <a:lnTo>
                      <a:pt x="15" y="410"/>
                    </a:lnTo>
                    <a:lnTo>
                      <a:pt x="15" y="727"/>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15" name="Freeform 36"/>
              <p:cNvSpPr>
                <a:spLocks noEditPoints="1"/>
              </p:cNvSpPr>
              <p:nvPr/>
            </p:nvSpPr>
            <p:spPr bwMode="auto">
              <a:xfrm>
                <a:off x="11772900" y="5551488"/>
                <a:ext cx="157163" cy="155575"/>
              </a:xfrm>
              <a:custGeom>
                <a:avLst/>
                <a:gdLst/>
                <a:ahLst/>
                <a:cxnLst/>
                <a:rect l="0" t="0" r="r" b="b"/>
                <a:pathLst>
                  <a:path w="33" h="33">
                    <a:moveTo>
                      <a:pt x="17" y="33"/>
                    </a:moveTo>
                    <a:cubicBezTo>
                      <a:pt x="8" y="33"/>
                      <a:pt x="0" y="25"/>
                      <a:pt x="0" y="16"/>
                    </a:cubicBezTo>
                    <a:cubicBezTo>
                      <a:pt x="0" y="7"/>
                      <a:pt x="8" y="0"/>
                      <a:pt x="17" y="0"/>
                    </a:cubicBezTo>
                    <a:cubicBezTo>
                      <a:pt x="26" y="0"/>
                      <a:pt x="33" y="7"/>
                      <a:pt x="33" y="16"/>
                    </a:cubicBezTo>
                    <a:cubicBezTo>
                      <a:pt x="33" y="25"/>
                      <a:pt x="26" y="33"/>
                      <a:pt x="17" y="33"/>
                    </a:cubicBezTo>
                    <a:close/>
                    <a:moveTo>
                      <a:pt x="17" y="4"/>
                    </a:moveTo>
                    <a:cubicBezTo>
                      <a:pt x="10" y="4"/>
                      <a:pt x="4" y="9"/>
                      <a:pt x="4" y="16"/>
                    </a:cubicBezTo>
                    <a:cubicBezTo>
                      <a:pt x="4" y="23"/>
                      <a:pt x="10" y="29"/>
                      <a:pt x="17" y="29"/>
                    </a:cubicBezTo>
                    <a:cubicBezTo>
                      <a:pt x="23" y="29"/>
                      <a:pt x="29" y="23"/>
                      <a:pt x="29" y="16"/>
                    </a:cubicBezTo>
                    <a:cubicBezTo>
                      <a:pt x="29" y="9"/>
                      <a:pt x="23" y="4"/>
                      <a:pt x="17"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16" name="Freeform 37"/>
              <p:cNvSpPr/>
              <p:nvPr/>
            </p:nvSpPr>
            <p:spPr bwMode="auto">
              <a:xfrm>
                <a:off x="11710987" y="4763"/>
                <a:ext cx="304800" cy="1544638"/>
              </a:xfrm>
              <a:custGeom>
                <a:avLst/>
                <a:gdLst/>
                <a:ahLst/>
                <a:cxnLst/>
                <a:rect l="0" t="0" r="r" b="b"/>
                <a:pathLst>
                  <a:path w="192" h="973">
                    <a:moveTo>
                      <a:pt x="15" y="973"/>
                    </a:moveTo>
                    <a:lnTo>
                      <a:pt x="0" y="973"/>
                    </a:lnTo>
                    <a:lnTo>
                      <a:pt x="0" y="790"/>
                    </a:lnTo>
                    <a:lnTo>
                      <a:pt x="174" y="614"/>
                    </a:lnTo>
                    <a:lnTo>
                      <a:pt x="174" y="0"/>
                    </a:lnTo>
                    <a:lnTo>
                      <a:pt x="192" y="0"/>
                    </a:lnTo>
                    <a:lnTo>
                      <a:pt x="192" y="620"/>
                    </a:lnTo>
                    <a:lnTo>
                      <a:pt x="15" y="796"/>
                    </a:lnTo>
                    <a:lnTo>
                      <a:pt x="15" y="973"/>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17" name="Freeform 38"/>
              <p:cNvSpPr>
                <a:spLocks noEditPoints="1"/>
              </p:cNvSpPr>
              <p:nvPr/>
            </p:nvSpPr>
            <p:spPr bwMode="auto">
              <a:xfrm>
                <a:off x="11636375" y="4867275"/>
                <a:ext cx="188913"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18" name="Freeform 39"/>
              <p:cNvSpPr/>
              <p:nvPr/>
            </p:nvSpPr>
            <p:spPr bwMode="auto">
              <a:xfrm>
                <a:off x="11441112" y="5046663"/>
                <a:ext cx="307975" cy="1801813"/>
              </a:xfrm>
              <a:custGeom>
                <a:avLst/>
                <a:gdLst/>
                <a:ahLst/>
                <a:cxnLst/>
                <a:rect l="0" t="0" r="r" b="b"/>
                <a:pathLst>
                  <a:path w="194" h="1135">
                    <a:moveTo>
                      <a:pt x="18" y="1135"/>
                    </a:moveTo>
                    <a:lnTo>
                      <a:pt x="0" y="1135"/>
                    </a:lnTo>
                    <a:lnTo>
                      <a:pt x="0" y="354"/>
                    </a:lnTo>
                    <a:lnTo>
                      <a:pt x="176" y="177"/>
                    </a:lnTo>
                    <a:lnTo>
                      <a:pt x="176" y="0"/>
                    </a:lnTo>
                    <a:lnTo>
                      <a:pt x="194" y="0"/>
                    </a:lnTo>
                    <a:lnTo>
                      <a:pt x="194" y="183"/>
                    </a:lnTo>
                    <a:lnTo>
                      <a:pt x="18" y="360"/>
                    </a:lnTo>
                    <a:lnTo>
                      <a:pt x="18" y="1135"/>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19" name="Freeform 40"/>
              <p:cNvSpPr>
                <a:spLocks noEditPoints="1"/>
              </p:cNvSpPr>
              <p:nvPr/>
            </p:nvSpPr>
            <p:spPr bwMode="auto">
              <a:xfrm>
                <a:off x="11849100" y="6416675"/>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0" name="Rectangle 41"/>
              <p:cNvSpPr>
                <a:spLocks noChangeArrowheads="1"/>
              </p:cNvSpPr>
              <p:nvPr/>
            </p:nvSpPr>
            <p:spPr bwMode="auto">
              <a:xfrm>
                <a:off x="11939587" y="6596063"/>
                <a:ext cx="23813" cy="252413"/>
              </a:xfrm>
              <a:prstGeom prst="rect">
                <a:avLst/>
              </a:prstGeom>
              <a:grpFill/>
              <a:ln>
                <a:noFill/>
              </a:ln>
              <a:extLst>
                <a:ext uri="{91240B29-F687-4f45-9708-019B960494DF}">
                  <a14:hiddenLine xmlns:a14="http://schemas.microsoft.com/office/drawing/2010/main" xmlns="" w="9525">
                    <a:solidFill>
                      <a:srgbClr val="000000"/>
                    </a:solidFill>
                    <a:miter lim="800000"/>
                    <a:headEnd/>
                    <a:tailEnd/>
                  </a14:hiddenLine>
                </a:ext>
              </a:extLst>
            </p:spPr>
          </p:sp>
        </p:grpSp>
      </p:grpSp>
      <p:sp>
        <p:nvSpPr>
          <p:cNvPr id="2" name="Title Placeholder 1"/>
          <p:cNvSpPr>
            <a:spLocks noGrp="1"/>
          </p:cNvSpPr>
          <p:nvPr>
            <p:ph type="title"/>
          </p:nvPr>
        </p:nvSpPr>
        <p:spPr>
          <a:xfrm>
            <a:off x="1141413" y="618518"/>
            <a:ext cx="9905998" cy="1478570"/>
          </a:xfrm>
          <a:prstGeom prst="rect">
            <a:avLst/>
          </a:prstGeom>
        </p:spPr>
        <p:txBody>
          <a:bodyPr vert="horz" lIns="91440" tIns="45720" rIns="91440" bIns="45720" rtlCol="0" anchor="ctr">
            <a:normAutofit/>
          </a:bodyPr>
          <a:lstStyle/>
          <a:p>
            <a:endParaRPr lang="en-US" dirty="0"/>
          </a:p>
        </p:txBody>
      </p:sp>
      <p:sp>
        <p:nvSpPr>
          <p:cNvPr id="3" name="Text Placeholder 2"/>
          <p:cNvSpPr>
            <a:spLocks noGrp="1"/>
          </p:cNvSpPr>
          <p:nvPr>
            <p:ph type="body" idx="1"/>
          </p:nvPr>
        </p:nvSpPr>
        <p:spPr>
          <a:xfrm>
            <a:off x="1141412" y="2249487"/>
            <a:ext cx="9905999" cy="3541714"/>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456921" y="5883276"/>
            <a:ext cx="2743200" cy="365125"/>
          </a:xfrm>
          <a:prstGeom prst="rect">
            <a:avLst/>
          </a:prstGeom>
        </p:spPr>
        <p:txBody>
          <a:bodyPr vert="horz" lIns="91440" tIns="45720" rIns="91440" bIns="45720" rtlCol="0" anchor="ctr"/>
          <a:lstStyle>
            <a:lvl1pPr algn="r">
              <a:defRPr sz="1050">
                <a:solidFill>
                  <a:schemeClr val="tx1">
                    <a:tint val="75000"/>
                  </a:schemeClr>
                </a:solidFill>
              </a:defRPr>
            </a:lvl1pPr>
          </a:lstStyle>
          <a:p>
            <a:fld id="{48A87A34-81AB-432B-8DAE-1953F412C126}" type="datetimeFigureOut">
              <a:rPr lang="en-US" dirty="0"/>
              <a:pPr/>
              <a:t>7/21/2020</a:t>
            </a:fld>
            <a:endParaRPr lang="en-US" dirty="0"/>
          </a:p>
        </p:txBody>
      </p:sp>
      <p:sp>
        <p:nvSpPr>
          <p:cNvPr id="5" name="Footer Placeholder 4"/>
          <p:cNvSpPr>
            <a:spLocks noGrp="1"/>
          </p:cNvSpPr>
          <p:nvPr>
            <p:ph type="ftr" sz="quarter" idx="3"/>
          </p:nvPr>
        </p:nvSpPr>
        <p:spPr>
          <a:xfrm>
            <a:off x="1141411" y="5883275"/>
            <a:ext cx="6239309" cy="365125"/>
          </a:xfrm>
          <a:prstGeom prst="rect">
            <a:avLst/>
          </a:prstGeom>
        </p:spPr>
        <p:txBody>
          <a:bodyPr vert="horz" lIns="91440" tIns="45720" rIns="91440" bIns="45720" rtlCol="0" anchor="ctr"/>
          <a:lstStyle>
            <a:lvl1pPr algn="l">
              <a:defRPr sz="1050" cap="all" baseline="0">
                <a:solidFill>
                  <a:schemeClr val="tx1">
                    <a:tint val="75000"/>
                  </a:schemeClr>
                </a:solidFill>
              </a:defRPr>
            </a:lvl1pPr>
          </a:lstStyle>
          <a:p>
            <a:endParaRPr lang="en-US" dirty="0"/>
          </a:p>
        </p:txBody>
      </p:sp>
      <p:sp>
        <p:nvSpPr>
          <p:cNvPr id="6" name="Slide Number Placeholder 5"/>
          <p:cNvSpPr>
            <a:spLocks noGrp="1"/>
          </p:cNvSpPr>
          <p:nvPr>
            <p:ph type="sldNum" sz="quarter" idx="4"/>
          </p:nvPr>
        </p:nvSpPr>
        <p:spPr>
          <a:xfrm>
            <a:off x="10276321" y="5883274"/>
            <a:ext cx="771089" cy="365125"/>
          </a:xfrm>
          <a:prstGeom prst="rect">
            <a:avLst/>
          </a:prstGeom>
        </p:spPr>
        <p:txBody>
          <a:bodyPr vert="horz" lIns="91440" tIns="45720" rIns="91440" bIns="45720" rtlCol="0" anchor="ctr"/>
          <a:lstStyle>
            <a:lvl1pPr algn="r">
              <a:defRPr sz="1050">
                <a:solidFill>
                  <a:schemeClr val="tx1">
                    <a:tint val="75000"/>
                  </a:schemeClr>
                </a:solidFill>
              </a:defRPr>
            </a:lvl1pPr>
          </a:lstStyle>
          <a:p>
            <a:fld id="{6D22F896-40B5-4ADD-8801-0D06FADFA095}" type="slidenum">
              <a:rPr lang="en-US" dirty="0"/>
              <a:pPr/>
              <a:t>‹#›</a:t>
            </a:fld>
            <a:endParaRPr lang="en-US" dirty="0"/>
          </a:p>
        </p:txBody>
      </p:sp>
    </p:spTree>
  </p:cSld>
  <p:clrMap bg1="dk1" tx1="lt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60" r:id="rId10"/>
    <p:sldLayoutId id="2147483661" r:id="rId11"/>
    <p:sldLayoutId id="2147483666" r:id="rId12"/>
    <p:sldLayoutId id="2147483663" r:id="rId13"/>
    <p:sldLayoutId id="2147483667" r:id="rId14"/>
    <p:sldLayoutId id="2147483668" r:id="rId15"/>
    <p:sldLayoutId id="2147483658" r:id="rId16"/>
    <p:sldLayoutId id="2147483659" r:id="rId17"/>
  </p:sldLayoutIdLst>
  <p:txStyles>
    <p:titleStyle>
      <a:lvl1pPr algn="l" defTabSz="914400" rtl="0" eaLnBrk="1" latinLnBrk="0" hangingPunct="1">
        <a:lnSpc>
          <a:spcPct val="90000"/>
        </a:lnSpc>
        <a:spcBef>
          <a:spcPct val="0"/>
        </a:spcBef>
        <a:buNone/>
        <a:defRPr sz="3600" kern="1200" cap="all" baseline="0">
          <a:solidFill>
            <a:schemeClr val="tx1"/>
          </a:solidFill>
          <a:latin typeface="+mj-lt"/>
          <a:ea typeface="+mj-ea"/>
          <a:cs typeface="+mj-cs"/>
        </a:defRPr>
      </a:lvl1pPr>
    </p:titleStyle>
    <p:bodyStyle>
      <a:lvl1pPr marL="228600" indent="-228600" algn="l" defTabSz="914400" rtl="0" eaLnBrk="1" latinLnBrk="0" hangingPunct="1">
        <a:lnSpc>
          <a:spcPct val="120000"/>
        </a:lnSpc>
        <a:spcBef>
          <a:spcPts val="1000"/>
        </a:spcBef>
        <a:buSzPct val="125000"/>
        <a:buFont typeface="Arial" panose="020B0604020202020204" pitchFamily="34" charset="0"/>
        <a:buChar char="•"/>
        <a:defRPr sz="2400" kern="1200">
          <a:solidFill>
            <a:schemeClr val="tx1"/>
          </a:solidFill>
          <a:latin typeface="+mn-lt"/>
          <a:ea typeface="+mn-ea"/>
          <a:cs typeface="+mn-cs"/>
        </a:defRPr>
      </a:lvl1pPr>
      <a:lvl2pPr marL="685800" indent="-228600" algn="l" defTabSz="914400" rtl="0" eaLnBrk="1" latinLnBrk="0" hangingPunct="1">
        <a:lnSpc>
          <a:spcPct val="120000"/>
        </a:lnSpc>
        <a:spcBef>
          <a:spcPts val="500"/>
        </a:spcBef>
        <a:buSzPct val="125000"/>
        <a:buFont typeface="Arial" panose="020B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lnSpc>
          <a:spcPct val="120000"/>
        </a:lnSpc>
        <a:spcBef>
          <a:spcPts val="500"/>
        </a:spcBef>
        <a:buSzPct val="125000"/>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4pPr>
      <a:lvl5pPr marL="20574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6pPr>
      <a:lvl7pPr marL="29718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7pPr>
      <a:lvl8pPr marL="34290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8pPr>
      <a:lvl9pPr marL="38862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4.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11.xml"/></Relationships>
</file>

<file path=ppt/slides/_rels/slide5.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6.xml"/></Relationships>
</file>

<file path=ppt/slides/_rels/slide6.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image" Target="../media/image5.jpeg"/><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3" Type="http://schemas.openxmlformats.org/officeDocument/2006/relationships/image" Target="../media/image8.gif"/><Relationship Id="rId2" Type="http://schemas.openxmlformats.org/officeDocument/2006/relationships/image" Target="../media/image7.png"/><Relationship Id="rId1" Type="http://schemas.openxmlformats.org/officeDocument/2006/relationships/slideLayout" Target="../slideLayouts/slideLayout6.xml"/></Relationships>
</file>

<file path=ppt/slides/_rels/slide8.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png"/><Relationship Id="rId1" Type="http://schemas.openxmlformats.org/officeDocument/2006/relationships/slideLayout" Target="../slideLayouts/slideLayout6.xml"/><Relationship Id="rId4" Type="http://schemas.microsoft.com/office/2007/relationships/hdphoto" Target="../media/hdphoto1.wdp"/></Relationships>
</file>

<file path=ppt/slides/_rels/slide9.xml.rels><?xml version="1.0" encoding="UTF-8" standalone="yes"?>
<Relationships xmlns="http://schemas.openxmlformats.org/package/2006/relationships"><Relationship Id="rId2" Type="http://schemas.openxmlformats.org/officeDocument/2006/relationships/hyperlink" Target="http://www.polytechnichub.com/what-is-thermocouple/" TargetMode="External"/><Relationship Id="rId1" Type="http://schemas.openxmlformats.org/officeDocument/2006/relationships/slideLayout" Target="../slideLayouts/slideLayout6.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1.xml.rels><?xml version="1.0" encoding="UTF-8" standalone="yes"?>
<Relationships xmlns="http://schemas.openxmlformats.org/package/2006/relationships"><Relationship Id="rId2" Type="http://schemas.openxmlformats.org/officeDocument/2006/relationships/image" Target="../media/image11.jpeg"/><Relationship Id="rId1" Type="http://schemas.openxmlformats.org/officeDocument/2006/relationships/slideLayout" Target="../slideLayouts/slideLayout6.xml"/></Relationships>
</file>

<file path=ppt/slides/_rels/slide12.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6.xml"/></Relationships>
</file>

<file path=ppt/slides/_rels/slide13.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3.jpeg"/><Relationship Id="rId1" Type="http://schemas.openxmlformats.org/officeDocument/2006/relationships/slideLayout" Target="../slideLayouts/slideLayout7.xml"/><Relationship Id="rId5" Type="http://schemas.openxmlformats.org/officeDocument/2006/relationships/image" Target="../media/image15.png"/><Relationship Id="rId4" Type="http://schemas.openxmlformats.org/officeDocument/2006/relationships/image" Target="../media/image14.jpeg"/></Relationships>
</file>

<file path=ppt/slides/_rels/slide14.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13.jpeg"/><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2" Type="http://schemas.openxmlformats.org/officeDocument/2006/relationships/hyperlink" Target="http://www.esp32learning.com/code/esp32-and-mlx90614-infrared-thermometer-example.php" TargetMode="External"/><Relationship Id="rId1" Type="http://schemas.openxmlformats.org/officeDocument/2006/relationships/slideLayout" Target="../slideLayouts/slideLayout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8.xml.rels><?xml version="1.0" encoding="UTF-8" standalone="yes"?>
<Relationships xmlns="http://schemas.openxmlformats.org/package/2006/relationships"><Relationship Id="rId2" Type="http://schemas.openxmlformats.org/officeDocument/2006/relationships/image" Target="../media/image17.jpeg"/><Relationship Id="rId1" Type="http://schemas.openxmlformats.org/officeDocument/2006/relationships/slideLayout" Target="../slideLayouts/slideLayout6.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1.xml.rels><?xml version="1.0" encoding="UTF-8" standalone="yes"?>
<Relationships xmlns="http://schemas.openxmlformats.org/package/2006/relationships"><Relationship Id="rId3" Type="http://schemas.openxmlformats.org/officeDocument/2006/relationships/image" Target="../media/image14.jpeg"/><Relationship Id="rId7" Type="http://schemas.openxmlformats.org/officeDocument/2006/relationships/image" Target="../media/image21.jpeg"/><Relationship Id="rId2" Type="http://schemas.openxmlformats.org/officeDocument/2006/relationships/image" Target="../media/image13.jpeg"/><Relationship Id="rId1" Type="http://schemas.openxmlformats.org/officeDocument/2006/relationships/slideLayout" Target="../slideLayouts/slideLayout6.xml"/><Relationship Id="rId6" Type="http://schemas.openxmlformats.org/officeDocument/2006/relationships/image" Target="../media/image20.jpeg"/><Relationship Id="rId5" Type="http://schemas.openxmlformats.org/officeDocument/2006/relationships/image" Target="../media/image19.png"/><Relationship Id="rId4" Type="http://schemas.openxmlformats.org/officeDocument/2006/relationships/image" Target="../media/image18.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image" Target="../media/image22.jpeg"/><Relationship Id="rId1" Type="http://schemas.openxmlformats.org/officeDocument/2006/relationships/slideLayout" Target="../slideLayouts/slideLayout6.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5.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6.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7C347E9-C92F-4AAB-9ACB-46499099CF0A}"/>
              </a:ext>
            </a:extLst>
          </p:cNvPr>
          <p:cNvSpPr>
            <a:spLocks noGrp="1"/>
          </p:cNvSpPr>
          <p:nvPr>
            <p:ph type="ctrTitle"/>
          </p:nvPr>
        </p:nvSpPr>
        <p:spPr>
          <a:xfrm>
            <a:off x="2048702" y="1917494"/>
            <a:ext cx="8791575" cy="2387600"/>
          </a:xfrm>
        </p:spPr>
        <p:txBody>
          <a:bodyPr/>
          <a:lstStyle/>
          <a:p>
            <a:r>
              <a:rPr lang="en-IN" sz="4800" dirty="0"/>
              <a:t>Introduction to Sensors &amp; Actuators  for IoT</a:t>
            </a:r>
            <a:br>
              <a:rPr lang="en-IN" sz="4800" dirty="0"/>
            </a:br>
            <a:endParaRPr lang="en-IN" dirty="0"/>
          </a:p>
        </p:txBody>
      </p:sp>
    </p:spTree>
    <p:extLst>
      <p:ext uri="{BB962C8B-B14F-4D97-AF65-F5344CB8AC3E}">
        <p14:creationId xmlns:p14="http://schemas.microsoft.com/office/powerpoint/2010/main" val="181619569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941E351-A049-4500-B46E-D1136A93DBEA}"/>
              </a:ext>
            </a:extLst>
          </p:cNvPr>
          <p:cNvSpPr>
            <a:spLocks noGrp="1"/>
          </p:cNvSpPr>
          <p:nvPr>
            <p:ph type="title"/>
          </p:nvPr>
        </p:nvSpPr>
        <p:spPr>
          <a:xfrm>
            <a:off x="1141413" y="618518"/>
            <a:ext cx="9905998" cy="839221"/>
          </a:xfrm>
        </p:spPr>
        <p:txBody>
          <a:bodyPr/>
          <a:lstStyle/>
          <a:p>
            <a:r>
              <a:rPr lang="en-US" dirty="0"/>
              <a:t>What are sensors </a:t>
            </a:r>
            <a:endParaRPr lang="en-IN" dirty="0"/>
          </a:p>
        </p:txBody>
      </p:sp>
      <p:sp>
        <p:nvSpPr>
          <p:cNvPr id="3" name="TextBox 2">
            <a:extLst>
              <a:ext uri="{FF2B5EF4-FFF2-40B4-BE49-F238E27FC236}">
                <a16:creationId xmlns:a16="http://schemas.microsoft.com/office/drawing/2014/main" id="{1E19A8F2-D9A5-42BD-9DDC-26F812E79313}"/>
              </a:ext>
            </a:extLst>
          </p:cNvPr>
          <p:cNvSpPr txBox="1"/>
          <p:nvPr/>
        </p:nvSpPr>
        <p:spPr>
          <a:xfrm>
            <a:off x="1338470" y="1636693"/>
            <a:ext cx="9024730" cy="3046988"/>
          </a:xfrm>
          <a:prstGeom prst="rect">
            <a:avLst/>
          </a:prstGeom>
          <a:noFill/>
          <a:ln>
            <a:solidFill>
              <a:srgbClr val="FFFF00"/>
            </a:solidFill>
          </a:ln>
        </p:spPr>
        <p:txBody>
          <a:bodyPr wrap="square" rtlCol="0">
            <a:spAutoFit/>
          </a:bodyPr>
          <a:lstStyle/>
          <a:p>
            <a:r>
              <a:rPr lang="en-US" sz="3200" dirty="0"/>
              <a:t>A  Sensor is a device that detect a change in the surrounding and transform it into another form (Say into an electrical pulse, or an action). However it should in no way impact the environment and change the change the process which is causing the temperature</a:t>
            </a:r>
            <a:endParaRPr lang="en-IN" sz="3200" dirty="0"/>
          </a:p>
        </p:txBody>
      </p:sp>
      <p:sp>
        <p:nvSpPr>
          <p:cNvPr id="4" name="TextBox 3">
            <a:extLst>
              <a:ext uri="{FF2B5EF4-FFF2-40B4-BE49-F238E27FC236}">
                <a16:creationId xmlns:a16="http://schemas.microsoft.com/office/drawing/2014/main" id="{F6425517-B7B6-4769-A927-894667531705}"/>
              </a:ext>
            </a:extLst>
          </p:cNvPr>
          <p:cNvSpPr txBox="1"/>
          <p:nvPr/>
        </p:nvSpPr>
        <p:spPr>
          <a:xfrm>
            <a:off x="1338470" y="4902342"/>
            <a:ext cx="9024730" cy="954107"/>
          </a:xfrm>
          <a:prstGeom prst="rect">
            <a:avLst/>
          </a:prstGeom>
          <a:noFill/>
          <a:ln>
            <a:solidFill>
              <a:srgbClr val="FFFF00"/>
            </a:solidFill>
          </a:ln>
        </p:spPr>
        <p:txBody>
          <a:bodyPr wrap="square" rtlCol="0">
            <a:spAutoFit/>
          </a:bodyPr>
          <a:lstStyle/>
          <a:p>
            <a:r>
              <a:rPr lang="en-US" sz="2800" dirty="0"/>
              <a:t>A sensor can  be electronic, mechanical, electrical or anything…</a:t>
            </a:r>
            <a:endParaRPr lang="en-IN" sz="2800" dirty="0"/>
          </a:p>
        </p:txBody>
      </p:sp>
    </p:spTree>
    <p:extLst>
      <p:ext uri="{BB962C8B-B14F-4D97-AF65-F5344CB8AC3E}">
        <p14:creationId xmlns:p14="http://schemas.microsoft.com/office/powerpoint/2010/main" val="155062165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628AA9E-FAFF-4FCC-A15B-7B7B50528313}"/>
              </a:ext>
            </a:extLst>
          </p:cNvPr>
          <p:cNvSpPr>
            <a:spLocks noGrp="1"/>
          </p:cNvSpPr>
          <p:nvPr>
            <p:ph type="title"/>
          </p:nvPr>
        </p:nvSpPr>
        <p:spPr>
          <a:xfrm>
            <a:off x="1141413" y="291548"/>
            <a:ext cx="9905998" cy="927652"/>
          </a:xfrm>
        </p:spPr>
        <p:txBody>
          <a:bodyPr/>
          <a:lstStyle/>
          <a:p>
            <a:r>
              <a:rPr lang="en-US" dirty="0"/>
              <a:t>what are sensor for IoT</a:t>
            </a:r>
            <a:endParaRPr lang="en-IN" dirty="0"/>
          </a:p>
        </p:txBody>
      </p:sp>
      <p:sp>
        <p:nvSpPr>
          <p:cNvPr id="4" name="TextBox 3">
            <a:extLst>
              <a:ext uri="{FF2B5EF4-FFF2-40B4-BE49-F238E27FC236}">
                <a16:creationId xmlns:a16="http://schemas.microsoft.com/office/drawing/2014/main" id="{E4C58AC8-B039-4CB3-BF47-398192DC7CCB}"/>
              </a:ext>
            </a:extLst>
          </p:cNvPr>
          <p:cNvSpPr txBox="1"/>
          <p:nvPr/>
        </p:nvSpPr>
        <p:spPr>
          <a:xfrm>
            <a:off x="1141413" y="1311966"/>
            <a:ext cx="9024730" cy="1569660"/>
          </a:xfrm>
          <a:prstGeom prst="rect">
            <a:avLst/>
          </a:prstGeom>
          <a:noFill/>
          <a:ln>
            <a:solidFill>
              <a:srgbClr val="FFFF00"/>
            </a:solidFill>
          </a:ln>
        </p:spPr>
        <p:txBody>
          <a:bodyPr wrap="square" rtlCol="0">
            <a:spAutoFit/>
          </a:bodyPr>
          <a:lstStyle/>
          <a:p>
            <a:r>
              <a:rPr lang="en-US" sz="3200" dirty="0"/>
              <a:t>A  Sensor that can  measure the change in environment and transform into electrical signal that represent the measurement.</a:t>
            </a:r>
            <a:endParaRPr lang="en-IN" sz="3200" dirty="0"/>
          </a:p>
        </p:txBody>
      </p:sp>
      <p:sp>
        <p:nvSpPr>
          <p:cNvPr id="5" name="TextBox 4">
            <a:extLst>
              <a:ext uri="{FF2B5EF4-FFF2-40B4-BE49-F238E27FC236}">
                <a16:creationId xmlns:a16="http://schemas.microsoft.com/office/drawing/2014/main" id="{814809DD-C0C7-41EA-A0E8-685563F243EE}"/>
              </a:ext>
            </a:extLst>
          </p:cNvPr>
          <p:cNvSpPr txBox="1"/>
          <p:nvPr/>
        </p:nvSpPr>
        <p:spPr>
          <a:xfrm>
            <a:off x="1141414" y="3110758"/>
            <a:ext cx="9024730" cy="1292662"/>
          </a:xfrm>
          <a:prstGeom prst="rect">
            <a:avLst/>
          </a:prstGeom>
          <a:noFill/>
          <a:ln>
            <a:solidFill>
              <a:srgbClr val="FFFF00"/>
            </a:solidFill>
          </a:ln>
        </p:spPr>
        <p:txBody>
          <a:bodyPr wrap="square" rtlCol="0">
            <a:spAutoFit/>
          </a:bodyPr>
          <a:lstStyle/>
          <a:p>
            <a:r>
              <a:rPr lang="en-US" dirty="0"/>
              <a:t>Example: </a:t>
            </a:r>
          </a:p>
          <a:p>
            <a:r>
              <a:rPr lang="en-US" sz="2000" dirty="0"/>
              <a:t>A temperature sensor can measure the current temperature in the room. Or the temperature  of the liquid in which it is dipped or Temperature of the surface which is in contact.</a:t>
            </a:r>
            <a:endParaRPr lang="en-IN" sz="2000" dirty="0"/>
          </a:p>
        </p:txBody>
      </p:sp>
      <p:sp>
        <p:nvSpPr>
          <p:cNvPr id="7" name="TextBox 6">
            <a:extLst>
              <a:ext uri="{FF2B5EF4-FFF2-40B4-BE49-F238E27FC236}">
                <a16:creationId xmlns:a16="http://schemas.microsoft.com/office/drawing/2014/main" id="{2F2A5C69-3F42-4E8A-A0FD-E9654CFA7F87}"/>
              </a:ext>
            </a:extLst>
          </p:cNvPr>
          <p:cNvSpPr txBox="1"/>
          <p:nvPr/>
        </p:nvSpPr>
        <p:spPr>
          <a:xfrm>
            <a:off x="1141413" y="4761204"/>
            <a:ext cx="9024730" cy="1569660"/>
          </a:xfrm>
          <a:prstGeom prst="rect">
            <a:avLst/>
          </a:prstGeom>
          <a:noFill/>
          <a:ln>
            <a:solidFill>
              <a:srgbClr val="FFFF00"/>
            </a:solidFill>
          </a:ln>
        </p:spPr>
        <p:txBody>
          <a:bodyPr wrap="square" rtlCol="0">
            <a:spAutoFit/>
          </a:bodyPr>
          <a:lstStyle/>
          <a:p>
            <a:r>
              <a:rPr lang="en-US" sz="2400" dirty="0"/>
              <a:t>A  Sensor is a device that detect a change in the surrounding and transform it into another form (Say into an electrical pulse, or an action). However a sensor should in no way impact the environment and change or influence  the process which is causing the change.</a:t>
            </a:r>
            <a:endParaRPr lang="en-IN" sz="2400" dirty="0"/>
          </a:p>
        </p:txBody>
      </p:sp>
    </p:spTree>
    <p:extLst>
      <p:ext uri="{BB962C8B-B14F-4D97-AF65-F5344CB8AC3E}">
        <p14:creationId xmlns:p14="http://schemas.microsoft.com/office/powerpoint/2010/main" val="327625690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1FEC6D1-6441-4B64-8455-28713D6882FA}"/>
              </a:ext>
            </a:extLst>
          </p:cNvPr>
          <p:cNvSpPr>
            <a:spLocks noGrp="1"/>
          </p:cNvSpPr>
          <p:nvPr>
            <p:ph type="title"/>
          </p:nvPr>
        </p:nvSpPr>
        <p:spPr>
          <a:xfrm>
            <a:off x="1141456" y="609600"/>
            <a:ext cx="9905955" cy="2623930"/>
          </a:xfrm>
        </p:spPr>
        <p:txBody>
          <a:bodyPr/>
          <a:lstStyle/>
          <a:p>
            <a:r>
              <a:rPr lang="en-US" dirty="0"/>
              <a:t>Let us take the design of simple temperature sensor take the discussion forward</a:t>
            </a:r>
            <a:endParaRPr lang="en-IN" dirty="0"/>
          </a:p>
        </p:txBody>
      </p:sp>
      <p:pic>
        <p:nvPicPr>
          <p:cNvPr id="2050" name="Picture 2" descr="Mercury Thermometer Fahrenheit Images, Stock Photos &amp; Vectors ...">
            <a:extLst>
              <a:ext uri="{FF2B5EF4-FFF2-40B4-BE49-F238E27FC236}">
                <a16:creationId xmlns:a16="http://schemas.microsoft.com/office/drawing/2014/main" id="{58EDD959-E996-4939-8760-C9259C03AC5D}"/>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231334" y="3233529"/>
            <a:ext cx="7972839" cy="306647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60984993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D17651C-61A7-4739-8CBE-18012C3487BD}"/>
              </a:ext>
            </a:extLst>
          </p:cNvPr>
          <p:cNvSpPr>
            <a:spLocks noGrp="1"/>
          </p:cNvSpPr>
          <p:nvPr>
            <p:ph type="title"/>
          </p:nvPr>
        </p:nvSpPr>
        <p:spPr>
          <a:xfrm>
            <a:off x="1143001" y="234205"/>
            <a:ext cx="9905998" cy="627186"/>
          </a:xfrm>
        </p:spPr>
        <p:txBody>
          <a:bodyPr/>
          <a:lstStyle/>
          <a:p>
            <a:r>
              <a:rPr lang="en-US" dirty="0"/>
              <a:t>Background of sensors</a:t>
            </a:r>
            <a:endParaRPr lang="en-IN" dirty="0"/>
          </a:p>
        </p:txBody>
      </p:sp>
      <p:sp>
        <p:nvSpPr>
          <p:cNvPr id="4" name="TextBox 3">
            <a:extLst>
              <a:ext uri="{FF2B5EF4-FFF2-40B4-BE49-F238E27FC236}">
                <a16:creationId xmlns:a16="http://schemas.microsoft.com/office/drawing/2014/main" id="{A7998A75-49A4-4F04-9463-CB3FFA3A5201}"/>
              </a:ext>
            </a:extLst>
          </p:cNvPr>
          <p:cNvSpPr txBox="1"/>
          <p:nvPr/>
        </p:nvSpPr>
        <p:spPr>
          <a:xfrm>
            <a:off x="1143001" y="1169865"/>
            <a:ext cx="9024730" cy="1200329"/>
          </a:xfrm>
          <a:prstGeom prst="rect">
            <a:avLst/>
          </a:prstGeom>
          <a:noFill/>
          <a:ln>
            <a:solidFill>
              <a:srgbClr val="FFFF00"/>
            </a:solidFill>
          </a:ln>
        </p:spPr>
        <p:txBody>
          <a:bodyPr wrap="square" rtlCol="0">
            <a:spAutoFit/>
          </a:bodyPr>
          <a:lstStyle/>
          <a:p>
            <a:r>
              <a:rPr lang="en-US" sz="2400" dirty="0"/>
              <a:t>Sensors existed much before days of electronics and  computers. Those days they  played a dual role of taking the measurement as well turning that into a action.</a:t>
            </a:r>
            <a:endParaRPr lang="en-IN" sz="2400" dirty="0"/>
          </a:p>
        </p:txBody>
      </p:sp>
      <p:pic>
        <p:nvPicPr>
          <p:cNvPr id="1026" name="Picture 2">
            <a:extLst>
              <a:ext uri="{FF2B5EF4-FFF2-40B4-BE49-F238E27FC236}">
                <a16:creationId xmlns:a16="http://schemas.microsoft.com/office/drawing/2014/main" id="{3D74DA24-FB63-4505-9587-BA432010DEB6}"/>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717774" y="3301599"/>
            <a:ext cx="7051141" cy="2372415"/>
          </a:xfrm>
          <a:prstGeom prst="rect">
            <a:avLst/>
          </a:prstGeom>
          <a:noFill/>
          <a:extLst>
            <a:ext uri="{909E8E84-426E-40DD-AFC4-6F175D3DCCD1}">
              <a14:hiddenFill xmlns:a14="http://schemas.microsoft.com/office/drawing/2010/main">
                <a:solidFill>
                  <a:srgbClr val="FFFFFF"/>
                </a:solidFill>
              </a14:hiddenFill>
            </a:ext>
          </a:extLst>
        </p:spPr>
      </p:pic>
      <p:sp>
        <p:nvSpPr>
          <p:cNvPr id="5" name="TextBox 4">
            <a:extLst>
              <a:ext uri="{FF2B5EF4-FFF2-40B4-BE49-F238E27FC236}">
                <a16:creationId xmlns:a16="http://schemas.microsoft.com/office/drawing/2014/main" id="{A08C28B2-E2FB-4854-8F40-B0397FC42D79}"/>
              </a:ext>
            </a:extLst>
          </p:cNvPr>
          <p:cNvSpPr txBox="1"/>
          <p:nvPr/>
        </p:nvSpPr>
        <p:spPr>
          <a:xfrm>
            <a:off x="927651" y="3301599"/>
            <a:ext cx="3405809" cy="1754326"/>
          </a:xfrm>
          <a:prstGeom prst="rect">
            <a:avLst/>
          </a:prstGeom>
          <a:noFill/>
          <a:ln>
            <a:solidFill>
              <a:srgbClr val="FFFF00"/>
            </a:solidFill>
          </a:ln>
        </p:spPr>
        <p:txBody>
          <a:bodyPr wrap="square" rtlCol="0">
            <a:spAutoFit/>
          </a:bodyPr>
          <a:lstStyle/>
          <a:p>
            <a:pPr algn="just"/>
            <a:r>
              <a:rPr lang="en-US" dirty="0" err="1">
                <a:latin typeface="Bookman Old Style" panose="02050604050505020204" pitchFamily="18" charset="0"/>
              </a:rPr>
              <a:t>Bimetalic</a:t>
            </a:r>
            <a:r>
              <a:rPr lang="en-US" dirty="0">
                <a:latin typeface="Bookman Old Style" panose="02050604050505020204" pitchFamily="18" charset="0"/>
              </a:rPr>
              <a:t> stirp used in </a:t>
            </a:r>
            <a:r>
              <a:rPr lang="en-US" dirty="0" err="1">
                <a:latin typeface="Bookman Old Style" panose="02050604050505020204" pitchFamily="18" charset="0"/>
              </a:rPr>
              <a:t>tradtional</a:t>
            </a:r>
            <a:r>
              <a:rPr lang="en-US" dirty="0">
                <a:latin typeface="Bookman Old Style" panose="02050604050505020204" pitchFamily="18" charset="0"/>
              </a:rPr>
              <a:t> iron boxes are a good example of mechanical sensor. This was heavily used in many equipment for temperature control</a:t>
            </a:r>
            <a:endParaRPr lang="en-IN" dirty="0">
              <a:latin typeface="Bookman Old Style" panose="02050604050505020204" pitchFamily="18" charset="0"/>
            </a:endParaRPr>
          </a:p>
        </p:txBody>
      </p:sp>
    </p:spTree>
    <p:extLst>
      <p:ext uri="{BB962C8B-B14F-4D97-AF65-F5344CB8AC3E}">
        <p14:creationId xmlns:p14="http://schemas.microsoft.com/office/powerpoint/2010/main" val="190586177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B2120B49-FBFB-4E07-A348-BEF38F250C30}"/>
              </a:ext>
            </a:extLst>
          </p:cNvPr>
          <p:cNvSpPr txBox="1"/>
          <p:nvPr/>
        </p:nvSpPr>
        <p:spPr>
          <a:xfrm>
            <a:off x="1014835" y="604490"/>
            <a:ext cx="9918207" cy="923330"/>
          </a:xfrm>
          <a:prstGeom prst="rect">
            <a:avLst/>
          </a:prstGeom>
          <a:noFill/>
        </p:spPr>
        <p:txBody>
          <a:bodyPr wrap="square" rtlCol="0">
            <a:spAutoFit/>
          </a:bodyPr>
          <a:lstStyle/>
          <a:p>
            <a:r>
              <a:rPr lang="en-US" dirty="0" err="1"/>
              <a:t>Bimetaloc</a:t>
            </a:r>
            <a:r>
              <a:rPr lang="en-US" dirty="0"/>
              <a:t> strip was invented by…  John Harrison, an eighteenth-century clockmaker who made it for his third marine chronometer (H3) of 1759 to compensate for temperature-induced changes in the balance spring.</a:t>
            </a:r>
          </a:p>
        </p:txBody>
      </p:sp>
      <p:pic>
        <p:nvPicPr>
          <p:cNvPr id="2050" name="Picture 2">
            <a:extLst>
              <a:ext uri="{FF2B5EF4-FFF2-40B4-BE49-F238E27FC236}">
                <a16:creationId xmlns:a16="http://schemas.microsoft.com/office/drawing/2014/main" id="{848C315E-D55F-438C-9F8F-19643832212E}"/>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287616" y="2319985"/>
            <a:ext cx="5645426" cy="3765455"/>
          </a:xfrm>
          <a:prstGeom prst="rect">
            <a:avLst/>
          </a:prstGeom>
          <a:noFill/>
          <a:extLst>
            <a:ext uri="{909E8E84-426E-40DD-AFC4-6F175D3DCCD1}">
              <a14:hiddenFill xmlns:a14="http://schemas.microsoft.com/office/drawing/2010/main">
                <a:solidFill>
                  <a:srgbClr val="FFFFFF"/>
                </a:solidFill>
              </a14:hiddenFill>
            </a:ext>
          </a:extLst>
        </p:spPr>
      </p:pic>
      <p:sp>
        <p:nvSpPr>
          <p:cNvPr id="7" name="TextBox 6">
            <a:extLst>
              <a:ext uri="{FF2B5EF4-FFF2-40B4-BE49-F238E27FC236}">
                <a16:creationId xmlns:a16="http://schemas.microsoft.com/office/drawing/2014/main" id="{4CCCBF68-DCB6-4D56-8D34-DB7AE35D6CDC}"/>
              </a:ext>
            </a:extLst>
          </p:cNvPr>
          <p:cNvSpPr txBox="1"/>
          <p:nvPr/>
        </p:nvSpPr>
        <p:spPr>
          <a:xfrm>
            <a:off x="1646584" y="4771637"/>
            <a:ext cx="3375990" cy="1200329"/>
          </a:xfrm>
          <a:prstGeom prst="rect">
            <a:avLst/>
          </a:prstGeom>
          <a:noFill/>
        </p:spPr>
        <p:txBody>
          <a:bodyPr wrap="square">
            <a:spAutoFit/>
          </a:bodyPr>
          <a:lstStyle/>
          <a:p>
            <a:r>
              <a:rPr lang="en-IN" dirty="0"/>
              <a:t>Harrison's solution revolutionized navigation and greatly increased the safety of long-distance sea travel.</a:t>
            </a:r>
          </a:p>
        </p:txBody>
      </p:sp>
      <p:pic>
        <p:nvPicPr>
          <p:cNvPr id="2052" name="Picture 4">
            <a:extLst>
              <a:ext uri="{FF2B5EF4-FFF2-40B4-BE49-F238E27FC236}">
                <a16:creationId xmlns:a16="http://schemas.microsoft.com/office/drawing/2014/main" id="{C8C51C49-1517-4CB8-8B65-08A8EF7EBF95}"/>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258958" y="2014983"/>
            <a:ext cx="2095500" cy="261937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22904509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A525D37-D37A-44D3-822E-61E4E3D62459}"/>
              </a:ext>
            </a:extLst>
          </p:cNvPr>
          <p:cNvSpPr>
            <a:spLocks noGrp="1"/>
          </p:cNvSpPr>
          <p:nvPr>
            <p:ph type="title"/>
          </p:nvPr>
        </p:nvSpPr>
        <p:spPr>
          <a:xfrm>
            <a:off x="1141412" y="402602"/>
            <a:ext cx="9905998" cy="746456"/>
          </a:xfrm>
        </p:spPr>
        <p:txBody>
          <a:bodyPr/>
          <a:lstStyle/>
          <a:p>
            <a:pPr algn="ctr"/>
            <a:r>
              <a:rPr lang="en-US" dirty="0"/>
              <a:t>Can we build a sensor of our own ?</a:t>
            </a:r>
            <a:endParaRPr lang="en-IN" dirty="0"/>
          </a:p>
        </p:txBody>
      </p:sp>
      <p:sp>
        <p:nvSpPr>
          <p:cNvPr id="4" name="TextBox 3">
            <a:extLst>
              <a:ext uri="{FF2B5EF4-FFF2-40B4-BE49-F238E27FC236}">
                <a16:creationId xmlns:a16="http://schemas.microsoft.com/office/drawing/2014/main" id="{065F1A44-2C88-4B0A-A3F2-EF41DF52F38C}"/>
              </a:ext>
            </a:extLst>
          </p:cNvPr>
          <p:cNvSpPr txBox="1"/>
          <p:nvPr/>
        </p:nvSpPr>
        <p:spPr>
          <a:xfrm>
            <a:off x="1141412" y="3209946"/>
            <a:ext cx="6061246" cy="3416320"/>
          </a:xfrm>
          <a:prstGeom prst="rect">
            <a:avLst/>
          </a:prstGeom>
          <a:noFill/>
          <a:ln>
            <a:solidFill>
              <a:srgbClr val="00B050"/>
            </a:solidFill>
          </a:ln>
        </p:spPr>
        <p:txBody>
          <a:bodyPr wrap="square" rtlCol="0">
            <a:spAutoFit/>
          </a:bodyPr>
          <a:lstStyle/>
          <a:p>
            <a:pPr algn="just"/>
            <a:endParaRPr lang="en-US" dirty="0"/>
          </a:p>
          <a:p>
            <a:pPr algn="just"/>
            <a:r>
              <a:rPr lang="en-US" dirty="0"/>
              <a:t>Many of the sensors which were used in industries where manually build. Semiconductor sensors which arrived lately has  some advantages over the manually build one.</a:t>
            </a:r>
          </a:p>
          <a:p>
            <a:pPr algn="just"/>
            <a:endParaRPr lang="en-US" dirty="0"/>
          </a:p>
          <a:p>
            <a:pPr algn="just"/>
            <a:r>
              <a:rPr lang="en-US" dirty="0"/>
              <a:t>A simple temperature sensor can be build with a few meters of copper wire. Here the variation of electrical resistance in metal is used to measure temperature.</a:t>
            </a:r>
          </a:p>
          <a:p>
            <a:pPr algn="just"/>
            <a:endParaRPr lang="en-US" dirty="0"/>
          </a:p>
          <a:p>
            <a:pPr algn="just"/>
            <a:r>
              <a:rPr lang="en-US" dirty="0"/>
              <a:t>Resistance thermometers, are build using this kind of sensor. (RTD Resistance Temperature Detectors)</a:t>
            </a:r>
          </a:p>
          <a:p>
            <a:pPr algn="just"/>
            <a:endParaRPr lang="en-IN" dirty="0"/>
          </a:p>
        </p:txBody>
      </p:sp>
      <p:pic>
        <p:nvPicPr>
          <p:cNvPr id="3074" name="Picture 2" descr="values for conductors at any temperature other than the standard temperature (usually specified at 20 Celsius) on the specific resistance table must be determined through yet another formula">
            <a:extLst>
              <a:ext uri="{FF2B5EF4-FFF2-40B4-BE49-F238E27FC236}">
                <a16:creationId xmlns:a16="http://schemas.microsoft.com/office/drawing/2014/main" id="{E66FDC4F-619E-4691-BF64-DFCFA4C1098E}"/>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240367" y="4081670"/>
            <a:ext cx="3622191" cy="2661201"/>
          </a:xfrm>
          <a:prstGeom prst="rect">
            <a:avLst/>
          </a:prstGeom>
          <a:noFill/>
          <a:ln>
            <a:solidFill>
              <a:srgbClr val="00B050"/>
            </a:solidFill>
          </a:ln>
          <a:extLst>
            <a:ext uri="{909E8E84-426E-40DD-AFC4-6F175D3DCCD1}">
              <a14:hiddenFill xmlns:a14="http://schemas.microsoft.com/office/drawing/2010/main">
                <a:solidFill>
                  <a:srgbClr val="FFFFFF"/>
                </a:solidFill>
              </a14:hiddenFill>
            </a:ext>
          </a:extLst>
        </p:spPr>
      </p:pic>
      <p:sp>
        <p:nvSpPr>
          <p:cNvPr id="6" name="TextBox 5">
            <a:extLst>
              <a:ext uri="{FF2B5EF4-FFF2-40B4-BE49-F238E27FC236}">
                <a16:creationId xmlns:a16="http://schemas.microsoft.com/office/drawing/2014/main" id="{385BEE8A-FD70-418B-8C47-8F6BAFF8CEA1}"/>
              </a:ext>
            </a:extLst>
          </p:cNvPr>
          <p:cNvSpPr txBox="1"/>
          <p:nvPr/>
        </p:nvSpPr>
        <p:spPr>
          <a:xfrm>
            <a:off x="765000" y="1713257"/>
            <a:ext cx="10472843" cy="707886"/>
          </a:xfrm>
          <a:prstGeom prst="rect">
            <a:avLst/>
          </a:prstGeom>
          <a:gradFill>
            <a:gsLst>
              <a:gs pos="14000">
                <a:srgbClr val="92D050"/>
              </a:gs>
              <a:gs pos="43000">
                <a:schemeClr val="accent4">
                  <a:lumMod val="89000"/>
                </a:schemeClr>
              </a:gs>
              <a:gs pos="70000">
                <a:schemeClr val="accent4">
                  <a:lumMod val="75000"/>
                </a:schemeClr>
              </a:gs>
              <a:gs pos="37000">
                <a:schemeClr val="accent4">
                  <a:lumMod val="70000"/>
                </a:schemeClr>
              </a:gs>
            </a:gsLst>
            <a:path path="circle">
              <a:fillToRect l="50000" t="50000" r="50000" b="50000"/>
            </a:path>
          </a:gradFill>
          <a:ln>
            <a:solidFill>
              <a:srgbClr val="00B050"/>
            </a:solidFill>
          </a:ln>
        </p:spPr>
        <p:txBody>
          <a:bodyPr wrap="square">
            <a:spAutoFit/>
          </a:bodyPr>
          <a:lstStyle/>
          <a:p>
            <a:pPr algn="ctr"/>
            <a:r>
              <a:rPr lang="en-US" sz="4000" dirty="0"/>
              <a:t>Yes it is possible to build sensors of your own </a:t>
            </a:r>
          </a:p>
        </p:txBody>
      </p:sp>
      <p:pic>
        <p:nvPicPr>
          <p:cNvPr id="1026" name="Picture 2" descr="Two-wire resistance thermometer">
            <a:extLst>
              <a:ext uri="{FF2B5EF4-FFF2-40B4-BE49-F238E27FC236}">
                <a16:creationId xmlns:a16="http://schemas.microsoft.com/office/drawing/2014/main" id="{5BA6DF83-A843-40ED-B886-8AC526562B8F}"/>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828433" y="2809585"/>
            <a:ext cx="1991968" cy="99598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29938367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020F24F-3E1C-4EFF-A427-2561882B9E27}"/>
              </a:ext>
            </a:extLst>
          </p:cNvPr>
          <p:cNvSpPr>
            <a:spLocks noGrp="1"/>
          </p:cNvSpPr>
          <p:nvPr>
            <p:ph type="title"/>
          </p:nvPr>
        </p:nvSpPr>
        <p:spPr>
          <a:xfrm>
            <a:off x="1143001" y="273961"/>
            <a:ext cx="9905998" cy="931987"/>
          </a:xfrm>
        </p:spPr>
        <p:txBody>
          <a:bodyPr/>
          <a:lstStyle/>
          <a:p>
            <a:r>
              <a:rPr lang="en-US" dirty="0"/>
              <a:t>Another way to measure Temperature</a:t>
            </a:r>
            <a:endParaRPr lang="en-IN" dirty="0"/>
          </a:p>
        </p:txBody>
      </p:sp>
      <p:cxnSp>
        <p:nvCxnSpPr>
          <p:cNvPr id="4" name="Straight Connector 3">
            <a:extLst>
              <a:ext uri="{FF2B5EF4-FFF2-40B4-BE49-F238E27FC236}">
                <a16:creationId xmlns:a16="http://schemas.microsoft.com/office/drawing/2014/main" id="{624E707F-2BFA-4D3B-B4F6-A0614E10E2A0}"/>
              </a:ext>
            </a:extLst>
          </p:cNvPr>
          <p:cNvCxnSpPr>
            <a:cxnSpLocks/>
          </p:cNvCxnSpPr>
          <p:nvPr/>
        </p:nvCxnSpPr>
        <p:spPr>
          <a:xfrm flipV="1">
            <a:off x="2447778" y="2686934"/>
            <a:ext cx="1406769" cy="1406769"/>
          </a:xfrm>
          <a:prstGeom prst="line">
            <a:avLst/>
          </a:prstGeom>
          <a:ln w="73025">
            <a:solidFill>
              <a:schemeClr val="accent6">
                <a:lumMod val="75000"/>
              </a:schemeClr>
            </a:solidFill>
          </a:ln>
        </p:spPr>
        <p:style>
          <a:lnRef idx="1">
            <a:schemeClr val="accent1"/>
          </a:lnRef>
          <a:fillRef idx="0">
            <a:schemeClr val="accent1"/>
          </a:fillRef>
          <a:effectRef idx="0">
            <a:schemeClr val="accent1"/>
          </a:effectRef>
          <a:fontRef idx="minor">
            <a:schemeClr val="tx1"/>
          </a:fontRef>
        </p:style>
      </p:cxnSp>
      <p:cxnSp>
        <p:nvCxnSpPr>
          <p:cNvPr id="5" name="Straight Connector 4">
            <a:extLst>
              <a:ext uri="{FF2B5EF4-FFF2-40B4-BE49-F238E27FC236}">
                <a16:creationId xmlns:a16="http://schemas.microsoft.com/office/drawing/2014/main" id="{30B58239-1039-405E-85B7-BEB0421340FF}"/>
              </a:ext>
            </a:extLst>
          </p:cNvPr>
          <p:cNvCxnSpPr/>
          <p:nvPr/>
        </p:nvCxnSpPr>
        <p:spPr>
          <a:xfrm>
            <a:off x="2447778" y="4149974"/>
            <a:ext cx="1477108" cy="1392702"/>
          </a:xfrm>
          <a:prstGeom prst="line">
            <a:avLst/>
          </a:prstGeom>
          <a:ln w="88900">
            <a:solidFill>
              <a:srgbClr val="FFFF00"/>
            </a:solidFill>
          </a:ln>
        </p:spPr>
        <p:style>
          <a:lnRef idx="1">
            <a:schemeClr val="accent1"/>
          </a:lnRef>
          <a:fillRef idx="0">
            <a:schemeClr val="accent1"/>
          </a:fillRef>
          <a:effectRef idx="0">
            <a:schemeClr val="accent1"/>
          </a:effectRef>
          <a:fontRef idx="minor">
            <a:schemeClr val="tx1"/>
          </a:fontRef>
        </p:style>
      </p:cxnSp>
      <p:cxnSp>
        <p:nvCxnSpPr>
          <p:cNvPr id="6" name="Straight Connector 5">
            <a:extLst>
              <a:ext uri="{FF2B5EF4-FFF2-40B4-BE49-F238E27FC236}">
                <a16:creationId xmlns:a16="http://schemas.microsoft.com/office/drawing/2014/main" id="{D1D874AA-7CE0-4301-8035-9E1068EF1D8C}"/>
              </a:ext>
            </a:extLst>
          </p:cNvPr>
          <p:cNvCxnSpPr>
            <a:cxnSpLocks/>
          </p:cNvCxnSpPr>
          <p:nvPr/>
        </p:nvCxnSpPr>
        <p:spPr>
          <a:xfrm>
            <a:off x="3854547" y="2686934"/>
            <a:ext cx="1641084" cy="0"/>
          </a:xfrm>
          <a:prstGeom prst="line">
            <a:avLst/>
          </a:prstGeom>
          <a:ln w="73025">
            <a:solidFill>
              <a:schemeClr val="accent6">
                <a:lumMod val="75000"/>
              </a:schemeClr>
            </a:solidFill>
          </a:ln>
        </p:spPr>
        <p:style>
          <a:lnRef idx="1">
            <a:schemeClr val="accent1"/>
          </a:lnRef>
          <a:fillRef idx="0">
            <a:schemeClr val="accent1"/>
          </a:fillRef>
          <a:effectRef idx="0">
            <a:schemeClr val="accent1"/>
          </a:effectRef>
          <a:fontRef idx="minor">
            <a:schemeClr val="tx1"/>
          </a:fontRef>
        </p:style>
      </p:cxnSp>
      <p:cxnSp>
        <p:nvCxnSpPr>
          <p:cNvPr id="7" name="Straight Connector 6">
            <a:extLst>
              <a:ext uri="{FF2B5EF4-FFF2-40B4-BE49-F238E27FC236}">
                <a16:creationId xmlns:a16="http://schemas.microsoft.com/office/drawing/2014/main" id="{A30BFAC5-17EF-492B-B2F1-9D7A215034F4}"/>
              </a:ext>
            </a:extLst>
          </p:cNvPr>
          <p:cNvCxnSpPr>
            <a:cxnSpLocks/>
          </p:cNvCxnSpPr>
          <p:nvPr/>
        </p:nvCxnSpPr>
        <p:spPr>
          <a:xfrm>
            <a:off x="3922539" y="5540336"/>
            <a:ext cx="5062026" cy="0"/>
          </a:xfrm>
          <a:prstGeom prst="line">
            <a:avLst/>
          </a:prstGeom>
          <a:ln w="88900">
            <a:solidFill>
              <a:srgbClr val="FFFF00"/>
            </a:solidFill>
          </a:ln>
        </p:spPr>
        <p:style>
          <a:lnRef idx="1">
            <a:schemeClr val="accent1"/>
          </a:lnRef>
          <a:fillRef idx="0">
            <a:schemeClr val="accent1"/>
          </a:fillRef>
          <a:effectRef idx="0">
            <a:schemeClr val="accent1"/>
          </a:effectRef>
          <a:fontRef idx="minor">
            <a:schemeClr val="tx1"/>
          </a:fontRef>
        </p:style>
      </p:cxnSp>
      <p:cxnSp>
        <p:nvCxnSpPr>
          <p:cNvPr id="8" name="Straight Connector 7">
            <a:extLst>
              <a:ext uri="{FF2B5EF4-FFF2-40B4-BE49-F238E27FC236}">
                <a16:creationId xmlns:a16="http://schemas.microsoft.com/office/drawing/2014/main" id="{7417B727-261A-4AD7-8819-C23415CBE563}"/>
              </a:ext>
            </a:extLst>
          </p:cNvPr>
          <p:cNvCxnSpPr>
            <a:cxnSpLocks/>
          </p:cNvCxnSpPr>
          <p:nvPr/>
        </p:nvCxnSpPr>
        <p:spPr>
          <a:xfrm>
            <a:off x="7362238" y="2686934"/>
            <a:ext cx="1530885" cy="0"/>
          </a:xfrm>
          <a:prstGeom prst="line">
            <a:avLst/>
          </a:prstGeom>
          <a:ln w="73025">
            <a:solidFill>
              <a:schemeClr val="accent6">
                <a:lumMod val="75000"/>
              </a:schemeClr>
            </a:solidFill>
          </a:ln>
        </p:spPr>
        <p:style>
          <a:lnRef idx="1">
            <a:schemeClr val="accent1"/>
          </a:lnRef>
          <a:fillRef idx="0">
            <a:schemeClr val="accent1"/>
          </a:fillRef>
          <a:effectRef idx="0">
            <a:schemeClr val="accent1"/>
          </a:effectRef>
          <a:fontRef idx="minor">
            <a:schemeClr val="tx1"/>
          </a:fontRef>
        </p:style>
      </p:cxnSp>
      <p:cxnSp>
        <p:nvCxnSpPr>
          <p:cNvPr id="9" name="Straight Connector 8">
            <a:extLst>
              <a:ext uri="{FF2B5EF4-FFF2-40B4-BE49-F238E27FC236}">
                <a16:creationId xmlns:a16="http://schemas.microsoft.com/office/drawing/2014/main" id="{200122CB-CE8D-41AC-9C28-AE2EE4AF961A}"/>
              </a:ext>
            </a:extLst>
          </p:cNvPr>
          <p:cNvCxnSpPr>
            <a:cxnSpLocks/>
          </p:cNvCxnSpPr>
          <p:nvPr/>
        </p:nvCxnSpPr>
        <p:spPr>
          <a:xfrm>
            <a:off x="8893123" y="2686934"/>
            <a:ext cx="1456009" cy="1385670"/>
          </a:xfrm>
          <a:prstGeom prst="line">
            <a:avLst/>
          </a:prstGeom>
          <a:ln w="73025">
            <a:solidFill>
              <a:schemeClr val="accent6">
                <a:lumMod val="75000"/>
              </a:schemeClr>
            </a:solidFill>
          </a:ln>
        </p:spPr>
        <p:style>
          <a:lnRef idx="1">
            <a:schemeClr val="accent1"/>
          </a:lnRef>
          <a:fillRef idx="0">
            <a:schemeClr val="accent1"/>
          </a:fillRef>
          <a:effectRef idx="0">
            <a:schemeClr val="accent1"/>
          </a:effectRef>
          <a:fontRef idx="minor">
            <a:schemeClr val="tx1"/>
          </a:fontRef>
        </p:style>
      </p:cxnSp>
      <p:cxnSp>
        <p:nvCxnSpPr>
          <p:cNvPr id="10" name="Straight Connector 9">
            <a:extLst>
              <a:ext uri="{FF2B5EF4-FFF2-40B4-BE49-F238E27FC236}">
                <a16:creationId xmlns:a16="http://schemas.microsoft.com/office/drawing/2014/main" id="{25D38548-6667-441D-89C8-DD78245BC0C9}"/>
              </a:ext>
            </a:extLst>
          </p:cNvPr>
          <p:cNvCxnSpPr>
            <a:cxnSpLocks/>
          </p:cNvCxnSpPr>
          <p:nvPr/>
        </p:nvCxnSpPr>
        <p:spPr>
          <a:xfrm flipV="1">
            <a:off x="8984565" y="4133567"/>
            <a:ext cx="1406769" cy="1406769"/>
          </a:xfrm>
          <a:prstGeom prst="line">
            <a:avLst/>
          </a:prstGeom>
          <a:ln w="88900">
            <a:solidFill>
              <a:srgbClr val="FFFF00"/>
            </a:solidFill>
          </a:ln>
        </p:spPr>
        <p:style>
          <a:lnRef idx="1">
            <a:schemeClr val="accent1"/>
          </a:lnRef>
          <a:fillRef idx="0">
            <a:schemeClr val="accent1"/>
          </a:fillRef>
          <a:effectRef idx="0">
            <a:schemeClr val="accent1"/>
          </a:effectRef>
          <a:fontRef idx="minor">
            <a:schemeClr val="tx1"/>
          </a:fontRef>
        </p:style>
      </p:cxnSp>
      <p:pic>
        <p:nvPicPr>
          <p:cNvPr id="11" name="Picture 10">
            <a:extLst>
              <a:ext uri="{FF2B5EF4-FFF2-40B4-BE49-F238E27FC236}">
                <a16:creationId xmlns:a16="http://schemas.microsoft.com/office/drawing/2014/main" id="{3EAB9BAC-3B17-44D3-AE5F-E3F49B383088}"/>
              </a:ext>
            </a:extLst>
          </p:cNvPr>
          <p:cNvPicPr>
            <a:picLocks noChangeAspect="1"/>
          </p:cNvPicPr>
          <p:nvPr/>
        </p:nvPicPr>
        <p:blipFill>
          <a:blip r:embed="rId2"/>
          <a:stretch>
            <a:fillRect/>
          </a:stretch>
        </p:blipFill>
        <p:spPr>
          <a:xfrm>
            <a:off x="5495631" y="1180734"/>
            <a:ext cx="1866607" cy="1705550"/>
          </a:xfrm>
          <a:prstGeom prst="rect">
            <a:avLst/>
          </a:prstGeom>
        </p:spPr>
      </p:pic>
      <p:sp>
        <p:nvSpPr>
          <p:cNvPr id="12" name="Oval 11">
            <a:extLst>
              <a:ext uri="{FF2B5EF4-FFF2-40B4-BE49-F238E27FC236}">
                <a16:creationId xmlns:a16="http://schemas.microsoft.com/office/drawing/2014/main" id="{E99B651E-F25B-4B51-B0DA-AE887D65655A}"/>
              </a:ext>
            </a:extLst>
          </p:cNvPr>
          <p:cNvSpPr/>
          <p:nvPr/>
        </p:nvSpPr>
        <p:spPr>
          <a:xfrm>
            <a:off x="2208628" y="3977641"/>
            <a:ext cx="309489" cy="284871"/>
          </a:xfrm>
          <a:prstGeom prst="ellipse">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3" name="Oval 12">
            <a:extLst>
              <a:ext uri="{FF2B5EF4-FFF2-40B4-BE49-F238E27FC236}">
                <a16:creationId xmlns:a16="http://schemas.microsoft.com/office/drawing/2014/main" id="{3912A869-A936-48D8-9D24-A5C94D3F922D}"/>
              </a:ext>
            </a:extLst>
          </p:cNvPr>
          <p:cNvSpPr/>
          <p:nvPr/>
        </p:nvSpPr>
        <p:spPr>
          <a:xfrm>
            <a:off x="10194387" y="3987606"/>
            <a:ext cx="309489" cy="284871"/>
          </a:xfrm>
          <a:prstGeom prst="ellipse">
            <a:avLst/>
          </a:prstGeom>
          <a:solidFill>
            <a:schemeClr val="accent6">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pic>
        <p:nvPicPr>
          <p:cNvPr id="14" name="Picture 13">
            <a:extLst>
              <a:ext uri="{FF2B5EF4-FFF2-40B4-BE49-F238E27FC236}">
                <a16:creationId xmlns:a16="http://schemas.microsoft.com/office/drawing/2014/main" id="{2F716EDC-5E7B-4A94-8DA0-E06520E30F9D}"/>
              </a:ext>
            </a:extLst>
          </p:cNvPr>
          <p:cNvPicPr>
            <a:picLocks noChangeAspect="1"/>
          </p:cNvPicPr>
          <p:nvPr/>
        </p:nvPicPr>
        <p:blipFill>
          <a:blip r:embed="rId3">
            <a:extLst>
              <a:ext uri="{BEBA8EAE-BF5A-486C-A8C5-ECC9F3942E4B}">
                <a14:imgProps xmlns:a14="http://schemas.microsoft.com/office/drawing/2010/main">
                  <a14:imgLayer r:embed="rId4">
                    <a14:imgEffect>
                      <a14:colorTemperature colorTemp="10976"/>
                    </a14:imgEffect>
                    <a14:imgEffect>
                      <a14:saturation sat="383000"/>
                    </a14:imgEffect>
                  </a14:imgLayer>
                </a14:imgProps>
              </a:ext>
            </a:extLst>
          </a:blip>
          <a:stretch>
            <a:fillRect/>
          </a:stretch>
        </p:blipFill>
        <p:spPr>
          <a:xfrm>
            <a:off x="1970205" y="4272477"/>
            <a:ext cx="419100" cy="1828800"/>
          </a:xfrm>
          <a:prstGeom prst="rect">
            <a:avLst/>
          </a:prstGeom>
          <a:solidFill>
            <a:srgbClr val="FFFF00"/>
          </a:solidFill>
          <a:effectLst>
            <a:reflection blurRad="584200" endPos="0" dist="50800" dir="5400000" sy="-100000" algn="bl" rotWithShape="0"/>
          </a:effectLst>
        </p:spPr>
      </p:pic>
      <p:sp>
        <p:nvSpPr>
          <p:cNvPr id="15" name="TextBox 14">
            <a:extLst>
              <a:ext uri="{FF2B5EF4-FFF2-40B4-BE49-F238E27FC236}">
                <a16:creationId xmlns:a16="http://schemas.microsoft.com/office/drawing/2014/main" id="{A5069BEC-8115-464E-86E3-7F6CEE73B1AE}"/>
              </a:ext>
            </a:extLst>
          </p:cNvPr>
          <p:cNvSpPr txBox="1"/>
          <p:nvPr/>
        </p:nvSpPr>
        <p:spPr>
          <a:xfrm>
            <a:off x="2808482" y="2029485"/>
            <a:ext cx="1866607" cy="369332"/>
          </a:xfrm>
          <a:prstGeom prst="rect">
            <a:avLst/>
          </a:prstGeom>
          <a:noFill/>
        </p:spPr>
        <p:txBody>
          <a:bodyPr wrap="square" rtlCol="0">
            <a:spAutoFit/>
          </a:bodyPr>
          <a:lstStyle/>
          <a:p>
            <a:r>
              <a:rPr lang="en-US" dirty="0"/>
              <a:t>Metal Wire – A </a:t>
            </a:r>
            <a:endParaRPr lang="en-IN" dirty="0"/>
          </a:p>
        </p:txBody>
      </p:sp>
      <p:sp>
        <p:nvSpPr>
          <p:cNvPr id="16" name="TextBox 15">
            <a:extLst>
              <a:ext uri="{FF2B5EF4-FFF2-40B4-BE49-F238E27FC236}">
                <a16:creationId xmlns:a16="http://schemas.microsoft.com/office/drawing/2014/main" id="{6E691290-B623-4D0C-BF6A-7E7F68F1B845}"/>
              </a:ext>
            </a:extLst>
          </p:cNvPr>
          <p:cNvSpPr txBox="1"/>
          <p:nvPr/>
        </p:nvSpPr>
        <p:spPr>
          <a:xfrm>
            <a:off x="2989235" y="5747239"/>
            <a:ext cx="1866607" cy="369332"/>
          </a:xfrm>
          <a:prstGeom prst="rect">
            <a:avLst/>
          </a:prstGeom>
          <a:noFill/>
        </p:spPr>
        <p:txBody>
          <a:bodyPr wrap="square" rtlCol="0">
            <a:spAutoFit/>
          </a:bodyPr>
          <a:lstStyle/>
          <a:p>
            <a:r>
              <a:rPr lang="en-US" dirty="0"/>
              <a:t>Metal Wire – B </a:t>
            </a:r>
            <a:endParaRPr lang="en-IN" dirty="0"/>
          </a:p>
        </p:txBody>
      </p:sp>
      <p:sp>
        <p:nvSpPr>
          <p:cNvPr id="3" name="TextBox 2">
            <a:extLst>
              <a:ext uri="{FF2B5EF4-FFF2-40B4-BE49-F238E27FC236}">
                <a16:creationId xmlns:a16="http://schemas.microsoft.com/office/drawing/2014/main" id="{EE60FE00-3D0C-408A-B5B1-CA72B215BD95}"/>
              </a:ext>
            </a:extLst>
          </p:cNvPr>
          <p:cNvSpPr txBox="1"/>
          <p:nvPr/>
        </p:nvSpPr>
        <p:spPr>
          <a:xfrm>
            <a:off x="806695" y="3429004"/>
            <a:ext cx="1401934" cy="369332"/>
          </a:xfrm>
          <a:prstGeom prst="rect">
            <a:avLst/>
          </a:prstGeom>
          <a:noFill/>
        </p:spPr>
        <p:txBody>
          <a:bodyPr wrap="square" rtlCol="0">
            <a:spAutoFit/>
          </a:bodyPr>
          <a:lstStyle/>
          <a:p>
            <a:r>
              <a:rPr lang="en-US" b="1" dirty="0"/>
              <a:t>Hot Junction </a:t>
            </a:r>
            <a:endParaRPr lang="en-IN" b="1" dirty="0"/>
          </a:p>
        </p:txBody>
      </p:sp>
      <p:sp>
        <p:nvSpPr>
          <p:cNvPr id="18" name="TextBox 17">
            <a:extLst>
              <a:ext uri="{FF2B5EF4-FFF2-40B4-BE49-F238E27FC236}">
                <a16:creationId xmlns:a16="http://schemas.microsoft.com/office/drawing/2014/main" id="{419BFB54-8B4A-48B0-8489-E1E3976B426B}"/>
              </a:ext>
            </a:extLst>
          </p:cNvPr>
          <p:cNvSpPr txBox="1"/>
          <p:nvPr/>
        </p:nvSpPr>
        <p:spPr>
          <a:xfrm>
            <a:off x="10318653" y="3411041"/>
            <a:ext cx="1561364" cy="369332"/>
          </a:xfrm>
          <a:prstGeom prst="rect">
            <a:avLst/>
          </a:prstGeom>
          <a:noFill/>
        </p:spPr>
        <p:txBody>
          <a:bodyPr wrap="square" rtlCol="0">
            <a:spAutoFit/>
          </a:bodyPr>
          <a:lstStyle/>
          <a:p>
            <a:r>
              <a:rPr lang="en-US" b="1" dirty="0"/>
              <a:t>Cold Junction </a:t>
            </a:r>
            <a:endParaRPr lang="en-IN" b="1" dirty="0"/>
          </a:p>
        </p:txBody>
      </p:sp>
      <p:sp>
        <p:nvSpPr>
          <p:cNvPr id="20" name="TextBox 19">
            <a:extLst>
              <a:ext uri="{FF2B5EF4-FFF2-40B4-BE49-F238E27FC236}">
                <a16:creationId xmlns:a16="http://schemas.microsoft.com/office/drawing/2014/main" id="{57E809FF-989A-4C4A-9D92-18765FAB202C}"/>
              </a:ext>
            </a:extLst>
          </p:cNvPr>
          <p:cNvSpPr txBox="1"/>
          <p:nvPr/>
        </p:nvSpPr>
        <p:spPr>
          <a:xfrm>
            <a:off x="7362238" y="1294551"/>
            <a:ext cx="3388116" cy="646331"/>
          </a:xfrm>
          <a:prstGeom prst="rect">
            <a:avLst/>
          </a:prstGeom>
          <a:noFill/>
        </p:spPr>
        <p:txBody>
          <a:bodyPr wrap="square" rtlCol="0">
            <a:spAutoFit/>
          </a:bodyPr>
          <a:lstStyle/>
          <a:p>
            <a:r>
              <a:rPr lang="en-US" b="1" dirty="0"/>
              <a:t>Voltage </a:t>
            </a:r>
            <a:r>
              <a:rPr lang="en-US" b="1" dirty="0" err="1"/>
              <a:t>Proporational</a:t>
            </a:r>
            <a:r>
              <a:rPr lang="en-US" b="1" dirty="0"/>
              <a:t> to difference in Temperature </a:t>
            </a:r>
            <a:endParaRPr lang="en-IN" b="1" dirty="0"/>
          </a:p>
        </p:txBody>
      </p:sp>
    </p:spTree>
    <p:extLst>
      <p:ext uri="{BB962C8B-B14F-4D97-AF65-F5344CB8AC3E}">
        <p14:creationId xmlns:p14="http://schemas.microsoft.com/office/powerpoint/2010/main" val="417310815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052CC8F-247B-4D11-AF51-B95B7EE244A3}"/>
              </a:ext>
            </a:extLst>
          </p:cNvPr>
          <p:cNvSpPr>
            <a:spLocks noGrp="1"/>
          </p:cNvSpPr>
          <p:nvPr>
            <p:ph type="title"/>
          </p:nvPr>
        </p:nvSpPr>
        <p:spPr>
          <a:xfrm>
            <a:off x="1143001" y="293409"/>
            <a:ext cx="9905998" cy="703845"/>
          </a:xfrm>
        </p:spPr>
        <p:txBody>
          <a:bodyPr/>
          <a:lstStyle/>
          <a:p>
            <a:r>
              <a:rPr lang="en-US" dirty="0"/>
              <a:t>Comparison on RTD with Thermocouple</a:t>
            </a:r>
            <a:endParaRPr lang="en-IN" dirty="0"/>
          </a:p>
        </p:txBody>
      </p:sp>
      <p:graphicFrame>
        <p:nvGraphicFramePr>
          <p:cNvPr id="3" name="Table 3">
            <a:extLst>
              <a:ext uri="{FF2B5EF4-FFF2-40B4-BE49-F238E27FC236}">
                <a16:creationId xmlns:a16="http://schemas.microsoft.com/office/drawing/2014/main" id="{E5154B69-7A29-4FB4-9A2D-0A2BC91A8FE5}"/>
              </a:ext>
            </a:extLst>
          </p:cNvPr>
          <p:cNvGraphicFramePr>
            <a:graphicFrameLocks noGrp="1"/>
          </p:cNvGraphicFramePr>
          <p:nvPr>
            <p:extLst>
              <p:ext uri="{D42A27DB-BD31-4B8C-83A1-F6EECF244321}">
                <p14:modId xmlns:p14="http://schemas.microsoft.com/office/powerpoint/2010/main" val="3321285109"/>
              </p:ext>
            </p:extLst>
          </p:nvPr>
        </p:nvGraphicFramePr>
        <p:xfrm>
          <a:off x="847455" y="1745395"/>
          <a:ext cx="10631781" cy="4115351"/>
        </p:xfrm>
        <a:graphic>
          <a:graphicData uri="http://schemas.openxmlformats.org/drawingml/2006/table">
            <a:tbl>
              <a:tblPr firstRow="1" bandRow="1">
                <a:tableStyleId>{5C22544A-7EE6-4342-B048-85BDC9FD1C3A}</a:tableStyleId>
              </a:tblPr>
              <a:tblGrid>
                <a:gridCol w="541932">
                  <a:extLst>
                    <a:ext uri="{9D8B030D-6E8A-4147-A177-3AD203B41FA5}">
                      <a16:colId xmlns:a16="http://schemas.microsoft.com/office/drawing/2014/main" val="3974620041"/>
                    </a:ext>
                  </a:extLst>
                </a:gridCol>
                <a:gridCol w="4513943">
                  <a:extLst>
                    <a:ext uri="{9D8B030D-6E8A-4147-A177-3AD203B41FA5}">
                      <a16:colId xmlns:a16="http://schemas.microsoft.com/office/drawing/2014/main" val="2548266"/>
                    </a:ext>
                  </a:extLst>
                </a:gridCol>
                <a:gridCol w="5575906">
                  <a:extLst>
                    <a:ext uri="{9D8B030D-6E8A-4147-A177-3AD203B41FA5}">
                      <a16:colId xmlns:a16="http://schemas.microsoft.com/office/drawing/2014/main" val="4027141325"/>
                    </a:ext>
                  </a:extLst>
                </a:gridCol>
              </a:tblGrid>
              <a:tr h="547639">
                <a:tc>
                  <a:txBody>
                    <a:bodyPr/>
                    <a:lstStyle/>
                    <a:p>
                      <a:r>
                        <a:rPr lang="en-US" dirty="0"/>
                        <a:t>No</a:t>
                      </a:r>
                      <a:endParaRPr lang="en-IN" dirty="0"/>
                    </a:p>
                  </a:txBody>
                  <a:tcPr/>
                </a:tc>
                <a:tc>
                  <a:txBody>
                    <a:bodyPr/>
                    <a:lstStyle/>
                    <a:p>
                      <a:pPr algn="ctr"/>
                      <a:r>
                        <a:rPr lang="en-US" dirty="0"/>
                        <a:t>Advantages</a:t>
                      </a:r>
                      <a:endParaRPr lang="en-IN" dirty="0"/>
                    </a:p>
                  </a:txBody>
                  <a:tcPr/>
                </a:tc>
                <a:tc>
                  <a:txBody>
                    <a:bodyPr/>
                    <a:lstStyle/>
                    <a:p>
                      <a:pPr algn="ctr"/>
                      <a:r>
                        <a:rPr lang="en-US" dirty="0"/>
                        <a:t>Disadvantages</a:t>
                      </a:r>
                      <a:endParaRPr lang="en-IN" dirty="0"/>
                    </a:p>
                  </a:txBody>
                  <a:tcPr/>
                </a:tc>
                <a:extLst>
                  <a:ext uri="{0D108BD9-81ED-4DB2-BD59-A6C34878D82A}">
                    <a16:rowId xmlns:a16="http://schemas.microsoft.com/office/drawing/2014/main" val="1190470499"/>
                  </a:ext>
                </a:extLst>
              </a:tr>
              <a:tr h="668268">
                <a:tc>
                  <a:txBody>
                    <a:bodyPr/>
                    <a:lstStyle/>
                    <a:p>
                      <a:r>
                        <a:rPr lang="en-US" dirty="0"/>
                        <a:t>1</a:t>
                      </a:r>
                      <a:endParaRPr lang="en-IN" dirty="0"/>
                    </a:p>
                  </a:txBody>
                  <a:tcPr/>
                </a:tc>
                <a:tc>
                  <a:txBody>
                    <a:bodyPr/>
                    <a:lstStyle/>
                    <a:p>
                      <a:pPr fontAlgn="base"/>
                      <a:r>
                        <a:rPr lang="en-US" sz="1800" b="0" i="0" kern="1200" dirty="0">
                          <a:solidFill>
                            <a:schemeClr val="dk1"/>
                          </a:solidFill>
                          <a:effectLst/>
                          <a:latin typeface="+mn-lt"/>
                          <a:ea typeface="+mn-ea"/>
                          <a:cs typeface="+mn-cs"/>
                        </a:rPr>
                        <a:t>The </a:t>
                      </a:r>
                      <a:r>
                        <a:rPr lang="en-US" sz="1800" b="0" i="0" u="none" strike="noStrike" kern="1200" dirty="0">
                          <a:solidFill>
                            <a:schemeClr val="dk1"/>
                          </a:solidFill>
                          <a:effectLst/>
                          <a:latin typeface="+mn-lt"/>
                          <a:ea typeface="+mn-ea"/>
                          <a:cs typeface="+mn-cs"/>
                          <a:hlinkClick r:id="rId2"/>
                        </a:rPr>
                        <a:t>thermocouple</a:t>
                      </a:r>
                      <a:r>
                        <a:rPr lang="en-US" sz="1800" b="0" i="0" kern="1200" dirty="0">
                          <a:solidFill>
                            <a:schemeClr val="dk1"/>
                          </a:solidFill>
                          <a:effectLst/>
                          <a:latin typeface="+mn-lt"/>
                          <a:ea typeface="+mn-ea"/>
                          <a:cs typeface="+mn-cs"/>
                        </a:rPr>
                        <a:t> is less expensive than RTD.</a:t>
                      </a:r>
                    </a:p>
                  </a:txBody>
                  <a:tcPr/>
                </a:tc>
                <a:tc>
                  <a:txBody>
                    <a:bodyPr/>
                    <a:lstStyle/>
                    <a:p>
                      <a:r>
                        <a:rPr lang="en-US" sz="1800" b="0" i="0" kern="1200" dirty="0">
                          <a:solidFill>
                            <a:schemeClr val="dk1"/>
                          </a:solidFill>
                          <a:effectLst/>
                          <a:latin typeface="+mn-lt"/>
                          <a:ea typeface="+mn-ea"/>
                          <a:cs typeface="+mn-cs"/>
                        </a:rPr>
                        <a:t>The stray voltage pick up is possible</a:t>
                      </a:r>
                      <a:endParaRPr lang="en-IN" dirty="0"/>
                    </a:p>
                  </a:txBody>
                  <a:tcPr/>
                </a:tc>
                <a:extLst>
                  <a:ext uri="{0D108BD9-81ED-4DB2-BD59-A6C34878D82A}">
                    <a16:rowId xmlns:a16="http://schemas.microsoft.com/office/drawing/2014/main" val="452865020"/>
                  </a:ext>
                </a:extLst>
              </a:tr>
              <a:tr h="603548">
                <a:tc>
                  <a:txBody>
                    <a:bodyPr/>
                    <a:lstStyle/>
                    <a:p>
                      <a:r>
                        <a:rPr lang="en-US" dirty="0"/>
                        <a:t>2</a:t>
                      </a:r>
                      <a:endParaRPr lang="en-IN"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800" b="0" i="0" kern="1200" dirty="0">
                          <a:solidFill>
                            <a:schemeClr val="dk1"/>
                          </a:solidFill>
                          <a:effectLst/>
                          <a:latin typeface="+mn-lt"/>
                          <a:ea typeface="+mn-ea"/>
                          <a:cs typeface="+mn-cs"/>
                        </a:rPr>
                        <a:t>It has wide temperature ranges and good reproducibility, It has rugged construction</a:t>
                      </a:r>
                    </a:p>
                  </a:txBody>
                  <a:tcPr/>
                </a:tc>
                <a:tc>
                  <a:txBody>
                    <a:bodyPr/>
                    <a:lstStyle/>
                    <a:p>
                      <a:pPr fontAlgn="base"/>
                      <a:r>
                        <a:rPr lang="en-US" sz="1800" b="0" i="0" kern="1200" dirty="0">
                          <a:solidFill>
                            <a:schemeClr val="dk1"/>
                          </a:solidFill>
                          <a:effectLst/>
                          <a:latin typeface="+mn-lt"/>
                          <a:ea typeface="+mn-ea"/>
                          <a:cs typeface="+mn-cs"/>
                        </a:rPr>
                        <a:t>As output voltage is very small, it needs amplification.</a:t>
                      </a:r>
                    </a:p>
                  </a:txBody>
                  <a:tcPr/>
                </a:tc>
                <a:extLst>
                  <a:ext uri="{0D108BD9-81ED-4DB2-BD59-A6C34878D82A}">
                    <a16:rowId xmlns:a16="http://schemas.microsoft.com/office/drawing/2014/main" val="342554617"/>
                  </a:ext>
                </a:extLst>
              </a:tr>
              <a:tr h="668268">
                <a:tc>
                  <a:txBody>
                    <a:bodyPr/>
                    <a:lstStyle/>
                    <a:p>
                      <a:r>
                        <a:rPr lang="en-US" dirty="0"/>
                        <a:t>3</a:t>
                      </a:r>
                      <a:endParaRPr lang="en-IN"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800" b="0" i="0" kern="1200" dirty="0">
                          <a:solidFill>
                            <a:schemeClr val="dk1"/>
                          </a:solidFill>
                          <a:effectLst/>
                          <a:latin typeface="+mn-lt"/>
                          <a:ea typeface="+mn-ea"/>
                          <a:cs typeface="+mn-cs"/>
                        </a:rPr>
                        <a:t>The temperature range is 270 to 2700 degree Celsius</a:t>
                      </a:r>
                    </a:p>
                  </a:txBody>
                  <a:tcPr/>
                </a:tc>
                <a:tc>
                  <a:txBody>
                    <a:bodyPr/>
                    <a:lstStyle/>
                    <a:p>
                      <a:pPr fontAlgn="base"/>
                      <a:r>
                        <a:rPr lang="en-US" sz="1800" b="0" i="0" kern="1200" dirty="0">
                          <a:solidFill>
                            <a:schemeClr val="dk1"/>
                          </a:solidFill>
                          <a:effectLst/>
                          <a:latin typeface="+mn-lt"/>
                          <a:ea typeface="+mn-ea"/>
                          <a:cs typeface="+mn-cs"/>
                        </a:rPr>
                        <a:t>The cold junction and lead compensation is essential.</a:t>
                      </a:r>
                    </a:p>
                  </a:txBody>
                  <a:tcPr/>
                </a:tc>
                <a:extLst>
                  <a:ext uri="{0D108BD9-81ED-4DB2-BD59-A6C34878D82A}">
                    <a16:rowId xmlns:a16="http://schemas.microsoft.com/office/drawing/2014/main" val="3773038486"/>
                  </a:ext>
                </a:extLst>
              </a:tr>
              <a:tr h="429583">
                <a:tc>
                  <a:txBody>
                    <a:bodyPr/>
                    <a:lstStyle/>
                    <a:p>
                      <a:r>
                        <a:rPr lang="en-US" dirty="0"/>
                        <a:t>4</a:t>
                      </a:r>
                      <a:endParaRPr lang="en-IN"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800" b="0" i="0" kern="1200" dirty="0">
                          <a:solidFill>
                            <a:schemeClr val="dk1"/>
                          </a:solidFill>
                          <a:effectLst/>
                          <a:latin typeface="+mn-lt"/>
                          <a:ea typeface="+mn-ea"/>
                          <a:cs typeface="+mn-cs"/>
                        </a:rPr>
                        <a:t>It does not required bridge circuit.</a:t>
                      </a:r>
                    </a:p>
                  </a:txBody>
                  <a:tcPr/>
                </a:tc>
                <a:tc>
                  <a:txBody>
                    <a:bodyPr/>
                    <a:lstStyle/>
                    <a:p>
                      <a:pPr fontAlgn="base"/>
                      <a:r>
                        <a:rPr lang="en-IN" sz="1800" b="0" i="0" kern="1200" dirty="0">
                          <a:solidFill>
                            <a:schemeClr val="dk1"/>
                          </a:solidFill>
                          <a:effectLst/>
                          <a:latin typeface="+mn-lt"/>
                          <a:ea typeface="+mn-ea"/>
                          <a:cs typeface="+mn-cs"/>
                        </a:rPr>
                        <a:t>It shows non linearity.</a:t>
                      </a:r>
                    </a:p>
                  </a:txBody>
                  <a:tcPr/>
                </a:tc>
                <a:extLst>
                  <a:ext uri="{0D108BD9-81ED-4DB2-BD59-A6C34878D82A}">
                    <a16:rowId xmlns:a16="http://schemas.microsoft.com/office/drawing/2014/main" val="3353785490"/>
                  </a:ext>
                </a:extLst>
              </a:tr>
              <a:tr h="387171">
                <a:tc>
                  <a:txBody>
                    <a:bodyPr/>
                    <a:lstStyle/>
                    <a:p>
                      <a:r>
                        <a:rPr lang="en-US" dirty="0"/>
                        <a:t>5</a:t>
                      </a:r>
                      <a:endParaRPr lang="en-IN"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800" b="0" i="0" kern="1200" dirty="0">
                          <a:solidFill>
                            <a:schemeClr val="dk1"/>
                          </a:solidFill>
                          <a:effectLst/>
                          <a:latin typeface="+mn-lt"/>
                          <a:ea typeface="+mn-ea"/>
                          <a:cs typeface="+mn-cs"/>
                        </a:rPr>
                        <a:t>It has good accuracy.</a:t>
                      </a:r>
                    </a:p>
                  </a:txBody>
                  <a:tcPr/>
                </a:tc>
                <a:tc>
                  <a:txBody>
                    <a:bodyPr/>
                    <a:lstStyle/>
                    <a:p>
                      <a:endParaRPr lang="en-IN"/>
                    </a:p>
                  </a:txBody>
                  <a:tcPr/>
                </a:tc>
                <a:extLst>
                  <a:ext uri="{0D108BD9-81ED-4DB2-BD59-A6C34878D82A}">
                    <a16:rowId xmlns:a16="http://schemas.microsoft.com/office/drawing/2014/main" val="245124414"/>
                  </a:ext>
                </a:extLst>
              </a:tr>
              <a:tr h="387171">
                <a:tc>
                  <a:txBody>
                    <a:bodyPr/>
                    <a:lstStyle/>
                    <a:p>
                      <a:r>
                        <a:rPr lang="en-US" dirty="0"/>
                        <a:t>6</a:t>
                      </a:r>
                      <a:endParaRPr lang="en-IN"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800" b="0" i="0" kern="1200" dirty="0">
                          <a:solidFill>
                            <a:schemeClr val="dk1"/>
                          </a:solidFill>
                          <a:effectLst/>
                          <a:latin typeface="+mn-lt"/>
                          <a:ea typeface="+mn-ea"/>
                          <a:cs typeface="+mn-cs"/>
                        </a:rPr>
                        <a:t>It has high speed of response.</a:t>
                      </a:r>
                    </a:p>
                  </a:txBody>
                  <a:tcPr/>
                </a:tc>
                <a:tc>
                  <a:txBody>
                    <a:bodyPr/>
                    <a:lstStyle/>
                    <a:p>
                      <a:endParaRPr lang="en-IN" dirty="0"/>
                    </a:p>
                  </a:txBody>
                  <a:tcPr/>
                </a:tc>
                <a:extLst>
                  <a:ext uri="{0D108BD9-81ED-4DB2-BD59-A6C34878D82A}">
                    <a16:rowId xmlns:a16="http://schemas.microsoft.com/office/drawing/2014/main" val="3377372904"/>
                  </a:ext>
                </a:extLst>
              </a:tr>
              <a:tr h="387171">
                <a:tc>
                  <a:txBody>
                    <a:bodyPr/>
                    <a:lstStyle/>
                    <a:p>
                      <a:r>
                        <a:rPr lang="en-US" dirty="0"/>
                        <a:t>7</a:t>
                      </a:r>
                      <a:endParaRPr lang="en-IN"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800" b="0" i="0" kern="1200" dirty="0">
                          <a:solidFill>
                            <a:schemeClr val="dk1"/>
                          </a:solidFill>
                          <a:effectLst/>
                          <a:latin typeface="+mn-lt"/>
                          <a:ea typeface="+mn-ea"/>
                          <a:cs typeface="+mn-cs"/>
                        </a:rPr>
                        <a:t>No self heating</a:t>
                      </a:r>
                    </a:p>
                  </a:txBody>
                  <a:tcPr/>
                </a:tc>
                <a:tc>
                  <a:txBody>
                    <a:bodyPr/>
                    <a:lstStyle/>
                    <a:p>
                      <a:endParaRPr lang="en-IN" dirty="0"/>
                    </a:p>
                  </a:txBody>
                  <a:tcPr/>
                </a:tc>
                <a:extLst>
                  <a:ext uri="{0D108BD9-81ED-4DB2-BD59-A6C34878D82A}">
                    <a16:rowId xmlns:a16="http://schemas.microsoft.com/office/drawing/2014/main" val="588631835"/>
                  </a:ext>
                </a:extLst>
              </a:tr>
            </a:tbl>
          </a:graphicData>
        </a:graphic>
      </p:graphicFrame>
    </p:spTree>
    <p:extLst>
      <p:ext uri="{BB962C8B-B14F-4D97-AF65-F5344CB8AC3E}">
        <p14:creationId xmlns:p14="http://schemas.microsoft.com/office/powerpoint/2010/main" val="364161742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3B0523D-A899-4401-BCEE-CD6566BF4AC7}"/>
              </a:ext>
            </a:extLst>
          </p:cNvPr>
          <p:cNvSpPr>
            <a:spLocks noGrp="1"/>
          </p:cNvSpPr>
          <p:nvPr>
            <p:ph type="title"/>
          </p:nvPr>
        </p:nvSpPr>
        <p:spPr>
          <a:xfrm>
            <a:off x="1141413" y="618518"/>
            <a:ext cx="9905998" cy="799465"/>
          </a:xfrm>
        </p:spPr>
        <p:txBody>
          <a:bodyPr/>
          <a:lstStyle/>
          <a:p>
            <a:r>
              <a:rPr lang="en-US" dirty="0"/>
              <a:t>To read more …</a:t>
            </a:r>
            <a:endParaRPr lang="en-IN" dirty="0"/>
          </a:p>
        </p:txBody>
      </p:sp>
      <p:sp>
        <p:nvSpPr>
          <p:cNvPr id="4" name="TextBox 3">
            <a:extLst>
              <a:ext uri="{FF2B5EF4-FFF2-40B4-BE49-F238E27FC236}">
                <a16:creationId xmlns:a16="http://schemas.microsoft.com/office/drawing/2014/main" id="{29604A2D-5262-4CE9-9C9E-226A14765E06}"/>
              </a:ext>
            </a:extLst>
          </p:cNvPr>
          <p:cNvSpPr txBox="1"/>
          <p:nvPr/>
        </p:nvSpPr>
        <p:spPr>
          <a:xfrm>
            <a:off x="689317" y="1926352"/>
            <a:ext cx="10609381" cy="1477328"/>
          </a:xfrm>
          <a:prstGeom prst="rect">
            <a:avLst/>
          </a:prstGeom>
          <a:noFill/>
        </p:spPr>
        <p:txBody>
          <a:bodyPr wrap="square">
            <a:spAutoFit/>
          </a:bodyPr>
          <a:lstStyle/>
          <a:p>
            <a:r>
              <a:rPr lang="en-IN" dirty="0"/>
              <a:t>1.https://www.ti.com/lit/an/sbaa274/sbaa274.pdf?ts=1595152129802&amp;ref_url=https%253A%252F%252ww</a:t>
            </a:r>
          </a:p>
          <a:p>
            <a:r>
              <a:rPr lang="en-IN" dirty="0"/>
              <a:t>w.google.com%252F</a:t>
            </a:r>
          </a:p>
          <a:p>
            <a:endParaRPr lang="en-IN" dirty="0"/>
          </a:p>
          <a:p>
            <a:endParaRPr lang="en-IN" dirty="0"/>
          </a:p>
          <a:p>
            <a:endParaRPr lang="en-IN" dirty="0"/>
          </a:p>
        </p:txBody>
      </p:sp>
    </p:spTree>
    <p:extLst>
      <p:ext uri="{BB962C8B-B14F-4D97-AF65-F5344CB8AC3E}">
        <p14:creationId xmlns:p14="http://schemas.microsoft.com/office/powerpoint/2010/main" val="40449016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A23C761-88CD-40D1-B712-A21BD9D0F477}"/>
              </a:ext>
            </a:extLst>
          </p:cNvPr>
          <p:cNvSpPr>
            <a:spLocks noGrp="1"/>
          </p:cNvSpPr>
          <p:nvPr>
            <p:ph type="title"/>
          </p:nvPr>
        </p:nvSpPr>
        <p:spPr>
          <a:xfrm>
            <a:off x="1143001" y="224623"/>
            <a:ext cx="9905998" cy="661642"/>
          </a:xfrm>
        </p:spPr>
        <p:txBody>
          <a:bodyPr/>
          <a:lstStyle/>
          <a:p>
            <a:r>
              <a:rPr lang="en-US" dirty="0"/>
              <a:t>Diode as a temperature sensor</a:t>
            </a:r>
            <a:endParaRPr lang="en-IN" dirty="0"/>
          </a:p>
        </p:txBody>
      </p:sp>
      <p:pic>
        <p:nvPicPr>
          <p:cNvPr id="5122" name="Picture 2" descr="Diode Temperature Sensor">
            <a:extLst>
              <a:ext uri="{FF2B5EF4-FFF2-40B4-BE49-F238E27FC236}">
                <a16:creationId xmlns:a16="http://schemas.microsoft.com/office/drawing/2014/main" id="{2D9D8578-D2D7-4DCC-86AF-22649F8FFA8D}"/>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292543" y="1148589"/>
            <a:ext cx="9441105" cy="518882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89426619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8A32DAD-1230-4893-AE79-6B3DEE3DAD2A}"/>
              </a:ext>
            </a:extLst>
          </p:cNvPr>
          <p:cNvSpPr>
            <a:spLocks noGrp="1"/>
          </p:cNvSpPr>
          <p:nvPr>
            <p:ph type="title"/>
          </p:nvPr>
        </p:nvSpPr>
        <p:spPr>
          <a:xfrm>
            <a:off x="1161759" y="379367"/>
            <a:ext cx="9905998" cy="774184"/>
          </a:xfrm>
        </p:spPr>
        <p:txBody>
          <a:bodyPr/>
          <a:lstStyle/>
          <a:p>
            <a:r>
              <a:rPr lang="en-US" dirty="0"/>
              <a:t>DHT-11 Temperature sensor</a:t>
            </a:r>
            <a:endParaRPr lang="en-IN" dirty="0"/>
          </a:p>
        </p:txBody>
      </p:sp>
      <p:sp>
        <p:nvSpPr>
          <p:cNvPr id="6" name="TextBox 5">
            <a:extLst>
              <a:ext uri="{FF2B5EF4-FFF2-40B4-BE49-F238E27FC236}">
                <a16:creationId xmlns:a16="http://schemas.microsoft.com/office/drawing/2014/main" id="{09F0668C-A6CB-47FD-A3C0-E3A754709B54}"/>
              </a:ext>
            </a:extLst>
          </p:cNvPr>
          <p:cNvSpPr txBox="1"/>
          <p:nvPr/>
        </p:nvSpPr>
        <p:spPr>
          <a:xfrm>
            <a:off x="989427" y="1584909"/>
            <a:ext cx="7648135" cy="3970318"/>
          </a:xfrm>
          <a:prstGeom prst="rect">
            <a:avLst/>
          </a:prstGeom>
          <a:noFill/>
          <a:ln>
            <a:solidFill>
              <a:srgbClr val="FFFF00"/>
            </a:solidFill>
          </a:ln>
        </p:spPr>
        <p:txBody>
          <a:bodyPr wrap="square">
            <a:spAutoFit/>
          </a:bodyPr>
          <a:lstStyle/>
          <a:p>
            <a:pPr algn="just"/>
            <a:r>
              <a:rPr lang="en-IN" sz="2800" dirty="0"/>
              <a:t>The DHT11 is a basic, digital temperature and humidity sensor. It uses a capacitive humidity sensor and a thermistor to measure the surrounding air, and gives out a digital signal on the data pin (no </a:t>
            </a:r>
            <a:r>
              <a:rPr lang="en-IN" sz="2800" dirty="0" err="1"/>
              <a:t>analog</a:t>
            </a:r>
            <a:r>
              <a:rPr lang="en-IN" sz="2800" dirty="0"/>
              <a:t> input pins needed). It is simple to use, but requires careful timing to grab data. The only real downside of this sensor is you can only get new data from it once every 2 seconds, so when using the library, sensor readings can be up to 2 seconds old.</a:t>
            </a:r>
          </a:p>
        </p:txBody>
      </p:sp>
      <p:pic>
        <p:nvPicPr>
          <p:cNvPr id="7" name="Picture 6">
            <a:extLst>
              <a:ext uri="{FF2B5EF4-FFF2-40B4-BE49-F238E27FC236}">
                <a16:creationId xmlns:a16="http://schemas.microsoft.com/office/drawing/2014/main" id="{82DE28D0-2BB5-4F5B-B9BD-C7E5640B401C}"/>
              </a:ext>
            </a:extLst>
          </p:cNvPr>
          <p:cNvPicPr>
            <a:picLocks noChangeAspect="1"/>
          </p:cNvPicPr>
          <p:nvPr/>
        </p:nvPicPr>
        <p:blipFill>
          <a:blip r:embed="rId2"/>
          <a:stretch>
            <a:fillRect/>
          </a:stretch>
        </p:blipFill>
        <p:spPr>
          <a:xfrm>
            <a:off x="9696253" y="2064434"/>
            <a:ext cx="1371504" cy="2438230"/>
          </a:xfrm>
          <a:prstGeom prst="rect">
            <a:avLst/>
          </a:prstGeom>
        </p:spPr>
      </p:pic>
    </p:spTree>
    <p:extLst>
      <p:ext uri="{BB962C8B-B14F-4D97-AF65-F5344CB8AC3E}">
        <p14:creationId xmlns:p14="http://schemas.microsoft.com/office/powerpoint/2010/main" val="417848024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blipFill>
          <a:blip r:embed="rId2"/>
          <a:tile tx="0" ty="0" sx="100000" sy="100000" flip="none" algn="tl"/>
        </a:blipFill>
        <a:effectLst/>
      </p:bgPr>
    </p:bg>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EC9560A1-B546-4E58-AC68-33DB5B02020C}"/>
              </a:ext>
            </a:extLst>
          </p:cNvPr>
          <p:cNvPicPr>
            <a:picLocks noChangeAspect="1"/>
          </p:cNvPicPr>
          <p:nvPr/>
        </p:nvPicPr>
        <p:blipFill>
          <a:blip r:embed="rId3"/>
          <a:stretch>
            <a:fillRect/>
          </a:stretch>
        </p:blipFill>
        <p:spPr>
          <a:xfrm>
            <a:off x="499402" y="242532"/>
            <a:ext cx="1371504" cy="2438230"/>
          </a:xfrm>
          <a:prstGeom prst="rect">
            <a:avLst/>
          </a:prstGeom>
        </p:spPr>
      </p:pic>
      <p:pic>
        <p:nvPicPr>
          <p:cNvPr id="7170" name="Picture 2" descr="centiot ESP-WROOM-32 ESP32 ESP-32S Development Board Micro Controller Board Electronic Hobby Kit">
            <a:extLst>
              <a:ext uri="{FF2B5EF4-FFF2-40B4-BE49-F238E27FC236}">
                <a16:creationId xmlns:a16="http://schemas.microsoft.com/office/drawing/2014/main" id="{DE9D4AD1-8931-4245-818B-66749719487A}"/>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242561" y="1278767"/>
            <a:ext cx="6464105" cy="3527288"/>
          </a:xfrm>
          <a:prstGeom prst="rect">
            <a:avLst/>
          </a:prstGeom>
          <a:noFill/>
          <a:extLst>
            <a:ext uri="{909E8E84-426E-40DD-AFC4-6F175D3DCCD1}">
              <a14:hiddenFill xmlns:a14="http://schemas.microsoft.com/office/drawing/2010/main">
                <a:solidFill>
                  <a:srgbClr val="FFFFFF"/>
                </a:solidFill>
              </a14:hiddenFill>
            </a:ext>
          </a:extLst>
        </p:spPr>
      </p:pic>
      <p:cxnSp>
        <p:nvCxnSpPr>
          <p:cNvPr id="7" name="Straight Connector 6">
            <a:extLst>
              <a:ext uri="{FF2B5EF4-FFF2-40B4-BE49-F238E27FC236}">
                <a16:creationId xmlns:a16="http://schemas.microsoft.com/office/drawing/2014/main" id="{F6B0C24F-8D8F-4F71-9E2A-FB4D3B471298}"/>
              </a:ext>
            </a:extLst>
          </p:cNvPr>
          <p:cNvCxnSpPr>
            <a:cxnSpLocks/>
          </p:cNvCxnSpPr>
          <p:nvPr/>
        </p:nvCxnSpPr>
        <p:spPr>
          <a:xfrm>
            <a:off x="759655" y="2680762"/>
            <a:ext cx="0" cy="2861909"/>
          </a:xfrm>
          <a:prstGeom prst="line">
            <a:avLst/>
          </a:prstGeom>
          <a:ln w="111125">
            <a:solidFill>
              <a:srgbClr val="FF0000"/>
            </a:solidFill>
          </a:ln>
        </p:spPr>
        <p:style>
          <a:lnRef idx="1">
            <a:schemeClr val="accent2"/>
          </a:lnRef>
          <a:fillRef idx="0">
            <a:schemeClr val="accent2"/>
          </a:fillRef>
          <a:effectRef idx="0">
            <a:schemeClr val="accent2"/>
          </a:effectRef>
          <a:fontRef idx="minor">
            <a:schemeClr val="tx1"/>
          </a:fontRef>
        </p:style>
      </p:cxnSp>
      <p:cxnSp>
        <p:nvCxnSpPr>
          <p:cNvPr id="10" name="Straight Connector 9">
            <a:extLst>
              <a:ext uri="{FF2B5EF4-FFF2-40B4-BE49-F238E27FC236}">
                <a16:creationId xmlns:a16="http://schemas.microsoft.com/office/drawing/2014/main" id="{29BCBE9D-2E96-4730-B094-C6962A536273}"/>
              </a:ext>
            </a:extLst>
          </p:cNvPr>
          <p:cNvCxnSpPr>
            <a:cxnSpLocks/>
          </p:cNvCxnSpPr>
          <p:nvPr/>
        </p:nvCxnSpPr>
        <p:spPr>
          <a:xfrm>
            <a:off x="773723" y="5528603"/>
            <a:ext cx="5781822" cy="14068"/>
          </a:xfrm>
          <a:prstGeom prst="line">
            <a:avLst/>
          </a:prstGeom>
          <a:ln w="111125">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12" name="Straight Connector 11">
            <a:extLst>
              <a:ext uri="{FF2B5EF4-FFF2-40B4-BE49-F238E27FC236}">
                <a16:creationId xmlns:a16="http://schemas.microsoft.com/office/drawing/2014/main" id="{5FD1BC34-753B-48F7-B835-B8FB93BD21EB}"/>
              </a:ext>
            </a:extLst>
          </p:cNvPr>
          <p:cNvCxnSpPr/>
          <p:nvPr/>
        </p:nvCxnSpPr>
        <p:spPr>
          <a:xfrm>
            <a:off x="6555545" y="4557932"/>
            <a:ext cx="0" cy="984739"/>
          </a:xfrm>
          <a:prstGeom prst="line">
            <a:avLst/>
          </a:prstGeom>
          <a:ln w="111125">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15" name="Straight Connector 14">
            <a:extLst>
              <a:ext uri="{FF2B5EF4-FFF2-40B4-BE49-F238E27FC236}">
                <a16:creationId xmlns:a16="http://schemas.microsoft.com/office/drawing/2014/main" id="{5A6C47D8-26EC-48F8-B1B1-CD74694082F9}"/>
              </a:ext>
            </a:extLst>
          </p:cNvPr>
          <p:cNvCxnSpPr>
            <a:cxnSpLocks/>
          </p:cNvCxnSpPr>
          <p:nvPr/>
        </p:nvCxnSpPr>
        <p:spPr>
          <a:xfrm>
            <a:off x="1601370" y="2680762"/>
            <a:ext cx="0" cy="3092463"/>
          </a:xfrm>
          <a:prstGeom prst="line">
            <a:avLst/>
          </a:prstGeom>
          <a:ln w="111125">
            <a:solidFill>
              <a:srgbClr val="92D050"/>
            </a:solidFill>
          </a:ln>
        </p:spPr>
        <p:style>
          <a:lnRef idx="1">
            <a:schemeClr val="accent2"/>
          </a:lnRef>
          <a:fillRef idx="0">
            <a:schemeClr val="accent2"/>
          </a:fillRef>
          <a:effectRef idx="0">
            <a:schemeClr val="accent2"/>
          </a:effectRef>
          <a:fontRef idx="minor">
            <a:schemeClr val="tx1"/>
          </a:fontRef>
        </p:style>
      </p:cxnSp>
      <p:cxnSp>
        <p:nvCxnSpPr>
          <p:cNvPr id="16" name="Straight Connector 15">
            <a:extLst>
              <a:ext uri="{FF2B5EF4-FFF2-40B4-BE49-F238E27FC236}">
                <a16:creationId xmlns:a16="http://schemas.microsoft.com/office/drawing/2014/main" id="{78780E2D-9566-4EE2-8154-B4BD7F74BEE1}"/>
              </a:ext>
            </a:extLst>
          </p:cNvPr>
          <p:cNvCxnSpPr>
            <a:cxnSpLocks/>
          </p:cNvCxnSpPr>
          <p:nvPr/>
        </p:nvCxnSpPr>
        <p:spPr>
          <a:xfrm>
            <a:off x="1601370" y="5773225"/>
            <a:ext cx="5247250" cy="0"/>
          </a:xfrm>
          <a:prstGeom prst="line">
            <a:avLst/>
          </a:prstGeom>
          <a:ln w="111125">
            <a:solidFill>
              <a:srgbClr val="92D050"/>
            </a:solidFill>
          </a:ln>
        </p:spPr>
        <p:style>
          <a:lnRef idx="1">
            <a:schemeClr val="accent1"/>
          </a:lnRef>
          <a:fillRef idx="0">
            <a:schemeClr val="accent1"/>
          </a:fillRef>
          <a:effectRef idx="0">
            <a:schemeClr val="accent1"/>
          </a:effectRef>
          <a:fontRef idx="minor">
            <a:schemeClr val="tx1"/>
          </a:fontRef>
        </p:style>
      </p:cxnSp>
      <p:cxnSp>
        <p:nvCxnSpPr>
          <p:cNvPr id="17" name="Straight Connector 16">
            <a:extLst>
              <a:ext uri="{FF2B5EF4-FFF2-40B4-BE49-F238E27FC236}">
                <a16:creationId xmlns:a16="http://schemas.microsoft.com/office/drawing/2014/main" id="{0D1B2BEB-795D-4C20-82D9-A3756E1512BE}"/>
              </a:ext>
            </a:extLst>
          </p:cNvPr>
          <p:cNvCxnSpPr>
            <a:cxnSpLocks/>
          </p:cNvCxnSpPr>
          <p:nvPr/>
        </p:nvCxnSpPr>
        <p:spPr>
          <a:xfrm>
            <a:off x="6848620" y="4540363"/>
            <a:ext cx="0" cy="1232862"/>
          </a:xfrm>
          <a:prstGeom prst="line">
            <a:avLst/>
          </a:prstGeom>
          <a:ln w="111125">
            <a:solidFill>
              <a:srgbClr val="92D050"/>
            </a:solidFill>
          </a:ln>
        </p:spPr>
        <p:style>
          <a:lnRef idx="1">
            <a:schemeClr val="accent1"/>
          </a:lnRef>
          <a:fillRef idx="0">
            <a:schemeClr val="accent1"/>
          </a:fillRef>
          <a:effectRef idx="0">
            <a:schemeClr val="accent1"/>
          </a:effectRef>
          <a:fontRef idx="minor">
            <a:schemeClr val="tx1"/>
          </a:fontRef>
        </p:style>
      </p:cxnSp>
      <p:cxnSp>
        <p:nvCxnSpPr>
          <p:cNvPr id="23" name="Straight Connector 22">
            <a:extLst>
              <a:ext uri="{FF2B5EF4-FFF2-40B4-BE49-F238E27FC236}">
                <a16:creationId xmlns:a16="http://schemas.microsoft.com/office/drawing/2014/main" id="{319EAEB1-0435-4268-89C1-FCECED701243}"/>
              </a:ext>
            </a:extLst>
          </p:cNvPr>
          <p:cNvCxnSpPr>
            <a:cxnSpLocks/>
          </p:cNvCxnSpPr>
          <p:nvPr/>
        </p:nvCxnSpPr>
        <p:spPr>
          <a:xfrm>
            <a:off x="1050384" y="2680762"/>
            <a:ext cx="0" cy="3390840"/>
          </a:xfrm>
          <a:prstGeom prst="line">
            <a:avLst/>
          </a:prstGeom>
          <a:ln w="111125">
            <a:solidFill>
              <a:srgbClr val="00B0F0"/>
            </a:solidFill>
          </a:ln>
        </p:spPr>
        <p:style>
          <a:lnRef idx="1">
            <a:schemeClr val="accent2"/>
          </a:lnRef>
          <a:fillRef idx="0">
            <a:schemeClr val="accent2"/>
          </a:fillRef>
          <a:effectRef idx="0">
            <a:schemeClr val="accent2"/>
          </a:effectRef>
          <a:fontRef idx="minor">
            <a:schemeClr val="tx1"/>
          </a:fontRef>
        </p:style>
      </p:cxnSp>
      <p:cxnSp>
        <p:nvCxnSpPr>
          <p:cNvPr id="24" name="Straight Connector 23">
            <a:extLst>
              <a:ext uri="{FF2B5EF4-FFF2-40B4-BE49-F238E27FC236}">
                <a16:creationId xmlns:a16="http://schemas.microsoft.com/office/drawing/2014/main" id="{E8C35353-8D8B-43E3-BB86-C175B0A5720D}"/>
              </a:ext>
            </a:extLst>
          </p:cNvPr>
          <p:cNvCxnSpPr>
            <a:cxnSpLocks/>
          </p:cNvCxnSpPr>
          <p:nvPr/>
        </p:nvCxnSpPr>
        <p:spPr>
          <a:xfrm>
            <a:off x="1064452" y="6057534"/>
            <a:ext cx="6714982" cy="14068"/>
          </a:xfrm>
          <a:prstGeom prst="line">
            <a:avLst/>
          </a:prstGeom>
          <a:ln w="111125">
            <a:solidFill>
              <a:srgbClr val="00B0F0"/>
            </a:solidFill>
          </a:ln>
        </p:spPr>
        <p:style>
          <a:lnRef idx="1">
            <a:schemeClr val="accent1"/>
          </a:lnRef>
          <a:fillRef idx="0">
            <a:schemeClr val="accent1"/>
          </a:fillRef>
          <a:effectRef idx="0">
            <a:schemeClr val="accent1"/>
          </a:effectRef>
          <a:fontRef idx="minor">
            <a:schemeClr val="tx1"/>
          </a:fontRef>
        </p:style>
      </p:cxnSp>
      <p:cxnSp>
        <p:nvCxnSpPr>
          <p:cNvPr id="25" name="Straight Connector 24">
            <a:extLst>
              <a:ext uri="{FF2B5EF4-FFF2-40B4-BE49-F238E27FC236}">
                <a16:creationId xmlns:a16="http://schemas.microsoft.com/office/drawing/2014/main" id="{6CA973BC-28C6-4BDD-B94B-D176F9889342}"/>
              </a:ext>
            </a:extLst>
          </p:cNvPr>
          <p:cNvCxnSpPr>
            <a:cxnSpLocks/>
          </p:cNvCxnSpPr>
          <p:nvPr/>
        </p:nvCxnSpPr>
        <p:spPr>
          <a:xfrm flipH="1">
            <a:off x="7779435" y="4557932"/>
            <a:ext cx="1" cy="1513670"/>
          </a:xfrm>
          <a:prstGeom prst="line">
            <a:avLst/>
          </a:prstGeom>
          <a:ln w="111125">
            <a:solidFill>
              <a:srgbClr val="00B0F0"/>
            </a:solidFill>
          </a:ln>
        </p:spPr>
        <p:style>
          <a:lnRef idx="1">
            <a:schemeClr val="accent1"/>
          </a:lnRef>
          <a:fillRef idx="0">
            <a:schemeClr val="accent1"/>
          </a:fillRef>
          <a:effectRef idx="0">
            <a:schemeClr val="accent1"/>
          </a:effectRef>
          <a:fontRef idx="minor">
            <a:schemeClr val="tx1"/>
          </a:fontRef>
        </p:style>
      </p:cxnSp>
      <p:pic>
        <p:nvPicPr>
          <p:cNvPr id="31" name="Picture 30">
            <a:extLst>
              <a:ext uri="{FF2B5EF4-FFF2-40B4-BE49-F238E27FC236}">
                <a16:creationId xmlns:a16="http://schemas.microsoft.com/office/drawing/2014/main" id="{723DC935-A69A-4FBF-A5B8-1D22F952D4C4}"/>
              </a:ext>
            </a:extLst>
          </p:cNvPr>
          <p:cNvPicPr>
            <a:picLocks noChangeAspect="1"/>
          </p:cNvPicPr>
          <p:nvPr/>
        </p:nvPicPr>
        <p:blipFill>
          <a:blip r:embed="rId5"/>
          <a:stretch>
            <a:fillRect/>
          </a:stretch>
        </p:blipFill>
        <p:spPr>
          <a:xfrm>
            <a:off x="2666229" y="2680461"/>
            <a:ext cx="2532468" cy="583235"/>
          </a:xfrm>
          <a:prstGeom prst="rect">
            <a:avLst/>
          </a:prstGeom>
        </p:spPr>
      </p:pic>
      <p:sp>
        <p:nvSpPr>
          <p:cNvPr id="32" name="TextBox 31">
            <a:extLst>
              <a:ext uri="{FF2B5EF4-FFF2-40B4-BE49-F238E27FC236}">
                <a16:creationId xmlns:a16="http://schemas.microsoft.com/office/drawing/2014/main" id="{198749E2-1612-412B-BEC5-7661AB8C5C95}"/>
              </a:ext>
            </a:extLst>
          </p:cNvPr>
          <p:cNvSpPr txBox="1"/>
          <p:nvPr/>
        </p:nvSpPr>
        <p:spPr>
          <a:xfrm>
            <a:off x="2982351" y="3429000"/>
            <a:ext cx="1846659" cy="646331"/>
          </a:xfrm>
          <a:prstGeom prst="rect">
            <a:avLst/>
          </a:prstGeom>
          <a:noFill/>
        </p:spPr>
        <p:txBody>
          <a:bodyPr wrap="none" rtlCol="0">
            <a:spAutoFit/>
          </a:bodyPr>
          <a:lstStyle/>
          <a:p>
            <a:r>
              <a:rPr lang="en-US" dirty="0"/>
              <a:t>Power from a USB</a:t>
            </a:r>
          </a:p>
          <a:p>
            <a:r>
              <a:rPr lang="en-US" dirty="0"/>
              <a:t>Mobile charger</a:t>
            </a:r>
            <a:endParaRPr lang="en-IN" dirty="0"/>
          </a:p>
        </p:txBody>
      </p:sp>
    </p:spTree>
    <p:extLst>
      <p:ext uri="{BB962C8B-B14F-4D97-AF65-F5344CB8AC3E}">
        <p14:creationId xmlns:p14="http://schemas.microsoft.com/office/powerpoint/2010/main" val="75232609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blipFill>
          <a:blip r:embed="rId2"/>
          <a:tile tx="0" ty="0" sx="100000" sy="100000" flip="none" algn="tl"/>
        </a:blipFill>
        <a:effectLst/>
      </p:bgPr>
    </p:bg>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FA1C52A7-4C01-43F9-8611-F10968E85A06}"/>
              </a:ext>
            </a:extLst>
          </p:cNvPr>
          <p:cNvPicPr>
            <a:picLocks noChangeAspect="1"/>
          </p:cNvPicPr>
          <p:nvPr/>
        </p:nvPicPr>
        <p:blipFill>
          <a:blip r:embed="rId3"/>
          <a:stretch>
            <a:fillRect/>
          </a:stretch>
        </p:blipFill>
        <p:spPr>
          <a:xfrm rot="-5400000">
            <a:off x="2194476" y="-1477022"/>
            <a:ext cx="6668260" cy="9622304"/>
          </a:xfrm>
          <a:prstGeom prst="rect">
            <a:avLst/>
          </a:prstGeom>
        </p:spPr>
      </p:pic>
    </p:spTree>
    <p:extLst>
      <p:ext uri="{BB962C8B-B14F-4D97-AF65-F5344CB8AC3E}">
        <p14:creationId xmlns:p14="http://schemas.microsoft.com/office/powerpoint/2010/main" val="329294455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19447393-D219-4375-A897-0C6F06BB8C58}"/>
              </a:ext>
            </a:extLst>
          </p:cNvPr>
          <p:cNvSpPr txBox="1"/>
          <p:nvPr/>
        </p:nvSpPr>
        <p:spPr>
          <a:xfrm>
            <a:off x="886265" y="787790"/>
            <a:ext cx="5908430" cy="5078313"/>
          </a:xfrm>
          <a:prstGeom prst="rect">
            <a:avLst/>
          </a:prstGeom>
          <a:noFill/>
          <a:ln w="63500">
            <a:solidFill>
              <a:srgbClr val="FFFF00"/>
            </a:solidFill>
          </a:ln>
        </p:spPr>
        <p:txBody>
          <a:bodyPr wrap="square" rtlCol="0">
            <a:spAutoFit/>
          </a:bodyPr>
          <a:lstStyle/>
          <a:p>
            <a:r>
              <a:rPr lang="en-US" dirty="0"/>
              <a:t>#include "</a:t>
            </a:r>
            <a:r>
              <a:rPr lang="en-US" dirty="0" err="1"/>
              <a:t>DHT.h</a:t>
            </a:r>
            <a:r>
              <a:rPr lang="en-US" dirty="0"/>
              <a:t>"</a:t>
            </a:r>
          </a:p>
          <a:p>
            <a:r>
              <a:rPr lang="en-US" dirty="0"/>
              <a:t>#define DHTPIN 4    </a:t>
            </a:r>
          </a:p>
          <a:p>
            <a:r>
              <a:rPr lang="en-US" dirty="0"/>
              <a:t>#define DHTTYPE DHT11  </a:t>
            </a:r>
          </a:p>
          <a:p>
            <a:r>
              <a:rPr lang="en-US" dirty="0"/>
              <a:t>DHT </a:t>
            </a:r>
            <a:r>
              <a:rPr lang="en-US" dirty="0" err="1"/>
              <a:t>dht</a:t>
            </a:r>
            <a:r>
              <a:rPr lang="en-US" dirty="0"/>
              <a:t>(DHTPIN, DHTTYPE);</a:t>
            </a:r>
          </a:p>
          <a:p>
            <a:r>
              <a:rPr lang="en-US" dirty="0"/>
              <a:t>void loop() </a:t>
            </a:r>
          </a:p>
          <a:p>
            <a:r>
              <a:rPr lang="en-US" dirty="0"/>
              <a:t>{</a:t>
            </a:r>
          </a:p>
          <a:p>
            <a:r>
              <a:rPr lang="en-US" dirty="0"/>
              <a:t>  // Wait a few seconds between measurements.</a:t>
            </a:r>
          </a:p>
          <a:p>
            <a:r>
              <a:rPr lang="en-US" dirty="0"/>
              <a:t>  delay(2000);</a:t>
            </a:r>
          </a:p>
          <a:p>
            <a:r>
              <a:rPr lang="en-US" dirty="0"/>
              <a:t>  float h = </a:t>
            </a:r>
            <a:r>
              <a:rPr lang="en-US" dirty="0" err="1"/>
              <a:t>dht.readHumidity</a:t>
            </a:r>
            <a:r>
              <a:rPr lang="en-US" dirty="0"/>
              <a:t>();</a:t>
            </a:r>
          </a:p>
          <a:p>
            <a:r>
              <a:rPr lang="en-US" dirty="0"/>
              <a:t>  float c = </a:t>
            </a:r>
            <a:r>
              <a:rPr lang="en-US" dirty="0" err="1"/>
              <a:t>dht.readTemperature</a:t>
            </a:r>
            <a:r>
              <a:rPr lang="en-US" dirty="0"/>
              <a:t>();</a:t>
            </a:r>
          </a:p>
          <a:p>
            <a:r>
              <a:rPr lang="en-US" dirty="0"/>
              <a:t>  // Check if any reads failed and exit early (to try again).</a:t>
            </a:r>
          </a:p>
          <a:p>
            <a:r>
              <a:rPr lang="en-US" dirty="0"/>
              <a:t>  if (</a:t>
            </a:r>
            <a:r>
              <a:rPr lang="en-US" dirty="0" err="1"/>
              <a:t>isnan</a:t>
            </a:r>
            <a:r>
              <a:rPr lang="en-US" dirty="0"/>
              <a:t>(h) || </a:t>
            </a:r>
            <a:r>
              <a:rPr lang="en-US" dirty="0" err="1"/>
              <a:t>isnan</a:t>
            </a:r>
            <a:r>
              <a:rPr lang="en-US" dirty="0"/>
              <a:t>(t) || </a:t>
            </a:r>
            <a:r>
              <a:rPr lang="en-US" dirty="0" err="1"/>
              <a:t>isnan</a:t>
            </a:r>
            <a:r>
              <a:rPr lang="en-US" dirty="0"/>
              <a:t>(f)) </a:t>
            </a:r>
          </a:p>
          <a:p>
            <a:r>
              <a:rPr lang="en-US" dirty="0"/>
              <a:t>  {</a:t>
            </a:r>
          </a:p>
          <a:p>
            <a:r>
              <a:rPr lang="en-US" dirty="0"/>
              <a:t>    </a:t>
            </a:r>
            <a:r>
              <a:rPr lang="en-US" dirty="0" err="1"/>
              <a:t>Serial.println</a:t>
            </a:r>
            <a:r>
              <a:rPr lang="en-US" dirty="0"/>
              <a:t>(F("Failed to read from DHT sensor!"));</a:t>
            </a:r>
          </a:p>
          <a:p>
            <a:r>
              <a:rPr lang="en-US" dirty="0"/>
              <a:t>    return;</a:t>
            </a:r>
          </a:p>
          <a:p>
            <a:r>
              <a:rPr lang="en-US" dirty="0"/>
              <a:t>  }</a:t>
            </a:r>
          </a:p>
          <a:p>
            <a:r>
              <a:rPr lang="en-US" dirty="0"/>
              <a:t>  </a:t>
            </a:r>
          </a:p>
          <a:p>
            <a:endParaRPr lang="en-IN" dirty="0"/>
          </a:p>
        </p:txBody>
      </p:sp>
      <p:sp>
        <p:nvSpPr>
          <p:cNvPr id="3" name="TextBox 2">
            <a:extLst>
              <a:ext uri="{FF2B5EF4-FFF2-40B4-BE49-F238E27FC236}">
                <a16:creationId xmlns:a16="http://schemas.microsoft.com/office/drawing/2014/main" id="{5522CF1B-C048-4436-B462-DC70E88BCD04}"/>
              </a:ext>
            </a:extLst>
          </p:cNvPr>
          <p:cNvSpPr txBox="1"/>
          <p:nvPr/>
        </p:nvSpPr>
        <p:spPr>
          <a:xfrm>
            <a:off x="6949439" y="787790"/>
            <a:ext cx="5064369" cy="3139321"/>
          </a:xfrm>
          <a:prstGeom prst="rect">
            <a:avLst/>
          </a:prstGeom>
          <a:noFill/>
          <a:ln w="63500">
            <a:solidFill>
              <a:srgbClr val="FFFF00"/>
            </a:solidFill>
          </a:ln>
        </p:spPr>
        <p:txBody>
          <a:bodyPr wrap="square" rtlCol="0">
            <a:spAutoFit/>
          </a:bodyPr>
          <a:lstStyle/>
          <a:p>
            <a:endParaRPr lang="en-US" dirty="0"/>
          </a:p>
          <a:p>
            <a:r>
              <a:rPr lang="en-US" dirty="0"/>
              <a:t>  float hic = </a:t>
            </a:r>
            <a:r>
              <a:rPr lang="en-US" dirty="0" err="1"/>
              <a:t>dht.computeHeatIndex</a:t>
            </a:r>
            <a:r>
              <a:rPr lang="en-US" dirty="0"/>
              <a:t>(t, h, false);</a:t>
            </a:r>
          </a:p>
          <a:p>
            <a:r>
              <a:rPr lang="en-US" dirty="0"/>
              <a:t>  </a:t>
            </a:r>
            <a:r>
              <a:rPr lang="en-US" dirty="0" err="1"/>
              <a:t>Serial.print</a:t>
            </a:r>
            <a:r>
              <a:rPr lang="en-US" dirty="0"/>
              <a:t>(F("Humidity: "));</a:t>
            </a:r>
          </a:p>
          <a:p>
            <a:r>
              <a:rPr lang="en-US" dirty="0"/>
              <a:t>  </a:t>
            </a:r>
            <a:r>
              <a:rPr lang="en-US" dirty="0" err="1"/>
              <a:t>Serial.print</a:t>
            </a:r>
            <a:r>
              <a:rPr lang="en-US" dirty="0"/>
              <a:t>(h);</a:t>
            </a:r>
          </a:p>
          <a:p>
            <a:r>
              <a:rPr lang="en-US" dirty="0"/>
              <a:t>  </a:t>
            </a:r>
            <a:r>
              <a:rPr lang="en-US" dirty="0" err="1"/>
              <a:t>Serial.print</a:t>
            </a:r>
            <a:r>
              <a:rPr lang="en-US" dirty="0"/>
              <a:t>(c);</a:t>
            </a:r>
          </a:p>
          <a:p>
            <a:r>
              <a:rPr lang="en-US" dirty="0"/>
              <a:t>  </a:t>
            </a:r>
            <a:r>
              <a:rPr lang="en-US" dirty="0" err="1"/>
              <a:t>Serial.print</a:t>
            </a:r>
            <a:r>
              <a:rPr lang="en-US" dirty="0"/>
              <a:t>(F("°C "));</a:t>
            </a:r>
          </a:p>
          <a:p>
            <a:r>
              <a:rPr lang="en-US" dirty="0"/>
              <a:t>  </a:t>
            </a:r>
            <a:r>
              <a:rPr lang="en-US" dirty="0" err="1"/>
              <a:t>Serial.print</a:t>
            </a:r>
            <a:r>
              <a:rPr lang="en-US" dirty="0"/>
              <a:t>(F("°F  Heat index: "));</a:t>
            </a:r>
          </a:p>
          <a:p>
            <a:r>
              <a:rPr lang="en-US" dirty="0"/>
              <a:t>  </a:t>
            </a:r>
            <a:r>
              <a:rPr lang="en-US" dirty="0" err="1"/>
              <a:t>Serial.print</a:t>
            </a:r>
            <a:r>
              <a:rPr lang="en-US" dirty="0"/>
              <a:t>(hic);</a:t>
            </a:r>
          </a:p>
          <a:p>
            <a:r>
              <a:rPr lang="en-US" dirty="0"/>
              <a:t>  </a:t>
            </a:r>
            <a:r>
              <a:rPr lang="en-US" dirty="0" err="1"/>
              <a:t>Serial.print</a:t>
            </a:r>
            <a:r>
              <a:rPr lang="en-US" dirty="0"/>
              <a:t>(F("°C "));</a:t>
            </a:r>
          </a:p>
          <a:p>
            <a:r>
              <a:rPr lang="en-US" dirty="0"/>
              <a:t>}</a:t>
            </a:r>
          </a:p>
          <a:p>
            <a:endParaRPr lang="en-IN" dirty="0"/>
          </a:p>
        </p:txBody>
      </p:sp>
    </p:spTree>
    <p:extLst>
      <p:ext uri="{BB962C8B-B14F-4D97-AF65-F5344CB8AC3E}">
        <p14:creationId xmlns:p14="http://schemas.microsoft.com/office/powerpoint/2010/main" val="2932519495"/>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4830713-31F2-459C-9AD3-35DAE083AEF6}"/>
              </a:ext>
            </a:extLst>
          </p:cNvPr>
          <p:cNvSpPr>
            <a:spLocks noGrp="1"/>
          </p:cNvSpPr>
          <p:nvPr>
            <p:ph type="title"/>
          </p:nvPr>
        </p:nvSpPr>
        <p:spPr>
          <a:xfrm>
            <a:off x="1141413" y="618518"/>
            <a:ext cx="7035178" cy="547673"/>
          </a:xfrm>
        </p:spPr>
        <p:txBody>
          <a:bodyPr>
            <a:normAutofit fontScale="90000"/>
          </a:bodyPr>
          <a:lstStyle/>
          <a:p>
            <a:r>
              <a:rPr lang="en-IN" dirty="0"/>
              <a:t>Infrared Thermometer</a:t>
            </a:r>
          </a:p>
        </p:txBody>
      </p:sp>
      <p:sp>
        <p:nvSpPr>
          <p:cNvPr id="4" name="TextBox 3">
            <a:extLst>
              <a:ext uri="{FF2B5EF4-FFF2-40B4-BE49-F238E27FC236}">
                <a16:creationId xmlns:a16="http://schemas.microsoft.com/office/drawing/2014/main" id="{ECD1FC20-F2E3-490A-A1B6-8315AFBB63B1}"/>
              </a:ext>
            </a:extLst>
          </p:cNvPr>
          <p:cNvSpPr txBox="1"/>
          <p:nvPr/>
        </p:nvSpPr>
        <p:spPr>
          <a:xfrm>
            <a:off x="1141413" y="2327270"/>
            <a:ext cx="9115770" cy="369332"/>
          </a:xfrm>
          <a:prstGeom prst="rect">
            <a:avLst/>
          </a:prstGeom>
          <a:noFill/>
        </p:spPr>
        <p:txBody>
          <a:bodyPr wrap="square">
            <a:spAutoFit/>
          </a:bodyPr>
          <a:lstStyle/>
          <a:p>
            <a:r>
              <a:rPr lang="en-IN" dirty="0">
                <a:hlinkClick r:id="rId2"/>
              </a:rPr>
              <a:t>http://www.esp32learning.com/code/esp32-and-mlx90614-infrared-thermometer-example.php</a:t>
            </a:r>
            <a:endParaRPr lang="en-IN" dirty="0"/>
          </a:p>
        </p:txBody>
      </p:sp>
    </p:spTree>
    <p:extLst>
      <p:ext uri="{BB962C8B-B14F-4D97-AF65-F5344CB8AC3E}">
        <p14:creationId xmlns:p14="http://schemas.microsoft.com/office/powerpoint/2010/main" val="3775327973"/>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5872E23-8F7E-4294-9E62-12CA212CDA75}"/>
              </a:ext>
            </a:extLst>
          </p:cNvPr>
          <p:cNvSpPr>
            <a:spLocks noGrp="1"/>
          </p:cNvSpPr>
          <p:nvPr>
            <p:ph type="title"/>
          </p:nvPr>
        </p:nvSpPr>
        <p:spPr>
          <a:xfrm>
            <a:off x="1298713" y="260709"/>
            <a:ext cx="9750286" cy="945239"/>
          </a:xfrm>
        </p:spPr>
        <p:txBody>
          <a:bodyPr/>
          <a:lstStyle/>
          <a:p>
            <a:r>
              <a:rPr lang="en-US" dirty="0"/>
              <a:t>What are sensor for IOT</a:t>
            </a:r>
            <a:endParaRPr lang="en-IN" dirty="0"/>
          </a:p>
        </p:txBody>
      </p:sp>
      <p:sp>
        <p:nvSpPr>
          <p:cNvPr id="3" name="TextBox 2">
            <a:extLst>
              <a:ext uri="{FF2B5EF4-FFF2-40B4-BE49-F238E27FC236}">
                <a16:creationId xmlns:a16="http://schemas.microsoft.com/office/drawing/2014/main" id="{4F48874D-A41D-477D-AE38-E786AE2DD4FE}"/>
              </a:ext>
            </a:extLst>
          </p:cNvPr>
          <p:cNvSpPr txBox="1"/>
          <p:nvPr/>
        </p:nvSpPr>
        <p:spPr>
          <a:xfrm>
            <a:off x="1298713" y="2405575"/>
            <a:ext cx="9378665" cy="1815882"/>
          </a:xfrm>
          <a:prstGeom prst="rect">
            <a:avLst/>
          </a:prstGeom>
          <a:noFill/>
          <a:ln w="73025">
            <a:solidFill>
              <a:srgbClr val="FFFF00"/>
            </a:solidFill>
          </a:ln>
        </p:spPr>
        <p:txBody>
          <a:bodyPr wrap="square" rtlCol="0">
            <a:spAutoFit/>
          </a:bodyPr>
          <a:lstStyle/>
          <a:p>
            <a:r>
              <a:rPr lang="en-US" sz="2800" dirty="0"/>
              <a:t>Practically any sensor can be used for IOT application provided the sensor can give a Digital output. In case the sensor provides  only an analog output.  In which we need to provide a Digital to Analog convertor. </a:t>
            </a:r>
            <a:endParaRPr lang="en-IN" sz="2800" dirty="0"/>
          </a:p>
        </p:txBody>
      </p:sp>
    </p:spTree>
    <p:extLst>
      <p:ext uri="{BB962C8B-B14F-4D97-AF65-F5344CB8AC3E}">
        <p14:creationId xmlns:p14="http://schemas.microsoft.com/office/powerpoint/2010/main" val="2198150265"/>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D5E0969-E232-4AE3-BD8C-9FA0547F132F}"/>
              </a:ext>
            </a:extLst>
          </p:cNvPr>
          <p:cNvSpPr>
            <a:spLocks noGrp="1"/>
          </p:cNvSpPr>
          <p:nvPr>
            <p:ph type="title"/>
          </p:nvPr>
        </p:nvSpPr>
        <p:spPr>
          <a:xfrm>
            <a:off x="1143001" y="196487"/>
            <a:ext cx="9905998" cy="675710"/>
          </a:xfrm>
        </p:spPr>
        <p:txBody>
          <a:bodyPr/>
          <a:lstStyle/>
          <a:p>
            <a:r>
              <a:rPr lang="en-US" dirty="0"/>
              <a:t>What cannot be used with IOT</a:t>
            </a:r>
            <a:endParaRPr lang="en-IN" dirty="0"/>
          </a:p>
        </p:txBody>
      </p:sp>
      <p:pic>
        <p:nvPicPr>
          <p:cNvPr id="9220" name="Picture 4" descr="Watt Governor - Construction And Working">
            <a:extLst>
              <a:ext uri="{FF2B5EF4-FFF2-40B4-BE49-F238E27FC236}">
                <a16:creationId xmlns:a16="http://schemas.microsoft.com/office/drawing/2014/main" id="{FD35EB07-A87D-45C1-B90A-08F2C46A7F4E}"/>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89782" y="872196"/>
            <a:ext cx="9168618" cy="5670511"/>
          </a:xfrm>
          <a:prstGeom prst="rect">
            <a:avLst/>
          </a:prstGeom>
          <a:noFill/>
          <a:ln w="85725">
            <a:solidFill>
              <a:srgbClr val="FFFF00"/>
            </a:solidFill>
          </a:ln>
          <a:extLst>
            <a:ext uri="{909E8E84-426E-40DD-AFC4-6F175D3DCCD1}">
              <a14:hiddenFill xmlns:a14="http://schemas.microsoft.com/office/drawing/2010/main">
                <a:solidFill>
                  <a:srgbClr val="FFFFFF"/>
                </a:solidFill>
              </a14:hiddenFill>
            </a:ext>
          </a:extLst>
        </p:spPr>
      </p:pic>
      <p:sp>
        <p:nvSpPr>
          <p:cNvPr id="3" name="TextBox 2">
            <a:extLst>
              <a:ext uri="{FF2B5EF4-FFF2-40B4-BE49-F238E27FC236}">
                <a16:creationId xmlns:a16="http://schemas.microsoft.com/office/drawing/2014/main" id="{55E48EC5-5C40-4A08-8965-60CA00935702}"/>
              </a:ext>
            </a:extLst>
          </p:cNvPr>
          <p:cNvSpPr txBox="1"/>
          <p:nvPr/>
        </p:nvSpPr>
        <p:spPr>
          <a:xfrm>
            <a:off x="10424160" y="2686929"/>
            <a:ext cx="1561514" cy="1754326"/>
          </a:xfrm>
          <a:prstGeom prst="rect">
            <a:avLst/>
          </a:prstGeom>
          <a:noFill/>
          <a:ln w="82550">
            <a:solidFill>
              <a:srgbClr val="FFFF00"/>
            </a:solidFill>
          </a:ln>
        </p:spPr>
        <p:txBody>
          <a:bodyPr wrap="square" rtlCol="0">
            <a:spAutoFit/>
          </a:bodyPr>
          <a:lstStyle/>
          <a:p>
            <a:r>
              <a:rPr lang="en-US" dirty="0"/>
              <a:t>When there </a:t>
            </a:r>
          </a:p>
          <a:p>
            <a:r>
              <a:rPr lang="en-US" dirty="0"/>
              <a:t>Was NO RPM sensors available This was the only option.</a:t>
            </a:r>
            <a:endParaRPr lang="en-IN" dirty="0"/>
          </a:p>
        </p:txBody>
      </p:sp>
    </p:spTree>
    <p:extLst>
      <p:ext uri="{BB962C8B-B14F-4D97-AF65-F5344CB8AC3E}">
        <p14:creationId xmlns:p14="http://schemas.microsoft.com/office/powerpoint/2010/main" val="1545982778"/>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1C63A68-6789-4645-81E6-9CFD85232DBA}"/>
              </a:ext>
            </a:extLst>
          </p:cNvPr>
          <p:cNvSpPr>
            <a:spLocks noGrp="1"/>
          </p:cNvSpPr>
          <p:nvPr>
            <p:ph type="title"/>
          </p:nvPr>
        </p:nvSpPr>
        <p:spPr>
          <a:xfrm>
            <a:off x="1143001" y="182420"/>
            <a:ext cx="9905998" cy="746048"/>
          </a:xfrm>
        </p:spPr>
        <p:txBody>
          <a:bodyPr/>
          <a:lstStyle/>
          <a:p>
            <a:r>
              <a:rPr lang="en-US" dirty="0"/>
              <a:t>Nature of sensors</a:t>
            </a:r>
            <a:endParaRPr lang="en-IN" dirty="0"/>
          </a:p>
        </p:txBody>
      </p:sp>
      <p:graphicFrame>
        <p:nvGraphicFramePr>
          <p:cNvPr id="3" name="Table 3">
            <a:extLst>
              <a:ext uri="{FF2B5EF4-FFF2-40B4-BE49-F238E27FC236}">
                <a16:creationId xmlns:a16="http://schemas.microsoft.com/office/drawing/2014/main" id="{A7FE8592-0561-4B5A-BA09-9F8F2009C34C}"/>
              </a:ext>
            </a:extLst>
          </p:cNvPr>
          <p:cNvGraphicFramePr>
            <a:graphicFrameLocks noGrp="1"/>
          </p:cNvGraphicFramePr>
          <p:nvPr>
            <p:extLst>
              <p:ext uri="{D42A27DB-BD31-4B8C-83A1-F6EECF244321}">
                <p14:modId xmlns:p14="http://schemas.microsoft.com/office/powerpoint/2010/main" val="661892141"/>
              </p:ext>
            </p:extLst>
          </p:nvPr>
        </p:nvGraphicFramePr>
        <p:xfrm>
          <a:off x="864380" y="928468"/>
          <a:ext cx="5015915" cy="5528600"/>
        </p:xfrm>
        <a:graphic>
          <a:graphicData uri="http://schemas.openxmlformats.org/drawingml/2006/table">
            <a:tbl>
              <a:tblPr firstRow="1" bandRow="1">
                <a:tableStyleId>{5C22544A-7EE6-4342-B048-85BDC9FD1C3A}</a:tableStyleId>
              </a:tblPr>
              <a:tblGrid>
                <a:gridCol w="612727">
                  <a:extLst>
                    <a:ext uri="{9D8B030D-6E8A-4147-A177-3AD203B41FA5}">
                      <a16:colId xmlns:a16="http://schemas.microsoft.com/office/drawing/2014/main" val="1054420651"/>
                    </a:ext>
                  </a:extLst>
                </a:gridCol>
                <a:gridCol w="4403188">
                  <a:extLst>
                    <a:ext uri="{9D8B030D-6E8A-4147-A177-3AD203B41FA5}">
                      <a16:colId xmlns:a16="http://schemas.microsoft.com/office/drawing/2014/main" val="2263773030"/>
                    </a:ext>
                  </a:extLst>
                </a:gridCol>
              </a:tblGrid>
              <a:tr h="502600">
                <a:tc>
                  <a:txBody>
                    <a:bodyPr/>
                    <a:lstStyle/>
                    <a:p>
                      <a:r>
                        <a:rPr lang="en-US" dirty="0"/>
                        <a:t>NO</a:t>
                      </a:r>
                      <a:endParaRPr lang="en-IN" dirty="0"/>
                    </a:p>
                  </a:txBody>
                  <a:tcPr/>
                </a:tc>
                <a:tc>
                  <a:txBody>
                    <a:bodyPr/>
                    <a:lstStyle/>
                    <a:p>
                      <a:r>
                        <a:rPr lang="en-US" dirty="0"/>
                        <a:t>Sensor Use</a:t>
                      </a:r>
                      <a:endParaRPr lang="en-IN" dirty="0"/>
                    </a:p>
                  </a:txBody>
                  <a:tcPr/>
                </a:tc>
                <a:extLst>
                  <a:ext uri="{0D108BD9-81ED-4DB2-BD59-A6C34878D82A}">
                    <a16:rowId xmlns:a16="http://schemas.microsoft.com/office/drawing/2014/main" val="1114269011"/>
                  </a:ext>
                </a:extLst>
              </a:tr>
              <a:tr h="502600">
                <a:tc>
                  <a:txBody>
                    <a:bodyPr/>
                    <a:lstStyle/>
                    <a:p>
                      <a:r>
                        <a:rPr lang="en-US" dirty="0"/>
                        <a:t>1</a:t>
                      </a:r>
                      <a:endParaRPr lang="en-IN" dirty="0"/>
                    </a:p>
                  </a:txBody>
                  <a:tcPr/>
                </a:tc>
                <a:tc>
                  <a:txBody>
                    <a:bodyPr/>
                    <a:lstStyle/>
                    <a:p>
                      <a:r>
                        <a:rPr lang="en-US" dirty="0"/>
                        <a:t> Temperature and </a:t>
                      </a:r>
                      <a:r>
                        <a:rPr lang="en-US" dirty="0" err="1"/>
                        <a:t>Humudity</a:t>
                      </a:r>
                      <a:r>
                        <a:rPr lang="en-US" dirty="0"/>
                        <a:t> </a:t>
                      </a:r>
                      <a:endParaRPr lang="en-IN" dirty="0"/>
                    </a:p>
                  </a:txBody>
                  <a:tcPr/>
                </a:tc>
                <a:extLst>
                  <a:ext uri="{0D108BD9-81ED-4DB2-BD59-A6C34878D82A}">
                    <a16:rowId xmlns:a16="http://schemas.microsoft.com/office/drawing/2014/main" val="2838796292"/>
                  </a:ext>
                </a:extLst>
              </a:tr>
              <a:tr h="502600">
                <a:tc>
                  <a:txBody>
                    <a:bodyPr/>
                    <a:lstStyle/>
                    <a:p>
                      <a:r>
                        <a:rPr lang="en-US" dirty="0"/>
                        <a:t>2</a:t>
                      </a:r>
                      <a:endParaRPr lang="en-IN" dirty="0"/>
                    </a:p>
                  </a:txBody>
                  <a:tcPr/>
                </a:tc>
                <a:tc>
                  <a:txBody>
                    <a:bodyPr/>
                    <a:lstStyle/>
                    <a:p>
                      <a:r>
                        <a:rPr lang="en-US" dirty="0"/>
                        <a:t>Water Turbidity  sensor</a:t>
                      </a:r>
                      <a:endParaRPr lang="en-IN" dirty="0"/>
                    </a:p>
                  </a:txBody>
                  <a:tcPr/>
                </a:tc>
                <a:extLst>
                  <a:ext uri="{0D108BD9-81ED-4DB2-BD59-A6C34878D82A}">
                    <a16:rowId xmlns:a16="http://schemas.microsoft.com/office/drawing/2014/main" val="1777834111"/>
                  </a:ext>
                </a:extLst>
              </a:tr>
              <a:tr h="502600">
                <a:tc>
                  <a:txBody>
                    <a:bodyPr/>
                    <a:lstStyle/>
                    <a:p>
                      <a:r>
                        <a:rPr lang="en-US" dirty="0"/>
                        <a:t>3</a:t>
                      </a:r>
                      <a:endParaRPr lang="en-IN" dirty="0"/>
                    </a:p>
                  </a:txBody>
                  <a:tcPr/>
                </a:tc>
                <a:tc>
                  <a:txBody>
                    <a:bodyPr/>
                    <a:lstStyle/>
                    <a:p>
                      <a:r>
                        <a:rPr lang="en-US" dirty="0"/>
                        <a:t>Air quality(Co2, methane,  </a:t>
                      </a:r>
                      <a:r>
                        <a:rPr lang="en-US" dirty="0" err="1"/>
                        <a:t>etc</a:t>
                      </a:r>
                      <a:r>
                        <a:rPr lang="en-US" dirty="0"/>
                        <a:t>) </a:t>
                      </a:r>
                      <a:endParaRPr lang="en-IN" dirty="0"/>
                    </a:p>
                  </a:txBody>
                  <a:tcPr/>
                </a:tc>
                <a:extLst>
                  <a:ext uri="{0D108BD9-81ED-4DB2-BD59-A6C34878D82A}">
                    <a16:rowId xmlns:a16="http://schemas.microsoft.com/office/drawing/2014/main" val="4084974812"/>
                  </a:ext>
                </a:extLst>
              </a:tr>
              <a:tr h="502600">
                <a:tc>
                  <a:txBody>
                    <a:bodyPr/>
                    <a:lstStyle/>
                    <a:p>
                      <a:r>
                        <a:rPr lang="en-US" dirty="0"/>
                        <a:t>4</a:t>
                      </a:r>
                      <a:endParaRPr lang="en-IN" dirty="0"/>
                    </a:p>
                  </a:txBody>
                  <a:tcPr/>
                </a:tc>
                <a:tc>
                  <a:txBody>
                    <a:bodyPr/>
                    <a:lstStyle/>
                    <a:p>
                      <a:r>
                        <a:rPr lang="en-US" dirty="0"/>
                        <a:t>Dust Sensor</a:t>
                      </a:r>
                      <a:endParaRPr lang="en-IN" dirty="0"/>
                    </a:p>
                  </a:txBody>
                  <a:tcPr/>
                </a:tc>
                <a:extLst>
                  <a:ext uri="{0D108BD9-81ED-4DB2-BD59-A6C34878D82A}">
                    <a16:rowId xmlns:a16="http://schemas.microsoft.com/office/drawing/2014/main" val="2260305272"/>
                  </a:ext>
                </a:extLst>
              </a:tr>
              <a:tr h="502600">
                <a:tc>
                  <a:txBody>
                    <a:bodyPr/>
                    <a:lstStyle/>
                    <a:p>
                      <a:r>
                        <a:rPr lang="en-US" dirty="0"/>
                        <a:t>5</a:t>
                      </a:r>
                      <a:endParaRPr lang="en-IN" dirty="0"/>
                    </a:p>
                  </a:txBody>
                  <a:tcPr/>
                </a:tc>
                <a:tc>
                  <a:txBody>
                    <a:bodyPr/>
                    <a:lstStyle/>
                    <a:p>
                      <a:r>
                        <a:rPr lang="en-US" dirty="0"/>
                        <a:t>Current Sensor</a:t>
                      </a:r>
                      <a:endParaRPr lang="en-IN" dirty="0"/>
                    </a:p>
                  </a:txBody>
                  <a:tcPr/>
                </a:tc>
                <a:extLst>
                  <a:ext uri="{0D108BD9-81ED-4DB2-BD59-A6C34878D82A}">
                    <a16:rowId xmlns:a16="http://schemas.microsoft.com/office/drawing/2014/main" val="2105227511"/>
                  </a:ext>
                </a:extLst>
              </a:tr>
              <a:tr h="502600">
                <a:tc>
                  <a:txBody>
                    <a:bodyPr/>
                    <a:lstStyle/>
                    <a:p>
                      <a:r>
                        <a:rPr lang="en-US" dirty="0"/>
                        <a:t>6 </a:t>
                      </a:r>
                      <a:endParaRPr lang="en-IN" dirty="0"/>
                    </a:p>
                  </a:txBody>
                  <a:tcPr/>
                </a:tc>
                <a:tc>
                  <a:txBody>
                    <a:bodyPr/>
                    <a:lstStyle/>
                    <a:p>
                      <a:r>
                        <a:rPr lang="en-US" dirty="0"/>
                        <a:t>pH and  TDS sensor</a:t>
                      </a:r>
                      <a:endParaRPr lang="en-IN" dirty="0"/>
                    </a:p>
                  </a:txBody>
                  <a:tcPr/>
                </a:tc>
                <a:extLst>
                  <a:ext uri="{0D108BD9-81ED-4DB2-BD59-A6C34878D82A}">
                    <a16:rowId xmlns:a16="http://schemas.microsoft.com/office/drawing/2014/main" val="824469222"/>
                  </a:ext>
                </a:extLst>
              </a:tr>
              <a:tr h="502600">
                <a:tc>
                  <a:txBody>
                    <a:bodyPr/>
                    <a:lstStyle/>
                    <a:p>
                      <a:r>
                        <a:rPr lang="en-US" dirty="0"/>
                        <a:t>7</a:t>
                      </a:r>
                      <a:endParaRPr lang="en-IN" dirty="0"/>
                    </a:p>
                  </a:txBody>
                  <a:tcPr/>
                </a:tc>
                <a:tc>
                  <a:txBody>
                    <a:bodyPr/>
                    <a:lstStyle/>
                    <a:p>
                      <a:r>
                        <a:rPr lang="en-US" dirty="0"/>
                        <a:t>Optical Sensor</a:t>
                      </a:r>
                      <a:endParaRPr lang="en-IN" dirty="0"/>
                    </a:p>
                  </a:txBody>
                  <a:tcPr/>
                </a:tc>
                <a:extLst>
                  <a:ext uri="{0D108BD9-81ED-4DB2-BD59-A6C34878D82A}">
                    <a16:rowId xmlns:a16="http://schemas.microsoft.com/office/drawing/2014/main" val="1262236347"/>
                  </a:ext>
                </a:extLst>
              </a:tr>
              <a:tr h="502600">
                <a:tc>
                  <a:txBody>
                    <a:bodyPr/>
                    <a:lstStyle/>
                    <a:p>
                      <a:r>
                        <a:rPr lang="en-US" dirty="0"/>
                        <a:t>8</a:t>
                      </a:r>
                      <a:endParaRPr lang="en-IN" dirty="0"/>
                    </a:p>
                  </a:txBody>
                  <a:tcPr/>
                </a:tc>
                <a:tc>
                  <a:txBody>
                    <a:bodyPr/>
                    <a:lstStyle/>
                    <a:p>
                      <a:r>
                        <a:rPr lang="en-US" dirty="0"/>
                        <a:t>Magnetic field sensors / Hall effect sensors</a:t>
                      </a:r>
                      <a:endParaRPr lang="en-IN" dirty="0"/>
                    </a:p>
                  </a:txBody>
                  <a:tcPr/>
                </a:tc>
                <a:extLst>
                  <a:ext uri="{0D108BD9-81ED-4DB2-BD59-A6C34878D82A}">
                    <a16:rowId xmlns:a16="http://schemas.microsoft.com/office/drawing/2014/main" val="3373279978"/>
                  </a:ext>
                </a:extLst>
              </a:tr>
              <a:tr h="502600">
                <a:tc>
                  <a:txBody>
                    <a:bodyPr/>
                    <a:lstStyle/>
                    <a:p>
                      <a:r>
                        <a:rPr lang="en-US" dirty="0"/>
                        <a:t>9</a:t>
                      </a:r>
                      <a:endParaRPr lang="en-IN" dirty="0"/>
                    </a:p>
                  </a:txBody>
                  <a:tcPr/>
                </a:tc>
                <a:tc>
                  <a:txBody>
                    <a:bodyPr/>
                    <a:lstStyle/>
                    <a:p>
                      <a:r>
                        <a:rPr lang="en-US" dirty="0"/>
                        <a:t>Vibration Sensor</a:t>
                      </a:r>
                      <a:endParaRPr lang="en-IN" dirty="0"/>
                    </a:p>
                  </a:txBody>
                  <a:tcPr/>
                </a:tc>
                <a:extLst>
                  <a:ext uri="{0D108BD9-81ED-4DB2-BD59-A6C34878D82A}">
                    <a16:rowId xmlns:a16="http://schemas.microsoft.com/office/drawing/2014/main" val="3365324150"/>
                  </a:ext>
                </a:extLst>
              </a:tr>
              <a:tr h="502600">
                <a:tc>
                  <a:txBody>
                    <a:bodyPr/>
                    <a:lstStyle/>
                    <a:p>
                      <a:r>
                        <a:rPr lang="en-US" dirty="0"/>
                        <a:t>10</a:t>
                      </a:r>
                      <a:endParaRPr lang="en-IN" dirty="0"/>
                    </a:p>
                  </a:txBody>
                  <a:tcPr/>
                </a:tc>
                <a:tc>
                  <a:txBody>
                    <a:bodyPr/>
                    <a:lstStyle/>
                    <a:p>
                      <a:r>
                        <a:rPr lang="en-US" dirty="0"/>
                        <a:t>Electronic Gyroscope </a:t>
                      </a:r>
                      <a:endParaRPr lang="en-IN" dirty="0"/>
                    </a:p>
                  </a:txBody>
                  <a:tcPr/>
                </a:tc>
                <a:extLst>
                  <a:ext uri="{0D108BD9-81ED-4DB2-BD59-A6C34878D82A}">
                    <a16:rowId xmlns:a16="http://schemas.microsoft.com/office/drawing/2014/main" val="350540004"/>
                  </a:ext>
                </a:extLst>
              </a:tr>
            </a:tbl>
          </a:graphicData>
        </a:graphic>
      </p:graphicFrame>
      <p:graphicFrame>
        <p:nvGraphicFramePr>
          <p:cNvPr id="5" name="Table 3">
            <a:extLst>
              <a:ext uri="{FF2B5EF4-FFF2-40B4-BE49-F238E27FC236}">
                <a16:creationId xmlns:a16="http://schemas.microsoft.com/office/drawing/2014/main" id="{CB4CDCCF-8BD2-4476-9E06-482A9B678302}"/>
              </a:ext>
            </a:extLst>
          </p:cNvPr>
          <p:cNvGraphicFramePr>
            <a:graphicFrameLocks noGrp="1"/>
          </p:cNvGraphicFramePr>
          <p:nvPr>
            <p:extLst>
              <p:ext uri="{D42A27DB-BD31-4B8C-83A1-F6EECF244321}">
                <p14:modId xmlns:p14="http://schemas.microsoft.com/office/powerpoint/2010/main" val="211176024"/>
              </p:ext>
            </p:extLst>
          </p:nvPr>
        </p:nvGraphicFramePr>
        <p:xfrm>
          <a:off x="6311707" y="942536"/>
          <a:ext cx="5015915" cy="5528600"/>
        </p:xfrm>
        <a:graphic>
          <a:graphicData uri="http://schemas.openxmlformats.org/drawingml/2006/table">
            <a:tbl>
              <a:tblPr firstRow="1" bandRow="1">
                <a:tableStyleId>{5C22544A-7EE6-4342-B048-85BDC9FD1C3A}</a:tableStyleId>
              </a:tblPr>
              <a:tblGrid>
                <a:gridCol w="612727">
                  <a:extLst>
                    <a:ext uri="{9D8B030D-6E8A-4147-A177-3AD203B41FA5}">
                      <a16:colId xmlns:a16="http://schemas.microsoft.com/office/drawing/2014/main" val="1054420651"/>
                    </a:ext>
                  </a:extLst>
                </a:gridCol>
                <a:gridCol w="4403188">
                  <a:extLst>
                    <a:ext uri="{9D8B030D-6E8A-4147-A177-3AD203B41FA5}">
                      <a16:colId xmlns:a16="http://schemas.microsoft.com/office/drawing/2014/main" val="2263773030"/>
                    </a:ext>
                  </a:extLst>
                </a:gridCol>
              </a:tblGrid>
              <a:tr h="502600">
                <a:tc>
                  <a:txBody>
                    <a:bodyPr/>
                    <a:lstStyle/>
                    <a:p>
                      <a:r>
                        <a:rPr lang="en-US" dirty="0"/>
                        <a:t>NO</a:t>
                      </a:r>
                      <a:endParaRPr lang="en-IN" dirty="0"/>
                    </a:p>
                  </a:txBody>
                  <a:tcPr/>
                </a:tc>
                <a:tc>
                  <a:txBody>
                    <a:bodyPr/>
                    <a:lstStyle/>
                    <a:p>
                      <a:r>
                        <a:rPr lang="en-US" dirty="0"/>
                        <a:t>Sensor Use</a:t>
                      </a:r>
                      <a:endParaRPr lang="en-IN" dirty="0"/>
                    </a:p>
                  </a:txBody>
                  <a:tcPr/>
                </a:tc>
                <a:extLst>
                  <a:ext uri="{0D108BD9-81ED-4DB2-BD59-A6C34878D82A}">
                    <a16:rowId xmlns:a16="http://schemas.microsoft.com/office/drawing/2014/main" val="1114269011"/>
                  </a:ext>
                </a:extLst>
              </a:tr>
              <a:tr h="502600">
                <a:tc>
                  <a:txBody>
                    <a:bodyPr/>
                    <a:lstStyle/>
                    <a:p>
                      <a:r>
                        <a:rPr lang="en-US" dirty="0"/>
                        <a:t>11</a:t>
                      </a:r>
                      <a:endParaRPr lang="en-IN" dirty="0"/>
                    </a:p>
                  </a:txBody>
                  <a:tcPr/>
                </a:tc>
                <a:tc>
                  <a:txBody>
                    <a:bodyPr/>
                    <a:lstStyle/>
                    <a:p>
                      <a:r>
                        <a:rPr lang="en-US" dirty="0"/>
                        <a:t> RPM Sensor</a:t>
                      </a:r>
                      <a:endParaRPr lang="en-IN" dirty="0"/>
                    </a:p>
                  </a:txBody>
                  <a:tcPr/>
                </a:tc>
                <a:extLst>
                  <a:ext uri="{0D108BD9-81ED-4DB2-BD59-A6C34878D82A}">
                    <a16:rowId xmlns:a16="http://schemas.microsoft.com/office/drawing/2014/main" val="2838796292"/>
                  </a:ext>
                </a:extLst>
              </a:tr>
              <a:tr h="502600">
                <a:tc>
                  <a:txBody>
                    <a:bodyPr/>
                    <a:lstStyle/>
                    <a:p>
                      <a:r>
                        <a:rPr lang="en-US" dirty="0"/>
                        <a:t>12</a:t>
                      </a:r>
                      <a:endParaRPr lang="en-IN" dirty="0"/>
                    </a:p>
                  </a:txBody>
                  <a:tcPr/>
                </a:tc>
                <a:tc>
                  <a:txBody>
                    <a:bodyPr/>
                    <a:lstStyle/>
                    <a:p>
                      <a:r>
                        <a:rPr lang="en-US" dirty="0"/>
                        <a:t>Water Pressure Sensor</a:t>
                      </a:r>
                      <a:endParaRPr lang="en-IN" dirty="0"/>
                    </a:p>
                  </a:txBody>
                  <a:tcPr/>
                </a:tc>
                <a:extLst>
                  <a:ext uri="{0D108BD9-81ED-4DB2-BD59-A6C34878D82A}">
                    <a16:rowId xmlns:a16="http://schemas.microsoft.com/office/drawing/2014/main" val="1777834111"/>
                  </a:ext>
                </a:extLst>
              </a:tr>
              <a:tr h="502600">
                <a:tc>
                  <a:txBody>
                    <a:bodyPr/>
                    <a:lstStyle/>
                    <a:p>
                      <a:r>
                        <a:rPr lang="en-US" dirty="0"/>
                        <a:t>13</a:t>
                      </a:r>
                      <a:endParaRPr lang="en-IN" dirty="0"/>
                    </a:p>
                  </a:txBody>
                  <a:tcPr/>
                </a:tc>
                <a:tc>
                  <a:txBody>
                    <a:bodyPr/>
                    <a:lstStyle/>
                    <a:p>
                      <a:r>
                        <a:rPr lang="en-US" dirty="0"/>
                        <a:t>Weight Sensor</a:t>
                      </a:r>
                      <a:endParaRPr lang="en-IN" dirty="0"/>
                    </a:p>
                  </a:txBody>
                  <a:tcPr/>
                </a:tc>
                <a:extLst>
                  <a:ext uri="{0D108BD9-81ED-4DB2-BD59-A6C34878D82A}">
                    <a16:rowId xmlns:a16="http://schemas.microsoft.com/office/drawing/2014/main" val="4084974812"/>
                  </a:ext>
                </a:extLst>
              </a:tr>
              <a:tr h="502600">
                <a:tc>
                  <a:txBody>
                    <a:bodyPr/>
                    <a:lstStyle/>
                    <a:p>
                      <a:r>
                        <a:rPr lang="en-US" dirty="0"/>
                        <a:t>14</a:t>
                      </a:r>
                      <a:endParaRPr lang="en-IN" dirty="0"/>
                    </a:p>
                  </a:txBody>
                  <a:tcPr/>
                </a:tc>
                <a:tc>
                  <a:txBody>
                    <a:bodyPr/>
                    <a:lstStyle/>
                    <a:p>
                      <a:r>
                        <a:rPr lang="en-US" dirty="0"/>
                        <a:t>Proximity sensor</a:t>
                      </a:r>
                      <a:endParaRPr lang="en-IN" dirty="0"/>
                    </a:p>
                  </a:txBody>
                  <a:tcPr/>
                </a:tc>
                <a:extLst>
                  <a:ext uri="{0D108BD9-81ED-4DB2-BD59-A6C34878D82A}">
                    <a16:rowId xmlns:a16="http://schemas.microsoft.com/office/drawing/2014/main" val="2260305272"/>
                  </a:ext>
                </a:extLst>
              </a:tr>
              <a:tr h="502600">
                <a:tc>
                  <a:txBody>
                    <a:bodyPr/>
                    <a:lstStyle/>
                    <a:p>
                      <a:r>
                        <a:rPr lang="en-US" dirty="0"/>
                        <a:t>15</a:t>
                      </a:r>
                      <a:endParaRPr lang="en-IN" dirty="0"/>
                    </a:p>
                  </a:txBody>
                  <a:tcPr/>
                </a:tc>
                <a:tc>
                  <a:txBody>
                    <a:bodyPr/>
                    <a:lstStyle/>
                    <a:p>
                      <a:r>
                        <a:rPr lang="en-US" dirty="0"/>
                        <a:t>Wind speed sensor</a:t>
                      </a:r>
                      <a:endParaRPr lang="en-IN" dirty="0"/>
                    </a:p>
                  </a:txBody>
                  <a:tcPr/>
                </a:tc>
                <a:extLst>
                  <a:ext uri="{0D108BD9-81ED-4DB2-BD59-A6C34878D82A}">
                    <a16:rowId xmlns:a16="http://schemas.microsoft.com/office/drawing/2014/main" val="2105227511"/>
                  </a:ext>
                </a:extLst>
              </a:tr>
              <a:tr h="502600">
                <a:tc>
                  <a:txBody>
                    <a:bodyPr/>
                    <a:lstStyle/>
                    <a:p>
                      <a:r>
                        <a:rPr lang="en-US" dirty="0"/>
                        <a:t>16</a:t>
                      </a:r>
                      <a:endParaRPr lang="en-IN" dirty="0"/>
                    </a:p>
                  </a:txBody>
                  <a:tcPr/>
                </a:tc>
                <a:tc>
                  <a:txBody>
                    <a:bodyPr/>
                    <a:lstStyle/>
                    <a:p>
                      <a:r>
                        <a:rPr lang="en-US" dirty="0"/>
                        <a:t>GPS</a:t>
                      </a:r>
                      <a:endParaRPr lang="en-IN" dirty="0"/>
                    </a:p>
                  </a:txBody>
                  <a:tcPr/>
                </a:tc>
                <a:extLst>
                  <a:ext uri="{0D108BD9-81ED-4DB2-BD59-A6C34878D82A}">
                    <a16:rowId xmlns:a16="http://schemas.microsoft.com/office/drawing/2014/main" val="824469222"/>
                  </a:ext>
                </a:extLst>
              </a:tr>
              <a:tr h="502600">
                <a:tc>
                  <a:txBody>
                    <a:bodyPr/>
                    <a:lstStyle/>
                    <a:p>
                      <a:r>
                        <a:rPr lang="en-US" dirty="0"/>
                        <a:t>17</a:t>
                      </a:r>
                      <a:endParaRPr lang="en-IN" dirty="0"/>
                    </a:p>
                  </a:txBody>
                  <a:tcPr/>
                </a:tc>
                <a:tc>
                  <a:txBody>
                    <a:bodyPr/>
                    <a:lstStyle/>
                    <a:p>
                      <a:r>
                        <a:rPr lang="en-US" dirty="0"/>
                        <a:t>Heart Beat and SPO2 sensor</a:t>
                      </a:r>
                      <a:endParaRPr lang="en-IN" dirty="0"/>
                    </a:p>
                  </a:txBody>
                  <a:tcPr/>
                </a:tc>
                <a:extLst>
                  <a:ext uri="{0D108BD9-81ED-4DB2-BD59-A6C34878D82A}">
                    <a16:rowId xmlns:a16="http://schemas.microsoft.com/office/drawing/2014/main" val="1262236347"/>
                  </a:ext>
                </a:extLst>
              </a:tr>
              <a:tr h="502600">
                <a:tc>
                  <a:txBody>
                    <a:bodyPr/>
                    <a:lstStyle/>
                    <a:p>
                      <a:r>
                        <a:rPr lang="en-US" dirty="0"/>
                        <a:t>18</a:t>
                      </a:r>
                      <a:endParaRPr lang="en-IN" dirty="0"/>
                    </a:p>
                  </a:txBody>
                  <a:tcPr/>
                </a:tc>
                <a:tc>
                  <a:txBody>
                    <a:bodyPr/>
                    <a:lstStyle/>
                    <a:p>
                      <a:r>
                        <a:rPr lang="en-US" dirty="0"/>
                        <a:t>Tilt sensor</a:t>
                      </a:r>
                      <a:endParaRPr lang="en-IN" dirty="0"/>
                    </a:p>
                  </a:txBody>
                  <a:tcPr/>
                </a:tc>
                <a:extLst>
                  <a:ext uri="{0D108BD9-81ED-4DB2-BD59-A6C34878D82A}">
                    <a16:rowId xmlns:a16="http://schemas.microsoft.com/office/drawing/2014/main" val="3373279978"/>
                  </a:ext>
                </a:extLst>
              </a:tr>
              <a:tr h="502600">
                <a:tc>
                  <a:txBody>
                    <a:bodyPr/>
                    <a:lstStyle/>
                    <a:p>
                      <a:r>
                        <a:rPr lang="en-US" dirty="0"/>
                        <a:t>19</a:t>
                      </a:r>
                      <a:endParaRPr lang="en-IN" dirty="0"/>
                    </a:p>
                  </a:txBody>
                  <a:tcPr/>
                </a:tc>
                <a:tc>
                  <a:txBody>
                    <a:bodyPr/>
                    <a:lstStyle/>
                    <a:p>
                      <a:r>
                        <a:rPr lang="en-US" dirty="0"/>
                        <a:t>Gas leakage  sensor</a:t>
                      </a:r>
                      <a:endParaRPr lang="en-IN" dirty="0"/>
                    </a:p>
                  </a:txBody>
                  <a:tcPr/>
                </a:tc>
                <a:extLst>
                  <a:ext uri="{0D108BD9-81ED-4DB2-BD59-A6C34878D82A}">
                    <a16:rowId xmlns:a16="http://schemas.microsoft.com/office/drawing/2014/main" val="3365324150"/>
                  </a:ext>
                </a:extLst>
              </a:tr>
              <a:tr h="502600">
                <a:tc>
                  <a:txBody>
                    <a:bodyPr/>
                    <a:lstStyle/>
                    <a:p>
                      <a:r>
                        <a:rPr lang="en-US" dirty="0"/>
                        <a:t>20</a:t>
                      </a:r>
                      <a:endParaRPr lang="en-IN" dirty="0"/>
                    </a:p>
                  </a:txBody>
                  <a:tcPr/>
                </a:tc>
                <a:tc>
                  <a:txBody>
                    <a:bodyPr/>
                    <a:lstStyle/>
                    <a:p>
                      <a:r>
                        <a:rPr lang="en-US" dirty="0"/>
                        <a:t>Touch sensor</a:t>
                      </a:r>
                      <a:endParaRPr lang="en-IN" dirty="0"/>
                    </a:p>
                  </a:txBody>
                  <a:tcPr/>
                </a:tc>
                <a:extLst>
                  <a:ext uri="{0D108BD9-81ED-4DB2-BD59-A6C34878D82A}">
                    <a16:rowId xmlns:a16="http://schemas.microsoft.com/office/drawing/2014/main" val="350540004"/>
                  </a:ext>
                </a:extLst>
              </a:tr>
            </a:tbl>
          </a:graphicData>
        </a:graphic>
      </p:graphicFrame>
    </p:spTree>
    <p:extLst>
      <p:ext uri="{BB962C8B-B14F-4D97-AF65-F5344CB8AC3E}">
        <p14:creationId xmlns:p14="http://schemas.microsoft.com/office/powerpoint/2010/main" val="2217146516"/>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281334C-41EC-4325-A326-3625E3252FF9}"/>
              </a:ext>
            </a:extLst>
          </p:cNvPr>
          <p:cNvSpPr>
            <a:spLocks noGrp="1"/>
          </p:cNvSpPr>
          <p:nvPr>
            <p:ph type="title"/>
          </p:nvPr>
        </p:nvSpPr>
        <p:spPr>
          <a:xfrm>
            <a:off x="1260683" y="393232"/>
            <a:ext cx="9905998" cy="719952"/>
          </a:xfrm>
        </p:spPr>
        <p:txBody>
          <a:bodyPr/>
          <a:lstStyle/>
          <a:p>
            <a:r>
              <a:rPr lang="en-US" dirty="0"/>
              <a:t>What are </a:t>
            </a:r>
            <a:r>
              <a:rPr lang="en-IN" sz="3600" dirty="0"/>
              <a:t>Actuators</a:t>
            </a:r>
            <a:endParaRPr lang="en-IN" dirty="0"/>
          </a:p>
        </p:txBody>
      </p:sp>
      <p:sp>
        <p:nvSpPr>
          <p:cNvPr id="6" name="TextBox 5">
            <a:extLst>
              <a:ext uri="{FF2B5EF4-FFF2-40B4-BE49-F238E27FC236}">
                <a16:creationId xmlns:a16="http://schemas.microsoft.com/office/drawing/2014/main" id="{3EC0507B-FDBC-495A-A957-09EE31E83368}"/>
              </a:ext>
            </a:extLst>
          </p:cNvPr>
          <p:cNvSpPr txBox="1"/>
          <p:nvPr/>
        </p:nvSpPr>
        <p:spPr>
          <a:xfrm>
            <a:off x="1153549" y="1366897"/>
            <a:ext cx="9411287" cy="2062103"/>
          </a:xfrm>
          <a:prstGeom prst="rect">
            <a:avLst/>
          </a:prstGeom>
          <a:noFill/>
        </p:spPr>
        <p:txBody>
          <a:bodyPr wrap="square">
            <a:spAutoFit/>
          </a:bodyPr>
          <a:lstStyle/>
          <a:p>
            <a:pPr algn="just"/>
            <a:r>
              <a:rPr lang="en-IN" sz="3200" dirty="0"/>
              <a:t>An actuator is a component of a machine that is responsible for moving and controlling a mechanism or system, for example by opening a valve. In simple terms, it is a "mover".</a:t>
            </a:r>
          </a:p>
        </p:txBody>
      </p:sp>
      <p:sp>
        <p:nvSpPr>
          <p:cNvPr id="8" name="Rectangle: Rounded Corners 7">
            <a:extLst>
              <a:ext uri="{FF2B5EF4-FFF2-40B4-BE49-F238E27FC236}">
                <a16:creationId xmlns:a16="http://schemas.microsoft.com/office/drawing/2014/main" id="{C8A25572-B347-4DDF-83D3-4C0FBE361363}"/>
              </a:ext>
            </a:extLst>
          </p:cNvPr>
          <p:cNvSpPr/>
          <p:nvPr/>
        </p:nvSpPr>
        <p:spPr>
          <a:xfrm>
            <a:off x="3530991" y="3944307"/>
            <a:ext cx="4529797" cy="1153550"/>
          </a:xfrm>
          <a:prstGeom prst="roundRect">
            <a:avLst/>
          </a:prstGeom>
          <a:solidFill>
            <a:schemeClr val="accent5">
              <a:lumMod val="60000"/>
              <a:lumOff val="40000"/>
            </a:schemeClr>
          </a:solidFill>
          <a:ln>
            <a:noFill/>
          </a:ln>
          <a:effectLst>
            <a:outerShdw blurRad="107950" dist="12700" dir="5400000" algn="ctr">
              <a:srgbClr val="000000"/>
            </a:outerShdw>
          </a:effectLst>
          <a:scene3d>
            <a:camera prst="orthographicFront">
              <a:rot lat="0" lon="0" rev="0"/>
            </a:camera>
            <a:lightRig rig="soft" dir="t">
              <a:rot lat="0" lon="0" rev="0"/>
            </a:lightRig>
          </a:scene3d>
          <a:sp3d contourW="44450" prstMaterial="matte">
            <a:bevelT w="63500" h="63500" prst="artDeco"/>
            <a:contourClr>
              <a:srgbClr val="FFFFFF"/>
            </a:contourClr>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3600" dirty="0">
                <a:solidFill>
                  <a:srgbClr val="FF0000"/>
                </a:solidFill>
              </a:rPr>
              <a:t>Actuator</a:t>
            </a:r>
          </a:p>
        </p:txBody>
      </p:sp>
      <p:cxnSp>
        <p:nvCxnSpPr>
          <p:cNvPr id="10" name="Straight Arrow Connector 9">
            <a:extLst>
              <a:ext uri="{FF2B5EF4-FFF2-40B4-BE49-F238E27FC236}">
                <a16:creationId xmlns:a16="http://schemas.microsoft.com/office/drawing/2014/main" id="{17C66816-74B1-4833-B7EE-799DFC93B9CA}"/>
              </a:ext>
            </a:extLst>
          </p:cNvPr>
          <p:cNvCxnSpPr/>
          <p:nvPr/>
        </p:nvCxnSpPr>
        <p:spPr>
          <a:xfrm>
            <a:off x="1420837" y="4543865"/>
            <a:ext cx="2110154" cy="0"/>
          </a:xfrm>
          <a:prstGeom prst="straightConnector1">
            <a:avLst/>
          </a:prstGeom>
          <a:ln w="98425">
            <a:tailEnd type="triangle"/>
          </a:ln>
        </p:spPr>
        <p:style>
          <a:lnRef idx="1">
            <a:schemeClr val="accent1"/>
          </a:lnRef>
          <a:fillRef idx="0">
            <a:schemeClr val="accent1"/>
          </a:fillRef>
          <a:effectRef idx="0">
            <a:schemeClr val="accent1"/>
          </a:effectRef>
          <a:fontRef idx="minor">
            <a:schemeClr val="tx1"/>
          </a:fontRef>
        </p:style>
      </p:cxnSp>
      <p:cxnSp>
        <p:nvCxnSpPr>
          <p:cNvPr id="12" name="Straight Arrow Connector 11">
            <a:extLst>
              <a:ext uri="{FF2B5EF4-FFF2-40B4-BE49-F238E27FC236}">
                <a16:creationId xmlns:a16="http://schemas.microsoft.com/office/drawing/2014/main" id="{C62ACFEB-87FE-4572-85C6-E382D28F1395}"/>
              </a:ext>
            </a:extLst>
          </p:cNvPr>
          <p:cNvCxnSpPr/>
          <p:nvPr/>
        </p:nvCxnSpPr>
        <p:spPr>
          <a:xfrm flipH="1">
            <a:off x="8060788" y="4501663"/>
            <a:ext cx="1617784" cy="0"/>
          </a:xfrm>
          <a:prstGeom prst="straightConnector1">
            <a:avLst/>
          </a:prstGeom>
          <a:ln w="98425">
            <a:tailEnd type="triangle"/>
          </a:ln>
        </p:spPr>
        <p:style>
          <a:lnRef idx="1">
            <a:schemeClr val="accent1"/>
          </a:lnRef>
          <a:fillRef idx="0">
            <a:schemeClr val="accent1"/>
          </a:fillRef>
          <a:effectRef idx="0">
            <a:schemeClr val="accent1"/>
          </a:effectRef>
          <a:fontRef idx="minor">
            <a:schemeClr val="tx1"/>
          </a:fontRef>
        </p:style>
      </p:cxnSp>
      <p:cxnSp>
        <p:nvCxnSpPr>
          <p:cNvPr id="14" name="Straight Arrow Connector 13">
            <a:extLst>
              <a:ext uri="{FF2B5EF4-FFF2-40B4-BE49-F238E27FC236}">
                <a16:creationId xmlns:a16="http://schemas.microsoft.com/office/drawing/2014/main" id="{78B36633-4748-4825-A5F7-437E4A139A0A}"/>
              </a:ext>
            </a:extLst>
          </p:cNvPr>
          <p:cNvCxnSpPr>
            <a:stCxn id="8" idx="2"/>
          </p:cNvCxnSpPr>
          <p:nvPr/>
        </p:nvCxnSpPr>
        <p:spPr>
          <a:xfrm flipH="1">
            <a:off x="5781822" y="5097857"/>
            <a:ext cx="14068" cy="1026942"/>
          </a:xfrm>
          <a:prstGeom prst="straightConnector1">
            <a:avLst/>
          </a:prstGeom>
          <a:ln w="98425">
            <a:tailEnd type="triangle"/>
          </a:ln>
        </p:spPr>
        <p:style>
          <a:lnRef idx="1">
            <a:schemeClr val="accent1"/>
          </a:lnRef>
          <a:fillRef idx="0">
            <a:schemeClr val="accent1"/>
          </a:fillRef>
          <a:effectRef idx="0">
            <a:schemeClr val="accent1"/>
          </a:effectRef>
          <a:fontRef idx="minor">
            <a:schemeClr val="tx1"/>
          </a:fontRef>
        </p:style>
      </p:cxnSp>
      <p:sp>
        <p:nvSpPr>
          <p:cNvPr id="15" name="TextBox 14">
            <a:extLst>
              <a:ext uri="{FF2B5EF4-FFF2-40B4-BE49-F238E27FC236}">
                <a16:creationId xmlns:a16="http://schemas.microsoft.com/office/drawing/2014/main" id="{FE77FE4A-97B5-4E3C-87B0-95FDA64A6663}"/>
              </a:ext>
            </a:extLst>
          </p:cNvPr>
          <p:cNvSpPr txBox="1"/>
          <p:nvPr/>
        </p:nvSpPr>
        <p:spPr>
          <a:xfrm>
            <a:off x="787899" y="4728525"/>
            <a:ext cx="2250616" cy="369332"/>
          </a:xfrm>
          <a:prstGeom prst="rect">
            <a:avLst/>
          </a:prstGeom>
          <a:noFill/>
        </p:spPr>
        <p:txBody>
          <a:bodyPr wrap="none" rtlCol="0">
            <a:spAutoFit/>
          </a:bodyPr>
          <a:lstStyle/>
          <a:p>
            <a:r>
              <a:rPr lang="en-US" dirty="0"/>
              <a:t>Energy/ Power Supply</a:t>
            </a:r>
            <a:endParaRPr lang="en-IN" dirty="0"/>
          </a:p>
        </p:txBody>
      </p:sp>
      <p:sp>
        <p:nvSpPr>
          <p:cNvPr id="17" name="TextBox 16">
            <a:extLst>
              <a:ext uri="{FF2B5EF4-FFF2-40B4-BE49-F238E27FC236}">
                <a16:creationId xmlns:a16="http://schemas.microsoft.com/office/drawing/2014/main" id="{757CB6FE-E73A-461F-A3D5-FFB4CE7E7130}"/>
              </a:ext>
            </a:extLst>
          </p:cNvPr>
          <p:cNvSpPr txBox="1"/>
          <p:nvPr/>
        </p:nvSpPr>
        <p:spPr>
          <a:xfrm>
            <a:off x="8366007" y="4874354"/>
            <a:ext cx="3181064" cy="369332"/>
          </a:xfrm>
          <a:prstGeom prst="rect">
            <a:avLst/>
          </a:prstGeom>
          <a:noFill/>
        </p:spPr>
        <p:txBody>
          <a:bodyPr wrap="none" rtlCol="0">
            <a:spAutoFit/>
          </a:bodyPr>
          <a:lstStyle/>
          <a:p>
            <a:r>
              <a:rPr lang="en-US" dirty="0"/>
              <a:t>Control Signal (from a computer)</a:t>
            </a:r>
            <a:endParaRPr lang="en-IN" dirty="0"/>
          </a:p>
        </p:txBody>
      </p:sp>
      <p:sp>
        <p:nvSpPr>
          <p:cNvPr id="19" name="TextBox 18">
            <a:extLst>
              <a:ext uri="{FF2B5EF4-FFF2-40B4-BE49-F238E27FC236}">
                <a16:creationId xmlns:a16="http://schemas.microsoft.com/office/drawing/2014/main" id="{17F64F0A-6FB3-49A5-86C9-C55324FB439C}"/>
              </a:ext>
            </a:extLst>
          </p:cNvPr>
          <p:cNvSpPr txBox="1"/>
          <p:nvPr/>
        </p:nvSpPr>
        <p:spPr>
          <a:xfrm>
            <a:off x="4205357" y="6288258"/>
            <a:ext cx="3001719" cy="369332"/>
          </a:xfrm>
          <a:prstGeom prst="rect">
            <a:avLst/>
          </a:prstGeom>
          <a:noFill/>
        </p:spPr>
        <p:txBody>
          <a:bodyPr wrap="none" rtlCol="0">
            <a:spAutoFit/>
          </a:bodyPr>
          <a:lstStyle/>
          <a:p>
            <a:r>
              <a:rPr lang="en-US" dirty="0"/>
              <a:t>Mechanical Force or an action </a:t>
            </a:r>
            <a:endParaRPr lang="en-IN" dirty="0"/>
          </a:p>
        </p:txBody>
      </p:sp>
    </p:spTree>
    <p:extLst>
      <p:ext uri="{BB962C8B-B14F-4D97-AF65-F5344CB8AC3E}">
        <p14:creationId xmlns:p14="http://schemas.microsoft.com/office/powerpoint/2010/main" val="476187704"/>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bg>
      <p:bgPr>
        <a:blipFill>
          <a:blip r:embed="rId2"/>
          <a:tile tx="0" ty="0" sx="100000" sy="100000" flip="none" algn="tl"/>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554B445-F18A-413A-A530-661CAE171ED2}"/>
              </a:ext>
            </a:extLst>
          </p:cNvPr>
          <p:cNvSpPr>
            <a:spLocks noGrp="1"/>
          </p:cNvSpPr>
          <p:nvPr>
            <p:ph type="title"/>
          </p:nvPr>
        </p:nvSpPr>
        <p:spPr>
          <a:xfrm>
            <a:off x="1375578" y="224605"/>
            <a:ext cx="9905998" cy="800600"/>
          </a:xfrm>
        </p:spPr>
        <p:txBody>
          <a:bodyPr/>
          <a:lstStyle/>
          <a:p>
            <a:r>
              <a:rPr lang="en-US" dirty="0">
                <a:solidFill>
                  <a:schemeClr val="bg1">
                    <a:lumMod val="75000"/>
                    <a:lumOff val="25000"/>
                  </a:schemeClr>
                </a:solidFill>
              </a:rPr>
              <a:t>How does a very simple actuator works</a:t>
            </a:r>
            <a:endParaRPr lang="en-IN" dirty="0">
              <a:solidFill>
                <a:schemeClr val="bg1">
                  <a:lumMod val="75000"/>
                  <a:lumOff val="25000"/>
                </a:schemeClr>
              </a:solidFill>
            </a:endParaRPr>
          </a:p>
        </p:txBody>
      </p:sp>
      <p:pic>
        <p:nvPicPr>
          <p:cNvPr id="6" name="Picture 2" descr="centiot ESP-WROOM-32 ESP32 ESP-32S Development Board Micro Controller Board Electronic Hobby Kit">
            <a:extLst>
              <a:ext uri="{FF2B5EF4-FFF2-40B4-BE49-F238E27FC236}">
                <a16:creationId xmlns:a16="http://schemas.microsoft.com/office/drawing/2014/main" id="{5417904D-23A5-495E-B0B4-82FD8BFDEDD1}"/>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818653" y="3006335"/>
            <a:ext cx="5255859" cy="2867980"/>
          </a:xfrm>
          <a:prstGeom prst="rect">
            <a:avLst/>
          </a:prstGeom>
          <a:noFill/>
          <a:extLst>
            <a:ext uri="{909E8E84-426E-40DD-AFC4-6F175D3DCCD1}">
              <a14:hiddenFill xmlns:a14="http://schemas.microsoft.com/office/drawing/2010/main">
                <a:solidFill>
                  <a:srgbClr val="FFFFFF"/>
                </a:solidFill>
              </a14:hiddenFill>
            </a:ext>
          </a:extLst>
        </p:spPr>
      </p:pic>
      <p:pic>
        <p:nvPicPr>
          <p:cNvPr id="10" name="Picture 9">
            <a:extLst>
              <a:ext uri="{FF2B5EF4-FFF2-40B4-BE49-F238E27FC236}">
                <a16:creationId xmlns:a16="http://schemas.microsoft.com/office/drawing/2014/main" id="{A5131DC0-87C1-4314-9153-A0092777544E}"/>
              </a:ext>
            </a:extLst>
          </p:cNvPr>
          <p:cNvPicPr>
            <a:picLocks noChangeAspect="1"/>
          </p:cNvPicPr>
          <p:nvPr/>
        </p:nvPicPr>
        <p:blipFill>
          <a:blip r:embed="rId4"/>
          <a:stretch>
            <a:fillRect/>
          </a:stretch>
        </p:blipFill>
        <p:spPr>
          <a:xfrm rot="5400000">
            <a:off x="2591573" y="1761655"/>
            <a:ext cx="2357889" cy="2435909"/>
          </a:xfrm>
          <a:prstGeom prst="rect">
            <a:avLst/>
          </a:prstGeom>
        </p:spPr>
      </p:pic>
      <p:cxnSp>
        <p:nvCxnSpPr>
          <p:cNvPr id="12" name="Straight Connector 11">
            <a:extLst>
              <a:ext uri="{FF2B5EF4-FFF2-40B4-BE49-F238E27FC236}">
                <a16:creationId xmlns:a16="http://schemas.microsoft.com/office/drawing/2014/main" id="{BE81CD98-222B-4C37-82AF-841F14A93CF6}"/>
              </a:ext>
            </a:extLst>
          </p:cNvPr>
          <p:cNvCxnSpPr>
            <a:cxnSpLocks/>
          </p:cNvCxnSpPr>
          <p:nvPr/>
        </p:nvCxnSpPr>
        <p:spPr>
          <a:xfrm flipV="1">
            <a:off x="9411285" y="1195754"/>
            <a:ext cx="0" cy="1941341"/>
          </a:xfrm>
          <a:prstGeom prst="line">
            <a:avLst/>
          </a:prstGeom>
          <a:ln w="66675">
            <a:solidFill>
              <a:srgbClr val="FFFF00"/>
            </a:solidFill>
          </a:ln>
        </p:spPr>
        <p:style>
          <a:lnRef idx="1">
            <a:schemeClr val="accent1"/>
          </a:lnRef>
          <a:fillRef idx="0">
            <a:schemeClr val="accent1"/>
          </a:fillRef>
          <a:effectRef idx="0">
            <a:schemeClr val="accent1"/>
          </a:effectRef>
          <a:fontRef idx="minor">
            <a:schemeClr val="tx1"/>
          </a:fontRef>
        </p:style>
      </p:cxnSp>
      <p:cxnSp>
        <p:nvCxnSpPr>
          <p:cNvPr id="15" name="Straight Connector 14">
            <a:extLst>
              <a:ext uri="{FF2B5EF4-FFF2-40B4-BE49-F238E27FC236}">
                <a16:creationId xmlns:a16="http://schemas.microsoft.com/office/drawing/2014/main" id="{1EAC4071-3F8E-4111-A2A2-08B4A6917DC9}"/>
              </a:ext>
            </a:extLst>
          </p:cNvPr>
          <p:cNvCxnSpPr>
            <a:cxnSpLocks/>
          </p:cNvCxnSpPr>
          <p:nvPr/>
        </p:nvCxnSpPr>
        <p:spPr>
          <a:xfrm flipH="1" flipV="1">
            <a:off x="4428978" y="1195754"/>
            <a:ext cx="26342" cy="773724"/>
          </a:xfrm>
          <a:prstGeom prst="line">
            <a:avLst/>
          </a:prstGeom>
          <a:ln w="66675">
            <a:solidFill>
              <a:srgbClr val="FFFF00"/>
            </a:solidFill>
          </a:ln>
        </p:spPr>
        <p:style>
          <a:lnRef idx="1">
            <a:schemeClr val="accent1"/>
          </a:lnRef>
          <a:fillRef idx="0">
            <a:schemeClr val="accent1"/>
          </a:fillRef>
          <a:effectRef idx="0">
            <a:schemeClr val="accent1"/>
          </a:effectRef>
          <a:fontRef idx="minor">
            <a:schemeClr val="tx1"/>
          </a:fontRef>
        </p:style>
      </p:cxnSp>
      <p:cxnSp>
        <p:nvCxnSpPr>
          <p:cNvPr id="18" name="Straight Connector 17">
            <a:extLst>
              <a:ext uri="{FF2B5EF4-FFF2-40B4-BE49-F238E27FC236}">
                <a16:creationId xmlns:a16="http://schemas.microsoft.com/office/drawing/2014/main" id="{46742E5E-A34D-45B7-B03C-37E10D571298}"/>
              </a:ext>
            </a:extLst>
          </p:cNvPr>
          <p:cNvCxnSpPr>
            <a:cxnSpLocks/>
          </p:cNvCxnSpPr>
          <p:nvPr/>
        </p:nvCxnSpPr>
        <p:spPr>
          <a:xfrm flipH="1">
            <a:off x="4428978" y="1195754"/>
            <a:ext cx="5017604" cy="0"/>
          </a:xfrm>
          <a:prstGeom prst="line">
            <a:avLst/>
          </a:prstGeom>
          <a:ln w="66675">
            <a:solidFill>
              <a:srgbClr val="FFFF00"/>
            </a:solidFill>
          </a:ln>
        </p:spPr>
        <p:style>
          <a:lnRef idx="1">
            <a:schemeClr val="accent1"/>
          </a:lnRef>
          <a:fillRef idx="0">
            <a:schemeClr val="accent1"/>
          </a:fillRef>
          <a:effectRef idx="0">
            <a:schemeClr val="accent1"/>
          </a:effectRef>
          <a:fontRef idx="minor">
            <a:schemeClr val="tx1"/>
          </a:fontRef>
        </p:style>
      </p:cxnSp>
      <p:pic>
        <p:nvPicPr>
          <p:cNvPr id="20" name="Picture 19">
            <a:extLst>
              <a:ext uri="{FF2B5EF4-FFF2-40B4-BE49-F238E27FC236}">
                <a16:creationId xmlns:a16="http://schemas.microsoft.com/office/drawing/2014/main" id="{08015F37-2DB6-4251-9AA1-1498887597E4}"/>
              </a:ext>
            </a:extLst>
          </p:cNvPr>
          <p:cNvPicPr>
            <a:picLocks noChangeAspect="1"/>
          </p:cNvPicPr>
          <p:nvPr/>
        </p:nvPicPr>
        <p:blipFill>
          <a:blip r:embed="rId5"/>
          <a:stretch>
            <a:fillRect/>
          </a:stretch>
        </p:blipFill>
        <p:spPr>
          <a:xfrm>
            <a:off x="1626211" y="4658984"/>
            <a:ext cx="2481180" cy="1941342"/>
          </a:xfrm>
          <a:prstGeom prst="rect">
            <a:avLst/>
          </a:prstGeom>
        </p:spPr>
      </p:pic>
      <p:pic>
        <p:nvPicPr>
          <p:cNvPr id="10246" name="Picture 6" descr="Electromagnetic Relay |HUIMULTD">
            <a:extLst>
              <a:ext uri="{FF2B5EF4-FFF2-40B4-BE49-F238E27FC236}">
                <a16:creationId xmlns:a16="http://schemas.microsoft.com/office/drawing/2014/main" id="{096BF4EB-483B-4D92-A8E6-486458FA2F7F}"/>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0250151" y="840315"/>
            <a:ext cx="1769719" cy="1769719"/>
          </a:xfrm>
          <a:prstGeom prst="rect">
            <a:avLst/>
          </a:prstGeom>
          <a:noFill/>
          <a:extLst>
            <a:ext uri="{909E8E84-426E-40DD-AFC4-6F175D3DCCD1}">
              <a14:hiddenFill xmlns:a14="http://schemas.microsoft.com/office/drawing/2010/main">
                <a:solidFill>
                  <a:srgbClr val="FFFFFF"/>
                </a:solidFill>
              </a14:hiddenFill>
            </a:ext>
          </a:extLst>
        </p:spPr>
      </p:pic>
      <p:cxnSp>
        <p:nvCxnSpPr>
          <p:cNvPr id="22" name="Straight Connector 21">
            <a:extLst>
              <a:ext uri="{FF2B5EF4-FFF2-40B4-BE49-F238E27FC236}">
                <a16:creationId xmlns:a16="http://schemas.microsoft.com/office/drawing/2014/main" id="{F202E694-39AA-40F8-9A0E-4222D7322AE9}"/>
              </a:ext>
            </a:extLst>
          </p:cNvPr>
          <p:cNvCxnSpPr>
            <a:cxnSpLocks/>
          </p:cNvCxnSpPr>
          <p:nvPr/>
        </p:nvCxnSpPr>
        <p:spPr>
          <a:xfrm flipV="1">
            <a:off x="4205865" y="1195754"/>
            <a:ext cx="0" cy="773723"/>
          </a:xfrm>
          <a:prstGeom prst="line">
            <a:avLst/>
          </a:prstGeom>
          <a:ln w="88900">
            <a:solidFill>
              <a:srgbClr val="FFFF00"/>
            </a:solidFill>
          </a:ln>
        </p:spPr>
        <p:style>
          <a:lnRef idx="1">
            <a:schemeClr val="accent1"/>
          </a:lnRef>
          <a:fillRef idx="0">
            <a:schemeClr val="accent1"/>
          </a:fillRef>
          <a:effectRef idx="0">
            <a:schemeClr val="accent1"/>
          </a:effectRef>
          <a:fontRef idx="minor">
            <a:schemeClr val="tx1"/>
          </a:fontRef>
        </p:style>
      </p:cxnSp>
      <p:cxnSp>
        <p:nvCxnSpPr>
          <p:cNvPr id="24" name="Straight Connector 23">
            <a:extLst>
              <a:ext uri="{FF2B5EF4-FFF2-40B4-BE49-F238E27FC236}">
                <a16:creationId xmlns:a16="http://schemas.microsoft.com/office/drawing/2014/main" id="{5DB37D4D-783D-4E1D-A92D-B585759AE517}"/>
              </a:ext>
            </a:extLst>
          </p:cNvPr>
          <p:cNvCxnSpPr>
            <a:cxnSpLocks/>
          </p:cNvCxnSpPr>
          <p:nvPr/>
        </p:nvCxnSpPr>
        <p:spPr>
          <a:xfrm flipH="1">
            <a:off x="815926" y="1236698"/>
            <a:ext cx="3389939" cy="0"/>
          </a:xfrm>
          <a:prstGeom prst="line">
            <a:avLst/>
          </a:prstGeom>
          <a:ln w="88900">
            <a:solidFill>
              <a:srgbClr val="FFFF00"/>
            </a:solidFill>
          </a:ln>
        </p:spPr>
        <p:style>
          <a:lnRef idx="1">
            <a:schemeClr val="accent1"/>
          </a:lnRef>
          <a:fillRef idx="0">
            <a:schemeClr val="accent1"/>
          </a:fillRef>
          <a:effectRef idx="0">
            <a:schemeClr val="accent1"/>
          </a:effectRef>
          <a:fontRef idx="minor">
            <a:schemeClr val="tx1"/>
          </a:fontRef>
        </p:style>
      </p:cxnSp>
      <p:cxnSp>
        <p:nvCxnSpPr>
          <p:cNvPr id="26" name="Straight Connector 25">
            <a:extLst>
              <a:ext uri="{FF2B5EF4-FFF2-40B4-BE49-F238E27FC236}">
                <a16:creationId xmlns:a16="http://schemas.microsoft.com/office/drawing/2014/main" id="{40DB43C6-3E8B-49C6-8DC5-C1CE8C402DA2}"/>
              </a:ext>
            </a:extLst>
          </p:cNvPr>
          <p:cNvCxnSpPr>
            <a:cxnSpLocks/>
          </p:cNvCxnSpPr>
          <p:nvPr/>
        </p:nvCxnSpPr>
        <p:spPr>
          <a:xfrm>
            <a:off x="815926" y="1195754"/>
            <a:ext cx="0" cy="5174568"/>
          </a:xfrm>
          <a:prstGeom prst="line">
            <a:avLst/>
          </a:prstGeom>
          <a:ln w="88900">
            <a:solidFill>
              <a:srgbClr val="FFFF00"/>
            </a:solidFill>
          </a:ln>
        </p:spPr>
        <p:style>
          <a:lnRef idx="1">
            <a:schemeClr val="accent1"/>
          </a:lnRef>
          <a:fillRef idx="0">
            <a:schemeClr val="accent1"/>
          </a:fillRef>
          <a:effectRef idx="0">
            <a:schemeClr val="accent1"/>
          </a:effectRef>
          <a:fontRef idx="minor">
            <a:schemeClr val="tx1"/>
          </a:fontRef>
        </p:style>
      </p:cxnSp>
      <p:cxnSp>
        <p:nvCxnSpPr>
          <p:cNvPr id="30" name="Straight Connector 29">
            <a:extLst>
              <a:ext uri="{FF2B5EF4-FFF2-40B4-BE49-F238E27FC236}">
                <a16:creationId xmlns:a16="http://schemas.microsoft.com/office/drawing/2014/main" id="{E9748B78-25BF-40EA-9D9B-184660CF8E53}"/>
              </a:ext>
            </a:extLst>
          </p:cNvPr>
          <p:cNvCxnSpPr>
            <a:cxnSpLocks/>
          </p:cNvCxnSpPr>
          <p:nvPr/>
        </p:nvCxnSpPr>
        <p:spPr>
          <a:xfrm flipH="1">
            <a:off x="815927" y="6370322"/>
            <a:ext cx="1308295" cy="0"/>
          </a:xfrm>
          <a:prstGeom prst="line">
            <a:avLst/>
          </a:prstGeom>
          <a:ln w="88900">
            <a:solidFill>
              <a:srgbClr val="FFFF00"/>
            </a:solidFill>
          </a:ln>
        </p:spPr>
        <p:style>
          <a:lnRef idx="1">
            <a:schemeClr val="accent1"/>
          </a:lnRef>
          <a:fillRef idx="0">
            <a:schemeClr val="accent1"/>
          </a:fillRef>
          <a:effectRef idx="0">
            <a:schemeClr val="accent1"/>
          </a:effectRef>
          <a:fontRef idx="minor">
            <a:schemeClr val="tx1"/>
          </a:fontRef>
        </p:style>
      </p:cxnSp>
      <p:cxnSp>
        <p:nvCxnSpPr>
          <p:cNvPr id="33" name="Straight Connector 32">
            <a:extLst>
              <a:ext uri="{FF2B5EF4-FFF2-40B4-BE49-F238E27FC236}">
                <a16:creationId xmlns:a16="http://schemas.microsoft.com/office/drawing/2014/main" id="{543DF4AB-E738-4B71-845F-6AB7FD2AD832}"/>
              </a:ext>
            </a:extLst>
          </p:cNvPr>
          <p:cNvCxnSpPr>
            <a:cxnSpLocks/>
          </p:cNvCxnSpPr>
          <p:nvPr/>
        </p:nvCxnSpPr>
        <p:spPr>
          <a:xfrm flipH="1">
            <a:off x="1375578" y="5509852"/>
            <a:ext cx="901045" cy="0"/>
          </a:xfrm>
          <a:prstGeom prst="line">
            <a:avLst/>
          </a:prstGeom>
          <a:ln w="88900">
            <a:solidFill>
              <a:srgbClr val="FFFF00"/>
            </a:solidFill>
          </a:ln>
        </p:spPr>
        <p:style>
          <a:lnRef idx="1">
            <a:schemeClr val="accent1"/>
          </a:lnRef>
          <a:fillRef idx="0">
            <a:schemeClr val="accent1"/>
          </a:fillRef>
          <a:effectRef idx="0">
            <a:schemeClr val="accent1"/>
          </a:effectRef>
          <a:fontRef idx="minor">
            <a:schemeClr val="tx1"/>
          </a:fontRef>
        </p:style>
      </p:cxnSp>
      <p:cxnSp>
        <p:nvCxnSpPr>
          <p:cNvPr id="35" name="Straight Connector 34">
            <a:extLst>
              <a:ext uri="{FF2B5EF4-FFF2-40B4-BE49-F238E27FC236}">
                <a16:creationId xmlns:a16="http://schemas.microsoft.com/office/drawing/2014/main" id="{3BE9B901-4A2B-44D4-B47D-0539D86081BB}"/>
              </a:ext>
            </a:extLst>
          </p:cNvPr>
          <p:cNvCxnSpPr>
            <a:cxnSpLocks/>
          </p:cNvCxnSpPr>
          <p:nvPr/>
        </p:nvCxnSpPr>
        <p:spPr>
          <a:xfrm>
            <a:off x="1359163" y="1498209"/>
            <a:ext cx="16415" cy="4068684"/>
          </a:xfrm>
          <a:prstGeom prst="line">
            <a:avLst/>
          </a:prstGeom>
          <a:ln w="88900">
            <a:solidFill>
              <a:srgbClr val="FFFF00"/>
            </a:solidFill>
          </a:ln>
        </p:spPr>
        <p:style>
          <a:lnRef idx="1">
            <a:schemeClr val="accent1"/>
          </a:lnRef>
          <a:fillRef idx="0">
            <a:schemeClr val="accent1"/>
          </a:fillRef>
          <a:effectRef idx="0">
            <a:schemeClr val="accent1"/>
          </a:effectRef>
          <a:fontRef idx="minor">
            <a:schemeClr val="tx1"/>
          </a:fontRef>
        </p:style>
      </p:cxnSp>
      <p:cxnSp>
        <p:nvCxnSpPr>
          <p:cNvPr id="37" name="Straight Connector 36">
            <a:extLst>
              <a:ext uri="{FF2B5EF4-FFF2-40B4-BE49-F238E27FC236}">
                <a16:creationId xmlns:a16="http://schemas.microsoft.com/office/drawing/2014/main" id="{70883F1A-2F58-48B4-ADC6-292A43AC1953}"/>
              </a:ext>
            </a:extLst>
          </p:cNvPr>
          <p:cNvCxnSpPr>
            <a:cxnSpLocks/>
          </p:cNvCxnSpPr>
          <p:nvPr/>
        </p:nvCxnSpPr>
        <p:spPr>
          <a:xfrm flipH="1" flipV="1">
            <a:off x="1359166" y="1526348"/>
            <a:ext cx="2557741" cy="2201"/>
          </a:xfrm>
          <a:prstGeom prst="line">
            <a:avLst/>
          </a:prstGeom>
          <a:ln w="88900">
            <a:solidFill>
              <a:srgbClr val="FFFF00"/>
            </a:solidFill>
          </a:ln>
        </p:spPr>
        <p:style>
          <a:lnRef idx="1">
            <a:schemeClr val="accent1"/>
          </a:lnRef>
          <a:fillRef idx="0">
            <a:schemeClr val="accent1"/>
          </a:fillRef>
          <a:effectRef idx="0">
            <a:schemeClr val="accent1"/>
          </a:effectRef>
          <a:fontRef idx="minor">
            <a:schemeClr val="tx1"/>
          </a:fontRef>
        </p:style>
      </p:cxnSp>
      <p:cxnSp>
        <p:nvCxnSpPr>
          <p:cNvPr id="40" name="Straight Connector 39">
            <a:extLst>
              <a:ext uri="{FF2B5EF4-FFF2-40B4-BE49-F238E27FC236}">
                <a16:creationId xmlns:a16="http://schemas.microsoft.com/office/drawing/2014/main" id="{486085F8-2123-422C-9040-ED05818323FB}"/>
              </a:ext>
            </a:extLst>
          </p:cNvPr>
          <p:cNvCxnSpPr/>
          <p:nvPr/>
        </p:nvCxnSpPr>
        <p:spPr>
          <a:xfrm flipV="1">
            <a:off x="3922166" y="1498209"/>
            <a:ext cx="0" cy="604911"/>
          </a:xfrm>
          <a:prstGeom prst="line">
            <a:avLst/>
          </a:prstGeom>
          <a:ln w="88900">
            <a:solidFill>
              <a:srgbClr val="FFFF00"/>
            </a:solidFill>
          </a:ln>
        </p:spPr>
        <p:style>
          <a:lnRef idx="1">
            <a:schemeClr val="accent1"/>
          </a:lnRef>
          <a:fillRef idx="0">
            <a:schemeClr val="accent1"/>
          </a:fillRef>
          <a:effectRef idx="0">
            <a:schemeClr val="accent1"/>
          </a:effectRef>
          <a:fontRef idx="minor">
            <a:schemeClr val="tx1"/>
          </a:fontRef>
        </p:style>
      </p:cxnSp>
      <p:pic>
        <p:nvPicPr>
          <p:cNvPr id="10248" name="Picture 8" descr="Single Phase Vinayak Monoblock Pump, Electric, Rs 6500 /piece ...">
            <a:extLst>
              <a:ext uri="{FF2B5EF4-FFF2-40B4-BE49-F238E27FC236}">
                <a16:creationId xmlns:a16="http://schemas.microsoft.com/office/drawing/2014/main" id="{E674191C-040C-4511-9520-BFE88E98F30F}"/>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5386527" y="5692757"/>
            <a:ext cx="996908" cy="996908"/>
          </a:xfrm>
          <a:prstGeom prst="rect">
            <a:avLst/>
          </a:prstGeom>
          <a:noFill/>
          <a:extLst>
            <a:ext uri="{909E8E84-426E-40DD-AFC4-6F175D3DCCD1}">
              <a14:hiddenFill xmlns:a14="http://schemas.microsoft.com/office/drawing/2010/main">
                <a:solidFill>
                  <a:srgbClr val="FFFFFF"/>
                </a:solidFill>
              </a14:hiddenFill>
            </a:ext>
          </a:extLst>
        </p:spPr>
      </p:pic>
      <p:cxnSp>
        <p:nvCxnSpPr>
          <p:cNvPr id="46" name="Straight Connector 45">
            <a:extLst>
              <a:ext uri="{FF2B5EF4-FFF2-40B4-BE49-F238E27FC236}">
                <a16:creationId xmlns:a16="http://schemas.microsoft.com/office/drawing/2014/main" id="{7E185827-EEBD-4630-B1BC-DAE9027B6CD3}"/>
              </a:ext>
            </a:extLst>
          </p:cNvPr>
          <p:cNvCxnSpPr>
            <a:cxnSpLocks/>
          </p:cNvCxnSpPr>
          <p:nvPr/>
        </p:nvCxnSpPr>
        <p:spPr>
          <a:xfrm flipH="1">
            <a:off x="3805058" y="5139400"/>
            <a:ext cx="2523519" cy="0"/>
          </a:xfrm>
          <a:prstGeom prst="line">
            <a:avLst/>
          </a:prstGeom>
          <a:ln w="8890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47" name="Straight Connector 46">
            <a:extLst>
              <a:ext uri="{FF2B5EF4-FFF2-40B4-BE49-F238E27FC236}">
                <a16:creationId xmlns:a16="http://schemas.microsoft.com/office/drawing/2014/main" id="{19D3A2CE-663D-481D-ACFF-C5411296CE9A}"/>
              </a:ext>
            </a:extLst>
          </p:cNvPr>
          <p:cNvCxnSpPr>
            <a:cxnSpLocks/>
          </p:cNvCxnSpPr>
          <p:nvPr/>
        </p:nvCxnSpPr>
        <p:spPr>
          <a:xfrm flipV="1">
            <a:off x="6328577" y="5139401"/>
            <a:ext cx="0" cy="867144"/>
          </a:xfrm>
          <a:prstGeom prst="line">
            <a:avLst/>
          </a:prstGeom>
          <a:ln w="8890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48" name="Straight Connector 47">
            <a:extLst>
              <a:ext uri="{FF2B5EF4-FFF2-40B4-BE49-F238E27FC236}">
                <a16:creationId xmlns:a16="http://schemas.microsoft.com/office/drawing/2014/main" id="{DD0619D8-FCD1-4FE1-969F-85F293D5E5A9}"/>
              </a:ext>
            </a:extLst>
          </p:cNvPr>
          <p:cNvCxnSpPr>
            <a:cxnSpLocks/>
          </p:cNvCxnSpPr>
          <p:nvPr/>
        </p:nvCxnSpPr>
        <p:spPr>
          <a:xfrm flipH="1" flipV="1">
            <a:off x="6091771" y="5441855"/>
            <a:ext cx="1" cy="432460"/>
          </a:xfrm>
          <a:prstGeom prst="line">
            <a:avLst/>
          </a:prstGeom>
          <a:ln w="8890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50" name="Straight Connector 49">
            <a:extLst>
              <a:ext uri="{FF2B5EF4-FFF2-40B4-BE49-F238E27FC236}">
                <a16:creationId xmlns:a16="http://schemas.microsoft.com/office/drawing/2014/main" id="{77F8EE67-447C-45C8-B2C0-63D08DBAB157}"/>
              </a:ext>
            </a:extLst>
          </p:cNvPr>
          <p:cNvCxnSpPr>
            <a:cxnSpLocks/>
          </p:cNvCxnSpPr>
          <p:nvPr/>
        </p:nvCxnSpPr>
        <p:spPr>
          <a:xfrm flipH="1">
            <a:off x="4642338" y="5441855"/>
            <a:ext cx="1449434" cy="0"/>
          </a:xfrm>
          <a:prstGeom prst="line">
            <a:avLst/>
          </a:prstGeom>
          <a:ln w="8890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52" name="Straight Connector 51">
            <a:extLst>
              <a:ext uri="{FF2B5EF4-FFF2-40B4-BE49-F238E27FC236}">
                <a16:creationId xmlns:a16="http://schemas.microsoft.com/office/drawing/2014/main" id="{2A93128A-2C8C-4619-9C24-2B888A49E892}"/>
              </a:ext>
            </a:extLst>
          </p:cNvPr>
          <p:cNvCxnSpPr/>
          <p:nvPr/>
        </p:nvCxnSpPr>
        <p:spPr>
          <a:xfrm flipV="1">
            <a:off x="4642338" y="5441855"/>
            <a:ext cx="0" cy="604911"/>
          </a:xfrm>
          <a:prstGeom prst="line">
            <a:avLst/>
          </a:prstGeom>
          <a:ln w="8890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53" name="Straight Connector 52">
            <a:extLst>
              <a:ext uri="{FF2B5EF4-FFF2-40B4-BE49-F238E27FC236}">
                <a16:creationId xmlns:a16="http://schemas.microsoft.com/office/drawing/2014/main" id="{DE29B1A1-8031-499D-9527-68AE39850C4B}"/>
              </a:ext>
            </a:extLst>
          </p:cNvPr>
          <p:cNvCxnSpPr>
            <a:cxnSpLocks/>
          </p:cNvCxnSpPr>
          <p:nvPr/>
        </p:nvCxnSpPr>
        <p:spPr>
          <a:xfrm flipV="1">
            <a:off x="4764258" y="3783039"/>
            <a:ext cx="1" cy="705757"/>
          </a:xfrm>
          <a:prstGeom prst="line">
            <a:avLst/>
          </a:prstGeom>
          <a:ln w="66675">
            <a:solidFill>
              <a:srgbClr val="FFFF00"/>
            </a:solidFill>
          </a:ln>
        </p:spPr>
        <p:style>
          <a:lnRef idx="1">
            <a:schemeClr val="accent1"/>
          </a:lnRef>
          <a:fillRef idx="0">
            <a:schemeClr val="accent1"/>
          </a:fillRef>
          <a:effectRef idx="0">
            <a:schemeClr val="accent1"/>
          </a:effectRef>
          <a:fontRef idx="minor">
            <a:schemeClr val="tx1"/>
          </a:fontRef>
        </p:style>
      </p:cxnSp>
      <p:cxnSp>
        <p:nvCxnSpPr>
          <p:cNvPr id="54" name="Straight Connector 53">
            <a:extLst>
              <a:ext uri="{FF2B5EF4-FFF2-40B4-BE49-F238E27FC236}">
                <a16:creationId xmlns:a16="http://schemas.microsoft.com/office/drawing/2014/main" id="{7D0FC90F-E149-408E-AE23-1E21DC7926F9}"/>
              </a:ext>
            </a:extLst>
          </p:cNvPr>
          <p:cNvCxnSpPr>
            <a:cxnSpLocks/>
          </p:cNvCxnSpPr>
          <p:nvPr/>
        </p:nvCxnSpPr>
        <p:spPr>
          <a:xfrm flipV="1">
            <a:off x="7892385" y="5659906"/>
            <a:ext cx="1" cy="773720"/>
          </a:xfrm>
          <a:prstGeom prst="line">
            <a:avLst/>
          </a:prstGeom>
          <a:ln w="66675">
            <a:solidFill>
              <a:srgbClr val="FFFF00"/>
            </a:solidFill>
          </a:ln>
        </p:spPr>
        <p:style>
          <a:lnRef idx="1">
            <a:schemeClr val="accent1"/>
          </a:lnRef>
          <a:fillRef idx="0">
            <a:schemeClr val="accent1"/>
          </a:fillRef>
          <a:effectRef idx="0">
            <a:schemeClr val="accent1"/>
          </a:effectRef>
          <a:fontRef idx="minor">
            <a:schemeClr val="tx1"/>
          </a:fontRef>
        </p:style>
      </p:cxnSp>
      <p:cxnSp>
        <p:nvCxnSpPr>
          <p:cNvPr id="55" name="Straight Connector 54">
            <a:extLst>
              <a:ext uri="{FF2B5EF4-FFF2-40B4-BE49-F238E27FC236}">
                <a16:creationId xmlns:a16="http://schemas.microsoft.com/office/drawing/2014/main" id="{B0EBAC36-0399-47D7-A600-3BA4626CDBC6}"/>
              </a:ext>
            </a:extLst>
          </p:cNvPr>
          <p:cNvCxnSpPr>
            <a:cxnSpLocks/>
          </p:cNvCxnSpPr>
          <p:nvPr/>
        </p:nvCxnSpPr>
        <p:spPr>
          <a:xfrm flipV="1">
            <a:off x="6626721" y="4440326"/>
            <a:ext cx="0" cy="1993300"/>
          </a:xfrm>
          <a:prstGeom prst="line">
            <a:avLst/>
          </a:prstGeom>
          <a:ln w="66675">
            <a:solidFill>
              <a:srgbClr val="FFFF00"/>
            </a:solidFill>
          </a:ln>
        </p:spPr>
        <p:style>
          <a:lnRef idx="1">
            <a:schemeClr val="accent1"/>
          </a:lnRef>
          <a:fillRef idx="0">
            <a:schemeClr val="accent1"/>
          </a:fillRef>
          <a:effectRef idx="0">
            <a:schemeClr val="accent1"/>
          </a:effectRef>
          <a:fontRef idx="minor">
            <a:schemeClr val="tx1"/>
          </a:fontRef>
        </p:style>
      </p:cxnSp>
      <p:cxnSp>
        <p:nvCxnSpPr>
          <p:cNvPr id="58" name="Straight Connector 57">
            <a:extLst>
              <a:ext uri="{FF2B5EF4-FFF2-40B4-BE49-F238E27FC236}">
                <a16:creationId xmlns:a16="http://schemas.microsoft.com/office/drawing/2014/main" id="{65156082-C074-49FC-8467-3871D0656E77}"/>
              </a:ext>
            </a:extLst>
          </p:cNvPr>
          <p:cNvCxnSpPr>
            <a:cxnSpLocks/>
          </p:cNvCxnSpPr>
          <p:nvPr/>
        </p:nvCxnSpPr>
        <p:spPr>
          <a:xfrm flipH="1">
            <a:off x="6595878" y="6400860"/>
            <a:ext cx="1296508" cy="0"/>
          </a:xfrm>
          <a:prstGeom prst="line">
            <a:avLst/>
          </a:prstGeom>
          <a:ln w="88900">
            <a:solidFill>
              <a:srgbClr val="FFFF00"/>
            </a:solidFill>
          </a:ln>
        </p:spPr>
        <p:style>
          <a:lnRef idx="1">
            <a:schemeClr val="accent1"/>
          </a:lnRef>
          <a:fillRef idx="0">
            <a:schemeClr val="accent1"/>
          </a:fillRef>
          <a:effectRef idx="0">
            <a:schemeClr val="accent1"/>
          </a:effectRef>
          <a:fontRef idx="minor">
            <a:schemeClr val="tx1"/>
          </a:fontRef>
        </p:style>
      </p:cxnSp>
      <p:cxnSp>
        <p:nvCxnSpPr>
          <p:cNvPr id="59" name="Straight Connector 58">
            <a:extLst>
              <a:ext uri="{FF2B5EF4-FFF2-40B4-BE49-F238E27FC236}">
                <a16:creationId xmlns:a16="http://schemas.microsoft.com/office/drawing/2014/main" id="{A70317A0-38A0-4E2D-9C55-F906ACF2B4E1}"/>
              </a:ext>
            </a:extLst>
          </p:cNvPr>
          <p:cNvCxnSpPr>
            <a:cxnSpLocks/>
          </p:cNvCxnSpPr>
          <p:nvPr/>
        </p:nvCxnSpPr>
        <p:spPr>
          <a:xfrm flipH="1">
            <a:off x="4736007" y="4488796"/>
            <a:ext cx="1866511" cy="0"/>
          </a:xfrm>
          <a:prstGeom prst="line">
            <a:avLst/>
          </a:prstGeom>
          <a:ln w="88900">
            <a:solidFill>
              <a:srgbClr val="FFFF00"/>
            </a:solidFill>
          </a:ln>
        </p:spPr>
        <p:style>
          <a:lnRef idx="1">
            <a:schemeClr val="accent1"/>
          </a:lnRef>
          <a:fillRef idx="0">
            <a:schemeClr val="accent1"/>
          </a:fillRef>
          <a:effectRef idx="0">
            <a:schemeClr val="accent1"/>
          </a:effectRef>
          <a:fontRef idx="minor">
            <a:schemeClr val="tx1"/>
          </a:fontRef>
        </p:style>
      </p:cxnSp>
      <p:sp>
        <p:nvSpPr>
          <p:cNvPr id="51" name="TextBox 50">
            <a:extLst>
              <a:ext uri="{FF2B5EF4-FFF2-40B4-BE49-F238E27FC236}">
                <a16:creationId xmlns:a16="http://schemas.microsoft.com/office/drawing/2014/main" id="{16E8AF73-6348-46A7-81BF-C0046F0BDED5}"/>
              </a:ext>
            </a:extLst>
          </p:cNvPr>
          <p:cNvSpPr txBox="1"/>
          <p:nvPr/>
        </p:nvSpPr>
        <p:spPr>
          <a:xfrm>
            <a:off x="4273133" y="6006545"/>
            <a:ext cx="870110" cy="369332"/>
          </a:xfrm>
          <a:prstGeom prst="rect">
            <a:avLst/>
          </a:prstGeom>
          <a:noFill/>
        </p:spPr>
        <p:txBody>
          <a:bodyPr wrap="none" rtlCol="0">
            <a:spAutoFit/>
          </a:bodyPr>
          <a:lstStyle/>
          <a:p>
            <a:r>
              <a:rPr lang="en-US" dirty="0"/>
              <a:t>Neutral</a:t>
            </a:r>
            <a:endParaRPr lang="en-IN" dirty="0"/>
          </a:p>
        </p:txBody>
      </p:sp>
      <p:sp>
        <p:nvSpPr>
          <p:cNvPr id="56" name="TextBox 55">
            <a:extLst>
              <a:ext uri="{FF2B5EF4-FFF2-40B4-BE49-F238E27FC236}">
                <a16:creationId xmlns:a16="http://schemas.microsoft.com/office/drawing/2014/main" id="{58D8B5D0-6225-4A22-BC7C-95647AEAA8AB}"/>
              </a:ext>
            </a:extLst>
          </p:cNvPr>
          <p:cNvSpPr txBox="1"/>
          <p:nvPr/>
        </p:nvSpPr>
        <p:spPr>
          <a:xfrm>
            <a:off x="4594481" y="4793829"/>
            <a:ext cx="720069" cy="369332"/>
          </a:xfrm>
          <a:prstGeom prst="rect">
            <a:avLst/>
          </a:prstGeom>
          <a:noFill/>
        </p:spPr>
        <p:txBody>
          <a:bodyPr wrap="none" rtlCol="0">
            <a:spAutoFit/>
          </a:bodyPr>
          <a:lstStyle/>
          <a:p>
            <a:r>
              <a:rPr lang="en-US" dirty="0"/>
              <a:t>Phase</a:t>
            </a:r>
            <a:endParaRPr lang="en-IN" dirty="0"/>
          </a:p>
        </p:txBody>
      </p:sp>
      <p:cxnSp>
        <p:nvCxnSpPr>
          <p:cNvPr id="65" name="Straight Connector 64">
            <a:extLst>
              <a:ext uri="{FF2B5EF4-FFF2-40B4-BE49-F238E27FC236}">
                <a16:creationId xmlns:a16="http://schemas.microsoft.com/office/drawing/2014/main" id="{8028A82C-C8EF-4123-A22B-6AE6913253CC}"/>
              </a:ext>
            </a:extLst>
          </p:cNvPr>
          <p:cNvCxnSpPr>
            <a:cxnSpLocks/>
          </p:cNvCxnSpPr>
          <p:nvPr/>
        </p:nvCxnSpPr>
        <p:spPr>
          <a:xfrm flipH="1">
            <a:off x="4717366" y="1641094"/>
            <a:ext cx="1866511" cy="0"/>
          </a:xfrm>
          <a:prstGeom prst="line">
            <a:avLst/>
          </a:prstGeom>
          <a:ln w="88900">
            <a:solidFill>
              <a:srgbClr val="FFFF00"/>
            </a:solidFill>
          </a:ln>
        </p:spPr>
        <p:style>
          <a:lnRef idx="1">
            <a:schemeClr val="accent1"/>
          </a:lnRef>
          <a:fillRef idx="0">
            <a:schemeClr val="accent1"/>
          </a:fillRef>
          <a:effectRef idx="0">
            <a:schemeClr val="accent1"/>
          </a:effectRef>
          <a:fontRef idx="minor">
            <a:schemeClr val="tx1"/>
          </a:fontRef>
        </p:style>
      </p:cxnSp>
      <p:cxnSp>
        <p:nvCxnSpPr>
          <p:cNvPr id="66" name="Straight Connector 65">
            <a:extLst>
              <a:ext uri="{FF2B5EF4-FFF2-40B4-BE49-F238E27FC236}">
                <a16:creationId xmlns:a16="http://schemas.microsoft.com/office/drawing/2014/main" id="{7B403BA3-F07E-466A-A5E2-D4E776312A21}"/>
              </a:ext>
            </a:extLst>
          </p:cNvPr>
          <p:cNvCxnSpPr>
            <a:cxnSpLocks/>
          </p:cNvCxnSpPr>
          <p:nvPr/>
        </p:nvCxnSpPr>
        <p:spPr>
          <a:xfrm flipH="1" flipV="1">
            <a:off x="6583877" y="1589894"/>
            <a:ext cx="36059" cy="2850433"/>
          </a:xfrm>
          <a:prstGeom prst="line">
            <a:avLst/>
          </a:prstGeom>
          <a:ln w="66675">
            <a:solidFill>
              <a:srgbClr val="FFFF00"/>
            </a:solidFill>
          </a:ln>
        </p:spPr>
        <p:style>
          <a:lnRef idx="1">
            <a:schemeClr val="accent1"/>
          </a:lnRef>
          <a:fillRef idx="0">
            <a:schemeClr val="accent1"/>
          </a:fillRef>
          <a:effectRef idx="0">
            <a:schemeClr val="accent1"/>
          </a:effectRef>
          <a:fontRef idx="minor">
            <a:schemeClr val="tx1"/>
          </a:fontRef>
        </p:style>
      </p:cxnSp>
      <p:cxnSp>
        <p:nvCxnSpPr>
          <p:cNvPr id="68" name="Straight Connector 67">
            <a:extLst>
              <a:ext uri="{FF2B5EF4-FFF2-40B4-BE49-F238E27FC236}">
                <a16:creationId xmlns:a16="http://schemas.microsoft.com/office/drawing/2014/main" id="{AB25B00A-E41F-4247-A2A5-988F4CFA9C01}"/>
              </a:ext>
            </a:extLst>
          </p:cNvPr>
          <p:cNvCxnSpPr>
            <a:cxnSpLocks/>
          </p:cNvCxnSpPr>
          <p:nvPr/>
        </p:nvCxnSpPr>
        <p:spPr>
          <a:xfrm flipV="1">
            <a:off x="4711415" y="1589894"/>
            <a:ext cx="17547" cy="320058"/>
          </a:xfrm>
          <a:prstGeom prst="line">
            <a:avLst/>
          </a:prstGeom>
          <a:ln w="66675">
            <a:solidFill>
              <a:srgbClr val="FFFF00"/>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150036750"/>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9E94BC12-38D6-4F81-B956-BA11F780C33C}"/>
              </a:ext>
            </a:extLst>
          </p:cNvPr>
          <p:cNvSpPr txBox="1"/>
          <p:nvPr/>
        </p:nvSpPr>
        <p:spPr>
          <a:xfrm>
            <a:off x="1538067" y="296321"/>
            <a:ext cx="9115865" cy="5632311"/>
          </a:xfrm>
          <a:prstGeom prst="rect">
            <a:avLst/>
          </a:prstGeom>
          <a:noFill/>
        </p:spPr>
        <p:txBody>
          <a:bodyPr wrap="square" rtlCol="0">
            <a:spAutoFit/>
          </a:bodyPr>
          <a:lstStyle/>
          <a:p>
            <a:r>
              <a:rPr lang="en-US" dirty="0"/>
              <a:t>const int relay = 26;</a:t>
            </a:r>
          </a:p>
          <a:p>
            <a:r>
              <a:rPr lang="en-US" dirty="0"/>
              <a:t>void setup() </a:t>
            </a:r>
          </a:p>
          <a:p>
            <a:r>
              <a:rPr lang="en-US" dirty="0"/>
              <a:t>{</a:t>
            </a:r>
          </a:p>
          <a:p>
            <a:r>
              <a:rPr lang="en-US" dirty="0"/>
              <a:t>  </a:t>
            </a:r>
            <a:r>
              <a:rPr lang="en-US" dirty="0" err="1"/>
              <a:t>Serial.begin</a:t>
            </a:r>
            <a:r>
              <a:rPr lang="en-US" dirty="0"/>
              <a:t>(115200);</a:t>
            </a:r>
          </a:p>
          <a:p>
            <a:r>
              <a:rPr lang="en-US" dirty="0"/>
              <a:t>  </a:t>
            </a:r>
            <a:r>
              <a:rPr lang="en-US" dirty="0" err="1"/>
              <a:t>pinMode</a:t>
            </a:r>
            <a:r>
              <a:rPr lang="en-US" dirty="0"/>
              <a:t>(relay, OUTPUT);</a:t>
            </a:r>
          </a:p>
          <a:p>
            <a:r>
              <a:rPr lang="en-US" dirty="0"/>
              <a:t>}</a:t>
            </a:r>
          </a:p>
          <a:p>
            <a:r>
              <a:rPr lang="en-US" dirty="0"/>
              <a:t>void loop() </a:t>
            </a:r>
          </a:p>
          <a:p>
            <a:r>
              <a:rPr lang="en-US" dirty="0"/>
              <a:t>{</a:t>
            </a:r>
          </a:p>
          <a:p>
            <a:r>
              <a:rPr lang="en-US" dirty="0"/>
              <a:t>  // Normally Open configuration, send LOW signal to let current flow</a:t>
            </a:r>
          </a:p>
          <a:p>
            <a:r>
              <a:rPr lang="en-US" dirty="0"/>
              <a:t>  // (if you're </a:t>
            </a:r>
            <a:r>
              <a:rPr lang="en-US" dirty="0" err="1"/>
              <a:t>usong</a:t>
            </a:r>
            <a:r>
              <a:rPr lang="en-US" dirty="0"/>
              <a:t> Normally Closed configuration send HIGH signal)</a:t>
            </a:r>
          </a:p>
          <a:p>
            <a:r>
              <a:rPr lang="en-US" dirty="0"/>
              <a:t>  </a:t>
            </a:r>
            <a:r>
              <a:rPr lang="en-US" dirty="0" err="1"/>
              <a:t>digitalWrite</a:t>
            </a:r>
            <a:r>
              <a:rPr lang="en-US" dirty="0"/>
              <a:t>(relay, LOW);</a:t>
            </a:r>
          </a:p>
          <a:p>
            <a:r>
              <a:rPr lang="en-US" dirty="0"/>
              <a:t>  </a:t>
            </a:r>
            <a:r>
              <a:rPr lang="en-US" dirty="0" err="1"/>
              <a:t>Serial.println</a:t>
            </a:r>
            <a:r>
              <a:rPr lang="en-US" dirty="0"/>
              <a:t>("Current Flowing");</a:t>
            </a:r>
          </a:p>
          <a:p>
            <a:r>
              <a:rPr lang="en-US" dirty="0"/>
              <a:t>  delay(5000); </a:t>
            </a:r>
          </a:p>
          <a:p>
            <a:r>
              <a:rPr lang="en-US" dirty="0"/>
              <a:t>  </a:t>
            </a:r>
          </a:p>
          <a:p>
            <a:r>
              <a:rPr lang="en-US" dirty="0"/>
              <a:t>  // Normally Open configuration, send HIGH signal stop current flow</a:t>
            </a:r>
          </a:p>
          <a:p>
            <a:r>
              <a:rPr lang="en-US" dirty="0"/>
              <a:t>  // (if you're </a:t>
            </a:r>
            <a:r>
              <a:rPr lang="en-US" dirty="0" err="1"/>
              <a:t>usong</a:t>
            </a:r>
            <a:r>
              <a:rPr lang="en-US" dirty="0"/>
              <a:t> Normally Closed configuration send LOW signal)</a:t>
            </a:r>
          </a:p>
          <a:p>
            <a:r>
              <a:rPr lang="en-US" dirty="0"/>
              <a:t>  </a:t>
            </a:r>
            <a:r>
              <a:rPr lang="en-US" dirty="0" err="1"/>
              <a:t>digitalWrite</a:t>
            </a:r>
            <a:r>
              <a:rPr lang="en-US" dirty="0"/>
              <a:t>(relay, HIGH);</a:t>
            </a:r>
          </a:p>
          <a:p>
            <a:r>
              <a:rPr lang="en-US" dirty="0"/>
              <a:t>  </a:t>
            </a:r>
            <a:r>
              <a:rPr lang="en-US" dirty="0" err="1"/>
              <a:t>Serial.println</a:t>
            </a:r>
            <a:r>
              <a:rPr lang="en-US" dirty="0"/>
              <a:t>("Current not Flowing");</a:t>
            </a:r>
          </a:p>
          <a:p>
            <a:r>
              <a:rPr lang="en-US" dirty="0"/>
              <a:t>  delay(5000);</a:t>
            </a:r>
          </a:p>
          <a:p>
            <a:r>
              <a:rPr lang="en-US" dirty="0"/>
              <a:t>}</a:t>
            </a:r>
            <a:endParaRPr lang="en-IN" dirty="0"/>
          </a:p>
        </p:txBody>
      </p:sp>
    </p:spTree>
    <p:extLst>
      <p:ext uri="{BB962C8B-B14F-4D97-AF65-F5344CB8AC3E}">
        <p14:creationId xmlns:p14="http://schemas.microsoft.com/office/powerpoint/2010/main" val="1154920339"/>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36B3C84-3EB6-4B3A-91D7-2915C755E830}"/>
              </a:ext>
            </a:extLst>
          </p:cNvPr>
          <p:cNvSpPr>
            <a:spLocks noGrp="1"/>
          </p:cNvSpPr>
          <p:nvPr>
            <p:ph type="title"/>
          </p:nvPr>
        </p:nvSpPr>
        <p:spPr>
          <a:xfrm>
            <a:off x="487680" y="217890"/>
            <a:ext cx="10607949" cy="907525"/>
          </a:xfrm>
        </p:spPr>
        <p:txBody>
          <a:bodyPr/>
          <a:lstStyle/>
          <a:p>
            <a:pPr algn="ctr"/>
            <a:r>
              <a:rPr lang="en-US" dirty="0"/>
              <a:t>How do we make this as </a:t>
            </a:r>
            <a:r>
              <a:rPr lang="en-US" dirty="0" err="1"/>
              <a:t>Iot</a:t>
            </a:r>
            <a:r>
              <a:rPr lang="en-US" dirty="0"/>
              <a:t> Device in the field </a:t>
            </a:r>
            <a:endParaRPr lang="en-IN" dirty="0"/>
          </a:p>
        </p:txBody>
      </p:sp>
      <p:sp>
        <p:nvSpPr>
          <p:cNvPr id="3" name="TextBox 2">
            <a:extLst>
              <a:ext uri="{FF2B5EF4-FFF2-40B4-BE49-F238E27FC236}">
                <a16:creationId xmlns:a16="http://schemas.microsoft.com/office/drawing/2014/main" id="{0436E10D-BF17-4F7A-9070-269DA2322523}"/>
              </a:ext>
            </a:extLst>
          </p:cNvPr>
          <p:cNvSpPr txBox="1"/>
          <p:nvPr/>
        </p:nvSpPr>
        <p:spPr>
          <a:xfrm>
            <a:off x="5908430" y="6006905"/>
            <a:ext cx="5458265" cy="369332"/>
          </a:xfrm>
          <a:prstGeom prst="rect">
            <a:avLst/>
          </a:prstGeom>
          <a:noFill/>
        </p:spPr>
        <p:txBody>
          <a:bodyPr wrap="square" rtlCol="0">
            <a:spAutoFit/>
          </a:bodyPr>
          <a:lstStyle/>
          <a:p>
            <a:r>
              <a:rPr lang="en-US" dirty="0"/>
              <a:t>Let us see how to control the pump set through internet</a:t>
            </a:r>
            <a:endParaRPr lang="en-IN" dirty="0"/>
          </a:p>
        </p:txBody>
      </p:sp>
      <p:pic>
        <p:nvPicPr>
          <p:cNvPr id="11266" name="Picture 2" descr="Agricultural Pump - Agriculture Pump Latest Price, Manufacturers ...">
            <a:extLst>
              <a:ext uri="{FF2B5EF4-FFF2-40B4-BE49-F238E27FC236}">
                <a16:creationId xmlns:a16="http://schemas.microsoft.com/office/drawing/2014/main" id="{BFD687B2-2A02-4044-BCD0-BCC2B99FE9F7}"/>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460697" y="3810321"/>
            <a:ext cx="2278527" cy="2278527"/>
          </a:xfrm>
          <a:prstGeom prst="rect">
            <a:avLst/>
          </a:prstGeom>
          <a:noFill/>
          <a:extLst>
            <a:ext uri="{909E8E84-426E-40DD-AFC4-6F175D3DCCD1}">
              <a14:hiddenFill xmlns:a14="http://schemas.microsoft.com/office/drawing/2010/main">
                <a:solidFill>
                  <a:srgbClr val="FFFFFF"/>
                </a:solidFill>
              </a14:hiddenFill>
            </a:ext>
          </a:extLst>
        </p:spPr>
      </p:pic>
      <p:pic>
        <p:nvPicPr>
          <p:cNvPr id="8" name="Picture 7">
            <a:extLst>
              <a:ext uri="{FF2B5EF4-FFF2-40B4-BE49-F238E27FC236}">
                <a16:creationId xmlns:a16="http://schemas.microsoft.com/office/drawing/2014/main" id="{949C5790-7846-4D7C-B98E-B97093866D61}"/>
              </a:ext>
            </a:extLst>
          </p:cNvPr>
          <p:cNvPicPr>
            <a:picLocks noChangeAspect="1"/>
          </p:cNvPicPr>
          <p:nvPr/>
        </p:nvPicPr>
        <p:blipFill>
          <a:blip r:embed="rId3"/>
          <a:stretch>
            <a:fillRect/>
          </a:stretch>
        </p:blipFill>
        <p:spPr>
          <a:xfrm>
            <a:off x="9785545" y="1485900"/>
            <a:ext cx="1581150" cy="1943100"/>
          </a:xfrm>
          <a:prstGeom prst="rect">
            <a:avLst/>
          </a:prstGeom>
        </p:spPr>
      </p:pic>
      <p:sp>
        <p:nvSpPr>
          <p:cNvPr id="9" name="Thought Bubble: Cloud 8">
            <a:extLst>
              <a:ext uri="{FF2B5EF4-FFF2-40B4-BE49-F238E27FC236}">
                <a16:creationId xmlns:a16="http://schemas.microsoft.com/office/drawing/2014/main" id="{179E5A86-4FE3-45CB-BB16-7470FF87EFD0}"/>
              </a:ext>
            </a:extLst>
          </p:cNvPr>
          <p:cNvSpPr/>
          <p:nvPr/>
        </p:nvSpPr>
        <p:spPr>
          <a:xfrm>
            <a:off x="4994031" y="2250831"/>
            <a:ext cx="3601329" cy="2630658"/>
          </a:xfrm>
          <a:prstGeom prst="cloudCallou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4800" dirty="0">
                <a:solidFill>
                  <a:srgbClr val="FF0000"/>
                </a:solidFill>
              </a:rPr>
              <a:t>Internet</a:t>
            </a:r>
            <a:endParaRPr lang="en-IN" sz="4800" dirty="0">
              <a:solidFill>
                <a:srgbClr val="FF0000"/>
              </a:solidFill>
            </a:endParaRPr>
          </a:p>
        </p:txBody>
      </p:sp>
      <p:cxnSp>
        <p:nvCxnSpPr>
          <p:cNvPr id="11" name="Straight Arrow Connector 10">
            <a:extLst>
              <a:ext uri="{FF2B5EF4-FFF2-40B4-BE49-F238E27FC236}">
                <a16:creationId xmlns:a16="http://schemas.microsoft.com/office/drawing/2014/main" id="{9A106ED4-947E-4585-8EA4-BDD6CF1B5CCD}"/>
              </a:ext>
            </a:extLst>
          </p:cNvPr>
          <p:cNvCxnSpPr/>
          <p:nvPr/>
        </p:nvCxnSpPr>
        <p:spPr>
          <a:xfrm flipV="1">
            <a:off x="3739224" y="4121834"/>
            <a:ext cx="1254807" cy="534572"/>
          </a:xfrm>
          <a:prstGeom prst="straightConnector1">
            <a:avLst/>
          </a:prstGeom>
          <a:ln w="85725">
            <a:solidFill>
              <a:srgbClr val="00B0F0"/>
            </a:solidFill>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15" name="Straight Arrow Connector 14">
            <a:extLst>
              <a:ext uri="{FF2B5EF4-FFF2-40B4-BE49-F238E27FC236}">
                <a16:creationId xmlns:a16="http://schemas.microsoft.com/office/drawing/2014/main" id="{AEAACEF8-E22C-4448-BB9D-DF3FD401CD29}"/>
              </a:ext>
            </a:extLst>
          </p:cNvPr>
          <p:cNvCxnSpPr/>
          <p:nvPr/>
        </p:nvCxnSpPr>
        <p:spPr>
          <a:xfrm flipV="1">
            <a:off x="8442960" y="2107239"/>
            <a:ext cx="1254807" cy="534572"/>
          </a:xfrm>
          <a:prstGeom prst="straightConnector1">
            <a:avLst/>
          </a:prstGeom>
          <a:ln w="85725">
            <a:solidFill>
              <a:srgbClr val="00B0F0"/>
            </a:solidFill>
            <a:headEnd type="triangle"/>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729886895"/>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98B3FDB-2F95-41B4-8EF0-1A79B80E67D3}"/>
              </a:ext>
            </a:extLst>
          </p:cNvPr>
          <p:cNvSpPr>
            <a:spLocks noGrp="1"/>
          </p:cNvSpPr>
          <p:nvPr>
            <p:ph type="title"/>
          </p:nvPr>
        </p:nvSpPr>
        <p:spPr>
          <a:xfrm>
            <a:off x="1143001" y="360610"/>
            <a:ext cx="9905998" cy="659297"/>
          </a:xfrm>
        </p:spPr>
        <p:txBody>
          <a:bodyPr/>
          <a:lstStyle/>
          <a:p>
            <a:endParaRPr lang="en-IN" dirty="0"/>
          </a:p>
        </p:txBody>
      </p:sp>
    </p:spTree>
    <p:extLst>
      <p:ext uri="{BB962C8B-B14F-4D97-AF65-F5344CB8AC3E}">
        <p14:creationId xmlns:p14="http://schemas.microsoft.com/office/powerpoint/2010/main" val="3286596171"/>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t="-17000" b="-17000"/>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DFE094E-FA99-47C1-BE08-15D39E6ED601}"/>
              </a:ext>
            </a:extLst>
          </p:cNvPr>
          <p:cNvSpPr>
            <a:spLocks noGrp="1"/>
          </p:cNvSpPr>
          <p:nvPr>
            <p:ph type="title"/>
          </p:nvPr>
        </p:nvSpPr>
        <p:spPr>
          <a:xfrm>
            <a:off x="3421967" y="1181225"/>
            <a:ext cx="9905998" cy="1478570"/>
          </a:xfrm>
        </p:spPr>
        <p:txBody>
          <a:bodyPr/>
          <a:lstStyle/>
          <a:p>
            <a:r>
              <a:rPr lang="en-US" dirty="0">
                <a:solidFill>
                  <a:srgbClr val="FFFF00"/>
                </a:solidFill>
              </a:rPr>
              <a:t>Dilemma of a modern day farmer </a:t>
            </a:r>
            <a:endParaRPr lang="en-IN" dirty="0">
              <a:solidFill>
                <a:srgbClr val="FFFF00"/>
              </a:solidFill>
            </a:endParaRPr>
          </a:p>
        </p:txBody>
      </p:sp>
    </p:spTree>
    <p:extLst>
      <p:ext uri="{BB962C8B-B14F-4D97-AF65-F5344CB8AC3E}">
        <p14:creationId xmlns:p14="http://schemas.microsoft.com/office/powerpoint/2010/main" val="1212278259"/>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EB701D8-178A-42BA-920F-0B258846E61E}"/>
              </a:ext>
            </a:extLst>
          </p:cNvPr>
          <p:cNvSpPr>
            <a:spLocks noGrp="1"/>
          </p:cNvSpPr>
          <p:nvPr>
            <p:ph type="title"/>
          </p:nvPr>
        </p:nvSpPr>
        <p:spPr>
          <a:xfrm>
            <a:off x="1432960" y="2791874"/>
            <a:ext cx="9905998" cy="1478570"/>
          </a:xfrm>
        </p:spPr>
        <p:txBody>
          <a:bodyPr/>
          <a:lstStyle/>
          <a:p>
            <a:r>
              <a:rPr lang="en-IN" sz="3600" dirty="0"/>
              <a:t>Introduction to Security in IoT</a:t>
            </a:r>
            <a:br>
              <a:rPr lang="en-IN" sz="3600" dirty="0"/>
            </a:br>
            <a:endParaRPr lang="en-IN" dirty="0"/>
          </a:p>
        </p:txBody>
      </p:sp>
    </p:spTree>
    <p:extLst>
      <p:ext uri="{BB962C8B-B14F-4D97-AF65-F5344CB8AC3E}">
        <p14:creationId xmlns:p14="http://schemas.microsoft.com/office/powerpoint/2010/main" val="3152279978"/>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43C4181-D837-409C-B644-DA121465E118}"/>
              </a:ext>
            </a:extLst>
          </p:cNvPr>
          <p:cNvSpPr>
            <a:spLocks noGrp="1"/>
          </p:cNvSpPr>
          <p:nvPr>
            <p:ph type="title"/>
          </p:nvPr>
        </p:nvSpPr>
        <p:spPr>
          <a:xfrm>
            <a:off x="1143001" y="220952"/>
            <a:ext cx="9905998" cy="984995"/>
          </a:xfrm>
        </p:spPr>
        <p:txBody>
          <a:bodyPr/>
          <a:lstStyle/>
          <a:p>
            <a:r>
              <a:rPr lang="en-US" dirty="0"/>
              <a:t>Why do we need security in IOT</a:t>
            </a:r>
            <a:endParaRPr lang="en-IN" dirty="0"/>
          </a:p>
        </p:txBody>
      </p:sp>
    </p:spTree>
    <p:extLst>
      <p:ext uri="{BB962C8B-B14F-4D97-AF65-F5344CB8AC3E}">
        <p14:creationId xmlns:p14="http://schemas.microsoft.com/office/powerpoint/2010/main" val="2486832197"/>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Circuit">
  <a:themeElements>
    <a:clrScheme name="Circuit">
      <a:dk1>
        <a:sysClr val="windowText" lastClr="000000"/>
      </a:dk1>
      <a:lt1>
        <a:sysClr val="window" lastClr="FFFFFF"/>
      </a:lt1>
      <a:dk2>
        <a:srgbClr val="8D1E14"/>
      </a:dk2>
      <a:lt2>
        <a:srgbClr val="FF744E"/>
      </a:lt2>
      <a:accent1>
        <a:srgbClr val="E9B758"/>
      </a:accent1>
      <a:accent2>
        <a:srgbClr val="FE8943"/>
      </a:accent2>
      <a:accent3>
        <a:srgbClr val="AEA27C"/>
      </a:accent3>
      <a:accent4>
        <a:srgbClr val="90B46E"/>
      </a:accent4>
      <a:accent5>
        <a:srgbClr val="71AEC1"/>
      </a:accent5>
      <a:accent6>
        <a:srgbClr val="C98DE7"/>
      </a:accent6>
      <a:hlink>
        <a:srgbClr val="FF7A22"/>
      </a:hlink>
      <a:folHlink>
        <a:srgbClr val="FDCD86"/>
      </a:folHlink>
    </a:clrScheme>
    <a:fontScheme name="Circuit">
      <a:majorFont>
        <a:latin typeface="Tw Cen MT" panose="020B0602020104020603"/>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Tw Cen MT" panose="020B0602020104020603"/>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Circuit">
      <a:fillStyleLst>
        <a:solidFill>
          <a:schemeClr val="phClr"/>
        </a:solidFill>
        <a:gradFill rotWithShape="1">
          <a:gsLst>
            <a:gs pos="0">
              <a:schemeClr val="phClr">
                <a:tint val="58000"/>
                <a:satMod val="108000"/>
                <a:lumMod val="110000"/>
              </a:schemeClr>
            </a:gs>
            <a:gs pos="100000">
              <a:schemeClr val="phClr">
                <a:tint val="81000"/>
                <a:satMod val="109000"/>
                <a:lumMod val="105000"/>
              </a:schemeClr>
            </a:gs>
          </a:gsLst>
          <a:lin ang="5040000" scaled="0"/>
        </a:gradFill>
        <a:gradFill rotWithShape="1">
          <a:gsLst>
            <a:gs pos="0">
              <a:schemeClr val="phClr">
                <a:tint val="94000"/>
                <a:satMod val="105000"/>
                <a:lumMod val="102000"/>
              </a:schemeClr>
            </a:gs>
            <a:gs pos="100000">
              <a:schemeClr val="phClr">
                <a:shade val="74000"/>
                <a:satMod val="128000"/>
                <a:lumMod val="100000"/>
              </a:schemeClr>
            </a:gs>
          </a:gsLst>
          <a:lin ang="5400000" scaled="0"/>
        </a:gradFill>
      </a:fillStyleLst>
      <a:lnStyleLst>
        <a:ln w="9525" cap="flat" cmpd="sng" algn="ctr">
          <a:solidFill>
            <a:schemeClr val="phClr"/>
          </a:solidFill>
          <a:prstDash val="solid"/>
        </a:ln>
        <a:ln w="15875" cap="flat" cmpd="sng" algn="ctr">
          <a:solidFill>
            <a:schemeClr val="phClr"/>
          </a:solidFill>
          <a:prstDash val="solid"/>
        </a:ln>
        <a:ln w="22225" cap="flat" cmpd="sng" algn="ctr">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gradFill rotWithShape="1">
          <a:gsLst>
            <a:gs pos="0">
              <a:schemeClr val="phClr">
                <a:tint val="98000"/>
                <a:hueMod val="88000"/>
                <a:satMod val="148000"/>
                <a:lumMod val="150000"/>
              </a:schemeClr>
            </a:gs>
            <a:gs pos="100000">
              <a:schemeClr val="phClr">
                <a:shade val="92000"/>
                <a:hueMod val="104000"/>
                <a:satMod val="140000"/>
                <a:lumMod val="68000"/>
              </a:schemeClr>
            </a:gs>
          </a:gsLst>
          <a:lin ang="5040000" scaled="0"/>
        </a:gradFill>
        <a:blipFill>
          <a:blip xmlns:r="http://schemas.openxmlformats.org/officeDocument/2006/relationships" r:embed="rId1">
            <a:duotone>
              <a:schemeClr val="phClr">
                <a:shade val="88000"/>
                <a:hueMod val="106000"/>
                <a:satMod val="140000"/>
                <a:lumMod val="54000"/>
              </a:schemeClr>
              <a:schemeClr val="phClr">
                <a:tint val="98000"/>
                <a:hueMod val="92000"/>
                <a:satMod val="150000"/>
                <a:lumMod val="150000"/>
              </a:schemeClr>
            </a:duotone>
          </a:blip>
          <a:stretch/>
        </a:blipFill>
      </a:bgFillStyleLst>
    </a:fmtScheme>
  </a:themeElements>
  <a:objectDefaults/>
  <a:extraClrSchemeLst/>
  <a:extLst>
    <a:ext uri="{05A4C25C-085E-4340-85A3-A5531E510DB2}">
      <thm15:themeFamily xmlns:thm15="http://schemas.microsoft.com/office/thememl/2012/main" name="Circuit" id="{0AC2F7E7-15F5-431C-B2A2-456FE929F56C}" vid="{14971C58-AB76-4A2A-B231-5F8CA03CF491}"/>
    </a:ext>
  </a:extLst>
</a:theme>
</file>

<file path=docProps/app.xml><?xml version="1.0" encoding="utf-8"?>
<Properties xmlns="http://schemas.openxmlformats.org/officeDocument/2006/extended-properties" xmlns:vt="http://schemas.openxmlformats.org/officeDocument/2006/docPropsVTypes">
  <Template>TM04033919[[fn=Circuit]]</Template>
  <TotalTime>1915</TotalTime>
  <Words>1258</Words>
  <Application>Microsoft Office PowerPoint</Application>
  <PresentationFormat>Widescreen</PresentationFormat>
  <Paragraphs>174</Paragraphs>
  <Slides>27</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27</vt:i4>
      </vt:variant>
    </vt:vector>
  </HeadingPairs>
  <TitlesOfParts>
    <vt:vector size="31" baseType="lpstr">
      <vt:lpstr>Arial</vt:lpstr>
      <vt:lpstr>Bookman Old Style</vt:lpstr>
      <vt:lpstr>Tw Cen MT</vt:lpstr>
      <vt:lpstr>Circuit</vt:lpstr>
      <vt:lpstr>Introduction to Sensors &amp; Actuators  for IoT </vt:lpstr>
      <vt:lpstr>What are sensors </vt:lpstr>
      <vt:lpstr>what are sensor for IoT</vt:lpstr>
      <vt:lpstr>Let us take the design of simple temperature sensor take the discussion forward</vt:lpstr>
      <vt:lpstr>Background of sensors</vt:lpstr>
      <vt:lpstr>PowerPoint Presentation</vt:lpstr>
      <vt:lpstr>Can we build a sensor of our own ?</vt:lpstr>
      <vt:lpstr>Another way to measure Temperature</vt:lpstr>
      <vt:lpstr>Comparison on RTD with Thermocouple</vt:lpstr>
      <vt:lpstr>To read more …</vt:lpstr>
      <vt:lpstr>Diode as a temperature sensor</vt:lpstr>
      <vt:lpstr>DHT-11 Temperature sensor</vt:lpstr>
      <vt:lpstr>PowerPoint Presentation</vt:lpstr>
      <vt:lpstr>PowerPoint Presentation</vt:lpstr>
      <vt:lpstr>PowerPoint Presentation</vt:lpstr>
      <vt:lpstr>Infrared Thermometer</vt:lpstr>
      <vt:lpstr>What are sensor for IOT</vt:lpstr>
      <vt:lpstr>What cannot be used with IOT</vt:lpstr>
      <vt:lpstr>Nature of sensors</vt:lpstr>
      <vt:lpstr>What are Actuators</vt:lpstr>
      <vt:lpstr>How does a very simple actuator works</vt:lpstr>
      <vt:lpstr>PowerPoint Presentation</vt:lpstr>
      <vt:lpstr>How do we make this as Iot Device in the field </vt:lpstr>
      <vt:lpstr>PowerPoint Presentation</vt:lpstr>
      <vt:lpstr>Dilemma of a modern day farmer </vt:lpstr>
      <vt:lpstr>Introduction to Security in IoT </vt:lpstr>
      <vt:lpstr>Why do we need security in IOT</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IOT fundamentals</dc:title>
  <dc:creator>Girish Kumar</dc:creator>
  <cp:lastModifiedBy>Girish Kumar</cp:lastModifiedBy>
  <cp:revision>61</cp:revision>
  <dcterms:created xsi:type="dcterms:W3CDTF">2020-07-17T04:46:15Z</dcterms:created>
  <dcterms:modified xsi:type="dcterms:W3CDTF">2020-07-21T10:06:24Z</dcterms:modified>
</cp:coreProperties>
</file>