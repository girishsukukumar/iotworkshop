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7" r:id="rId2"/>
    <p:sldId id="264" r:id="rId3"/>
    <p:sldId id="265" r:id="rId4"/>
    <p:sldId id="288" r:id="rId5"/>
    <p:sldId id="291" r:id="rId6"/>
    <p:sldId id="292" r:id="rId7"/>
    <p:sldId id="289" r:id="rId8"/>
    <p:sldId id="290" r:id="rId9"/>
    <p:sldId id="29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094E-FA99-47C1-BE08-15D39E6E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967" y="1181225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Dilemma of a modern day farmer 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278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FF470-F81A-4E2E-ACDD-6758A87A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6768"/>
            <a:ext cx="9905998" cy="812717"/>
          </a:xfrm>
          <a:ln>
            <a:solidFill>
              <a:srgbClr val="FF0000"/>
            </a:solidFill>
          </a:ln>
        </p:spPr>
        <p:txBody>
          <a:bodyPr/>
          <a:lstStyle/>
          <a:p>
            <a:r>
              <a:rPr lang="en-US" dirty="0"/>
              <a:t>Modern Day Farmer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8BE6FF-EC88-4F0F-B12D-C8262B8213F4}"/>
              </a:ext>
            </a:extLst>
          </p:cNvPr>
          <p:cNvSpPr txBox="1"/>
          <p:nvPr/>
        </p:nvSpPr>
        <p:spPr>
          <a:xfrm>
            <a:off x="875459" y="1088815"/>
            <a:ext cx="10721008" cy="36933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Framers are  getting into entrepreneur   mode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Farming is just another source of Income.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They have to manage multiple farms at different locations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Different business at the same time along with farms.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Human Labor is no more an option.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Need to track the changes in farms closely cant afford a mistake that can result in loss of crops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Changing weather patterns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Non availability of water suitable for farming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Response of crops to climate changes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Response of crops  to fertilizer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Handling pests and wild animals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Physical presence in the farms a challenge.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Security in farms spreading over large areas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82967-6A88-45C0-BC18-25B3996F0236}"/>
              </a:ext>
            </a:extLst>
          </p:cNvPr>
          <p:cNvSpPr txBox="1"/>
          <p:nvPr/>
        </p:nvSpPr>
        <p:spPr>
          <a:xfrm>
            <a:off x="1316086" y="5065185"/>
            <a:ext cx="9732913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Need to go with more and more automation for everything (starting with ploughing, sowing to harvesting)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4181-D837-409C-B644-DA121465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542" y="478301"/>
            <a:ext cx="9905998" cy="984995"/>
          </a:xfrm>
        </p:spPr>
        <p:txBody>
          <a:bodyPr>
            <a:normAutofit fontScale="90000"/>
          </a:bodyPr>
          <a:lstStyle/>
          <a:p>
            <a:r>
              <a:rPr lang="en-US" dirty="0"/>
              <a:t>Pumping water is a basic need and our solution will be not of much help to farmer. </a:t>
            </a:r>
            <a:endParaRPr lang="en-IN" dirty="0"/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FC8B51ED-4FC4-4F7A-87E3-C59E251A2DF4}"/>
              </a:ext>
            </a:extLst>
          </p:cNvPr>
          <p:cNvSpPr/>
          <p:nvPr/>
        </p:nvSpPr>
        <p:spPr>
          <a:xfrm>
            <a:off x="5984628" y="3094893"/>
            <a:ext cx="5536811" cy="3284806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Can we list the reason why the existing solution is not feasible for framer </a:t>
            </a:r>
            <a:endParaRPr lang="en-IN" sz="2800" dirty="0"/>
          </a:p>
        </p:txBody>
      </p:sp>
      <p:pic>
        <p:nvPicPr>
          <p:cNvPr id="1026" name="Picture 2" descr="Key to productivity: take more breaks | HRD America">
            <a:extLst>
              <a:ext uri="{FF2B5EF4-FFF2-40B4-BE49-F238E27FC236}">
                <a16:creationId xmlns:a16="http://schemas.microsoft.com/office/drawing/2014/main" id="{0A3CF082-F304-4DAC-B4A3-55949415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542" y="1860746"/>
            <a:ext cx="285750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5D10-6453-4482-BD7F-DA8CE68C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05977"/>
            <a:ext cx="9905998" cy="816387"/>
          </a:xfrm>
        </p:spPr>
        <p:txBody>
          <a:bodyPr>
            <a:normAutofit/>
          </a:bodyPr>
          <a:lstStyle/>
          <a:p>
            <a:r>
              <a:rPr lang="en-US" dirty="0"/>
              <a:t>Basic problem with remote controlled pump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55F35-AB1E-4B0F-9762-EDC8A5305A38}"/>
              </a:ext>
            </a:extLst>
          </p:cNvPr>
          <p:cNvSpPr txBox="1"/>
          <p:nvPr/>
        </p:nvSpPr>
        <p:spPr>
          <a:xfrm>
            <a:off x="1143001" y="1510410"/>
            <a:ext cx="72554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Is the pump actually pumping water</a:t>
            </a:r>
          </a:p>
          <a:p>
            <a:pPr marL="342900" indent="-342900">
              <a:buAutoNum type="arabicPeriod"/>
            </a:pPr>
            <a:r>
              <a:rPr lang="en-US" dirty="0"/>
              <a:t> Is the water reaching the farms</a:t>
            </a:r>
          </a:p>
          <a:p>
            <a:pPr marL="342900" indent="-342900">
              <a:buAutoNum type="arabicPeriod"/>
            </a:pPr>
            <a:r>
              <a:rPr lang="en-US" dirty="0"/>
              <a:t> Is the pump pumping enough water to farms</a:t>
            </a:r>
          </a:p>
          <a:p>
            <a:pPr marL="342900" indent="-342900">
              <a:buAutoNum type="arabicPeriod"/>
            </a:pPr>
            <a:r>
              <a:rPr lang="en-US" dirty="0"/>
              <a:t> What is the temperature of the pump (is it getting heated up)</a:t>
            </a:r>
          </a:p>
          <a:p>
            <a:pPr marL="342900" indent="-342900">
              <a:buAutoNum type="arabicPeriod"/>
            </a:pPr>
            <a:r>
              <a:rPr lang="en-US" dirty="0"/>
              <a:t> Is the pump working normally without any mechanical issues</a:t>
            </a:r>
          </a:p>
          <a:p>
            <a:pPr marL="342900" indent="-342900">
              <a:buAutoNum type="arabicPeriod"/>
            </a:pPr>
            <a:r>
              <a:rPr lang="en-US" dirty="0"/>
              <a:t> What is the power consumed by pump</a:t>
            </a:r>
          </a:p>
          <a:p>
            <a:pPr marL="342900" indent="-342900">
              <a:buAutoNum type="arabicPeriod"/>
            </a:pPr>
            <a:r>
              <a:rPr lang="en-US" dirty="0"/>
              <a:t> Is  water in the storage/well enough to start the pump</a:t>
            </a:r>
          </a:p>
          <a:p>
            <a:pPr marL="342900" indent="-342900">
              <a:buAutoNum type="arabicPeriod"/>
            </a:pPr>
            <a:r>
              <a:rPr lang="en-US" dirty="0"/>
              <a:t> Should we pump water periodically ? Or only when it is needed ?</a:t>
            </a:r>
          </a:p>
          <a:p>
            <a:pPr marL="342900" indent="-342900">
              <a:buAutoNum type="arabicPeriod"/>
            </a:pPr>
            <a:r>
              <a:rPr lang="en-US" dirty="0"/>
              <a:t>What is the weather in the farm. (Temperature, Humidity and wind)</a:t>
            </a:r>
          </a:p>
          <a:p>
            <a:pPr marL="342900" indent="-342900">
              <a:buAutoNum type="arabicPeriod"/>
            </a:pPr>
            <a:r>
              <a:rPr lang="en-US" dirty="0"/>
              <a:t>Is there a potential chance of rain any time soon ?</a:t>
            </a:r>
          </a:p>
          <a:p>
            <a:pPr marL="342900" indent="-342900">
              <a:buAutoNum type="arabicPeriod"/>
            </a:pPr>
            <a:r>
              <a:rPr lang="en-US" dirty="0"/>
              <a:t> How is the soil, does it have enough water content or it is getting dry ?</a:t>
            </a:r>
          </a:p>
          <a:p>
            <a:pPr marL="342900" indent="-342900">
              <a:buAutoNum type="arabicPeriod"/>
            </a:pPr>
            <a:r>
              <a:rPr lang="en-US" dirty="0"/>
              <a:t> How is the power situation in farm, are there are any power failures</a:t>
            </a:r>
          </a:p>
          <a:p>
            <a:pPr marL="342900" indent="-342900">
              <a:buAutoNum type="arabicPeriod"/>
            </a:pPr>
            <a:r>
              <a:rPr lang="en-US" dirty="0"/>
              <a:t> Are there any intruders (wild animals pest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/>
              <a:t> Pollution in the farms</a:t>
            </a:r>
          </a:p>
          <a:p>
            <a:pPr marL="342900" indent="-342900">
              <a:buAutoNum type="arabicPeriod"/>
            </a:pPr>
            <a:r>
              <a:rPr lang="en-US" dirty="0"/>
              <a:t> ……………………</a:t>
            </a:r>
          </a:p>
          <a:p>
            <a:pPr marL="342900" indent="-342900">
              <a:buAutoNum type="arabicPeriod"/>
            </a:pPr>
            <a:r>
              <a:rPr lang="en-US" dirty="0"/>
              <a:t>……………………………</a:t>
            </a:r>
          </a:p>
          <a:p>
            <a:endParaRPr lang="en-IN" dirty="0"/>
          </a:p>
        </p:txBody>
      </p:sp>
      <p:pic>
        <p:nvPicPr>
          <p:cNvPr id="2050" name="Picture 2" descr="Outlook Photo Gallery : A farmer looks in the sky in hope of rain ...">
            <a:extLst>
              <a:ext uri="{FF2B5EF4-FFF2-40B4-BE49-F238E27FC236}">
                <a16:creationId xmlns:a16="http://schemas.microsoft.com/office/drawing/2014/main" id="{78C3E94F-D284-40CE-89E3-9F80488B3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570" y="1563418"/>
            <a:ext cx="2628900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08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A970-2FA7-4E60-AE65-BA1E3E96A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654476" cy="1758922"/>
          </a:xfrm>
        </p:spPr>
        <p:txBody>
          <a:bodyPr/>
          <a:lstStyle/>
          <a:p>
            <a:r>
              <a:rPr lang="en-US" dirty="0"/>
              <a:t>IT cannot be  a DIY Solution or a prototype </a:t>
            </a:r>
            <a:endParaRPr lang="en-IN" dirty="0"/>
          </a:p>
        </p:txBody>
      </p:sp>
      <p:pic>
        <p:nvPicPr>
          <p:cNvPr id="4098" name="Picture 2" descr="Crystal radios">
            <a:extLst>
              <a:ext uri="{FF2B5EF4-FFF2-40B4-BE49-F238E27FC236}">
                <a16:creationId xmlns:a16="http://schemas.microsoft.com/office/drawing/2014/main" id="{8890DB76-0632-4ECC-B7F4-9A7A08FE0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35" y="368836"/>
            <a:ext cx="3724275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77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8 Ways to Become the Most Reliable Person in the Room | Inc.com">
            <a:extLst>
              <a:ext uri="{FF2B5EF4-FFF2-40B4-BE49-F238E27FC236}">
                <a16:creationId xmlns:a16="http://schemas.microsoft.com/office/drawing/2014/main" id="{B36DD3C4-C780-47D9-A7A2-F488DD2D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75" y="3643532"/>
            <a:ext cx="5387925" cy="30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4 Keys of Personal Reliability">
            <a:extLst>
              <a:ext uri="{FF2B5EF4-FFF2-40B4-BE49-F238E27FC236}">
                <a16:creationId xmlns:a16="http://schemas.microsoft.com/office/drawing/2014/main" id="{7B31F9C5-6A29-48E0-A98A-E691E76B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057" y="142876"/>
            <a:ext cx="4938164" cy="328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C23467A-3F12-4A67-B01A-A14171C4FF5B}"/>
              </a:ext>
            </a:extLst>
          </p:cNvPr>
          <p:cNvSpPr txBox="1">
            <a:spLocks/>
          </p:cNvSpPr>
          <p:nvPr/>
        </p:nvSpPr>
        <p:spPr>
          <a:xfrm>
            <a:off x="1441524" y="429715"/>
            <a:ext cx="4654476" cy="17589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 has to be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17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3BB761-3E61-468B-943B-D4CBE305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93435"/>
            <a:ext cx="9905998" cy="760116"/>
          </a:xfrm>
        </p:spPr>
        <p:txBody>
          <a:bodyPr/>
          <a:lstStyle/>
          <a:p>
            <a:r>
              <a:rPr lang="en-US" dirty="0"/>
              <a:t>Is the pump pumping enough water  ?.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5D8E83-5A9C-40B0-939E-7544A0F04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1445457"/>
            <a:ext cx="2293032" cy="2293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292C62-271B-4E20-8763-83848BA61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559" y="1739779"/>
            <a:ext cx="2121684" cy="1741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527FB9-EB72-41C0-A212-E523BC557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17" y="1093764"/>
            <a:ext cx="5093958" cy="31933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3EB2AA-C6FD-45EC-A0B7-F0E63A1E42C6}"/>
              </a:ext>
            </a:extLst>
          </p:cNvPr>
          <p:cNvSpPr txBox="1"/>
          <p:nvPr/>
        </p:nvSpPr>
        <p:spPr>
          <a:xfrm>
            <a:off x="1364318" y="4965896"/>
            <a:ext cx="9572557" cy="1200329"/>
          </a:xfrm>
          <a:prstGeom prst="rect">
            <a:avLst/>
          </a:prstGeom>
          <a:noFill/>
          <a:ln w="31750">
            <a:solidFill>
              <a:srgbClr val="FFFF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Each time when the magnet a passes near the Hall effect sensor, the sensor produces  an electric pulse.</a:t>
            </a:r>
          </a:p>
          <a:p>
            <a:r>
              <a:rPr lang="en-US" dirty="0"/>
              <a:t>No of pulses is proportional to the volume of water/fluid flowing through the pipe.</a:t>
            </a:r>
          </a:p>
          <a:p>
            <a:r>
              <a:rPr lang="en-US" dirty="0"/>
              <a:t>We cut the pipe and insert it into the pipe which carries water..</a:t>
            </a:r>
          </a:p>
          <a:p>
            <a:r>
              <a:rPr lang="en-US" dirty="0"/>
              <a:t>All we need to do is just count the no of pulses per minute which give is the 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7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81A1-D1C7-450F-9881-D8636841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6146"/>
            <a:ext cx="9905998" cy="92333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How do we interface this  Sensor with ESP32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33802-FD29-4E14-9CA1-CD2F3EC833E4}"/>
              </a:ext>
            </a:extLst>
          </p:cNvPr>
          <p:cNvSpPr txBox="1"/>
          <p:nvPr/>
        </p:nvSpPr>
        <p:spPr>
          <a:xfrm>
            <a:off x="1109538" y="2386823"/>
            <a:ext cx="10533184" cy="2862322"/>
          </a:xfrm>
          <a:prstGeom prst="rect">
            <a:avLst/>
          </a:prstGeom>
          <a:noFill/>
          <a:ln w="825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atin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</a:rPr>
              <a:t>const int   </a:t>
            </a:r>
            <a:r>
              <a:rPr lang="en-US" sz="1800" dirty="0" err="1">
                <a:latin typeface="Courier New" panose="02070309020205020404" pitchFamily="49" charset="0"/>
              </a:rPr>
              <a:t>inputPIN</a:t>
            </a:r>
            <a:r>
              <a:rPr lang="en-US" sz="1800" dirty="0">
                <a:latin typeface="Courier New" panose="02070309020205020404" pitchFamily="49" charset="0"/>
              </a:rPr>
              <a:t>  = 4 ; //GPIO 4</a:t>
            </a:r>
          </a:p>
          <a:p>
            <a:endParaRPr lang="en-US" sz="1800" dirty="0">
              <a:latin typeface="Courier New" panose="02070309020205020404" pitchFamily="49" charset="0"/>
            </a:endParaRPr>
          </a:p>
          <a:p>
            <a:r>
              <a:rPr lang="en-US" sz="1800" dirty="0">
                <a:latin typeface="Courier New" panose="02070309020205020404" pitchFamily="49" charset="0"/>
              </a:rPr>
              <a:t>void ICACHE_RAM_ATTR </a:t>
            </a:r>
            <a:r>
              <a:rPr lang="en-US" sz="1800" dirty="0" err="1">
                <a:latin typeface="Courier New" panose="02070309020205020404" pitchFamily="49" charset="0"/>
              </a:rPr>
              <a:t>pin_ISR</a:t>
            </a:r>
            <a:r>
              <a:rPr lang="en-US" sz="1800" dirty="0">
                <a:latin typeface="Courier New" panose="02070309020205020404" pitchFamily="49" charset="0"/>
              </a:rPr>
              <a:t>()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{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  ticks++;</a:t>
            </a:r>
          </a:p>
          <a:p>
            <a:r>
              <a:rPr lang="en-US" sz="1800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  <a:p>
            <a:r>
              <a:rPr lang="en-US" sz="1800" dirty="0" err="1">
                <a:latin typeface="Courier New" panose="02070309020205020404" pitchFamily="49" charset="0"/>
              </a:rPr>
              <a:t>attachInterrupt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</a:rPr>
              <a:t>digitalPinToInterrupt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</a:rPr>
              <a:t>inputPIN</a:t>
            </a:r>
            <a:r>
              <a:rPr lang="en-US" sz="1800" dirty="0">
                <a:latin typeface="Courier New" panose="02070309020205020404" pitchFamily="49" charset="0"/>
              </a:rPr>
              <a:t>), </a:t>
            </a:r>
            <a:r>
              <a:rPr lang="en-US" sz="1800" dirty="0" err="1">
                <a:latin typeface="Courier New" panose="02070309020205020404" pitchFamily="49" charset="0"/>
              </a:rPr>
              <a:t>pin_ISR</a:t>
            </a:r>
            <a:r>
              <a:rPr lang="en-US" sz="1800" dirty="0">
                <a:latin typeface="Courier New" panose="02070309020205020404" pitchFamily="49" charset="0"/>
              </a:rPr>
              <a:t>, RISING);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D9611-C928-446D-946D-8F79830F6633}"/>
              </a:ext>
            </a:extLst>
          </p:cNvPr>
          <p:cNvSpPr txBox="1"/>
          <p:nvPr/>
        </p:nvSpPr>
        <p:spPr>
          <a:xfrm>
            <a:off x="1143001" y="1264429"/>
            <a:ext cx="10499721" cy="923330"/>
          </a:xfrm>
          <a:prstGeom prst="rect">
            <a:avLst/>
          </a:prstGeom>
          <a:noFill/>
          <a:ln w="508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the previous code we discussed, all we need to do is :  Just add the following routine connect the sensors </a:t>
            </a:r>
          </a:p>
          <a:p>
            <a:r>
              <a:rPr lang="en-US" dirty="0"/>
              <a:t>data pin to GPIO 4 and power up the sensor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F8A7B-2B5E-4311-90E8-403A6EA0195E}"/>
              </a:ext>
            </a:extLst>
          </p:cNvPr>
          <p:cNvSpPr txBox="1"/>
          <p:nvPr/>
        </p:nvSpPr>
        <p:spPr>
          <a:xfrm>
            <a:off x="1109538" y="5448209"/>
            <a:ext cx="10533184" cy="923330"/>
          </a:xfrm>
          <a:prstGeom prst="rect">
            <a:avLst/>
          </a:prstGeom>
          <a:noFill/>
          <a:ln w="7302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All we need to do is periodically take the value in global variable ticks and calculate the volume through put and reset the variable ticks.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06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79660-A4FE-4E59-A302-140CFACE586A}"/>
              </a:ext>
            </a:extLst>
          </p:cNvPr>
          <p:cNvSpPr/>
          <p:nvPr/>
        </p:nvSpPr>
        <p:spPr>
          <a:xfrm>
            <a:off x="2577380" y="2967335"/>
            <a:ext cx="70372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Let us Review the Code </a:t>
            </a:r>
          </a:p>
        </p:txBody>
      </p:sp>
    </p:spTree>
    <p:extLst>
      <p:ext uri="{BB962C8B-B14F-4D97-AF65-F5344CB8AC3E}">
        <p14:creationId xmlns:p14="http://schemas.microsoft.com/office/powerpoint/2010/main" val="3879529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2434</TotalTime>
  <Words>525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Courier New</vt:lpstr>
      <vt:lpstr>Tw Cen MT</vt:lpstr>
      <vt:lpstr>Wingdings</vt:lpstr>
      <vt:lpstr>Circuit</vt:lpstr>
      <vt:lpstr>Dilemma of a modern day farmer </vt:lpstr>
      <vt:lpstr>Modern Day Farmer</vt:lpstr>
      <vt:lpstr>Pumping water is a basic need and our solution will be not of much help to farmer. </vt:lpstr>
      <vt:lpstr>Basic problem with remote controlled pump</vt:lpstr>
      <vt:lpstr>IT cannot be  a DIY Solution or a prototype </vt:lpstr>
      <vt:lpstr>PowerPoint Presentation</vt:lpstr>
      <vt:lpstr>Is the pump pumping enough water  ?.</vt:lpstr>
      <vt:lpstr>How do we interface this  Sensor with ESP32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77</cp:revision>
  <dcterms:created xsi:type="dcterms:W3CDTF">2020-07-17T04:46:15Z</dcterms:created>
  <dcterms:modified xsi:type="dcterms:W3CDTF">2020-07-22T17:48:04Z</dcterms:modified>
</cp:coreProperties>
</file>