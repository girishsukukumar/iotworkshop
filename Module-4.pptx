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87" r:id="rId2"/>
    <p:sldId id="301" r:id="rId3"/>
    <p:sldId id="264" r:id="rId4"/>
    <p:sldId id="265" r:id="rId5"/>
    <p:sldId id="288" r:id="rId6"/>
    <p:sldId id="291" r:id="rId7"/>
    <p:sldId id="292" r:id="rId8"/>
    <p:sldId id="289" r:id="rId9"/>
    <p:sldId id="290" r:id="rId10"/>
    <p:sldId id="293" r:id="rId11"/>
    <p:sldId id="294" r:id="rId12"/>
    <p:sldId id="295" r:id="rId13"/>
    <p:sldId id="296" r:id="rId14"/>
    <p:sldId id="297" r:id="rId15"/>
    <p:sldId id="300" r:id="rId16"/>
    <p:sldId id="302" r:id="rId17"/>
    <p:sldId id="303" r:id="rId18"/>
    <p:sldId id="299" r:id="rId19"/>
    <p:sldId id="298" r:id="rId20"/>
    <p:sldId id="30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7/23/2020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E094E-FA99-47C1-BE08-15D39E6E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1967" y="1181225"/>
            <a:ext cx="9905998" cy="1478570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Dilemma of a modern day farmer </a:t>
            </a:r>
            <a:endParaRPr lang="en-IN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2278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A2FE-A983-484F-8042-0FBC77348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1656" y="821635"/>
            <a:ext cx="6253301" cy="2779644"/>
          </a:xfrm>
        </p:spPr>
        <p:txBody>
          <a:bodyPr>
            <a:normAutofit fontScale="90000"/>
          </a:bodyPr>
          <a:lstStyle/>
          <a:p>
            <a:pPr algn="just"/>
            <a:r>
              <a:rPr lang="en-US" dirty="0"/>
              <a:t> Knowledgeable  and talented people  who understand the science of agriculture is getting into farming</a:t>
            </a:r>
            <a:br>
              <a:rPr lang="en-US" dirty="0"/>
            </a:br>
            <a:endParaRPr lang="en-IN" dirty="0"/>
          </a:p>
        </p:txBody>
      </p:sp>
      <p:pic>
        <p:nvPicPr>
          <p:cNvPr id="5122" name="Picture 2" descr="Inside Palla, Delhi's strawberry village - delhi news - Hindustan ...">
            <a:extLst>
              <a:ext uri="{FF2B5EF4-FFF2-40B4-BE49-F238E27FC236}">
                <a16:creationId xmlns:a16="http://schemas.microsoft.com/office/drawing/2014/main" id="{7BC790DD-4348-41F7-8E3A-89F365C1BD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7538" y="3601279"/>
            <a:ext cx="4179818" cy="2793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38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0FF470-F81A-4E2E-ACDD-6758A87A0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16768"/>
            <a:ext cx="9905998" cy="812717"/>
          </a:xfrm>
          <a:ln>
            <a:solidFill>
              <a:srgbClr val="FF0000"/>
            </a:solidFill>
          </a:ln>
        </p:spPr>
        <p:txBody>
          <a:bodyPr/>
          <a:lstStyle/>
          <a:p>
            <a:r>
              <a:rPr lang="en-US" dirty="0"/>
              <a:t>Modern Day Farmer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8BE6FF-EC88-4F0F-B12D-C8262B8213F4}"/>
              </a:ext>
            </a:extLst>
          </p:cNvPr>
          <p:cNvSpPr txBox="1"/>
          <p:nvPr/>
        </p:nvSpPr>
        <p:spPr>
          <a:xfrm>
            <a:off x="875459" y="1088815"/>
            <a:ext cx="10721008" cy="36933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Entrepreneurs are getting into Farming.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Farming is just another source of Income for them.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They have to manage multiple farms at different locations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Different business at the same time along with farms.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Human Labor is no more an option.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Need to track the changes in farms closely cant afford a mistake that can result in loss of crops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Changing weather patterns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Non availability of water suitable for farming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Response of crops to climate changes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Response of crops  to fertilizer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Handling pests and wild animals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Physical presence in the farms a challenge.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Security in farms spreading over large areas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B82967-6A88-45C0-BC18-25B3996F0236}"/>
              </a:ext>
            </a:extLst>
          </p:cNvPr>
          <p:cNvSpPr txBox="1"/>
          <p:nvPr/>
        </p:nvSpPr>
        <p:spPr>
          <a:xfrm>
            <a:off x="1316086" y="5065185"/>
            <a:ext cx="9732913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Need to go with more and more automation for everything (starting with ploughing, sowing to harvesting)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2279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4181-D837-409C-B644-DA121465E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542" y="478301"/>
            <a:ext cx="9905998" cy="984995"/>
          </a:xfrm>
        </p:spPr>
        <p:txBody>
          <a:bodyPr>
            <a:normAutofit fontScale="90000"/>
          </a:bodyPr>
          <a:lstStyle/>
          <a:p>
            <a:r>
              <a:rPr lang="en-US" dirty="0"/>
              <a:t>Pumping water is a basic need and our solution will be not of much help to farmer. </a:t>
            </a:r>
            <a:endParaRPr lang="en-IN" dirty="0"/>
          </a:p>
        </p:txBody>
      </p:sp>
      <p:sp>
        <p:nvSpPr>
          <p:cNvPr id="4" name="Scroll: Vertical 3">
            <a:extLst>
              <a:ext uri="{FF2B5EF4-FFF2-40B4-BE49-F238E27FC236}">
                <a16:creationId xmlns:a16="http://schemas.microsoft.com/office/drawing/2014/main" id="{FC8B51ED-4FC4-4F7A-87E3-C59E251A2DF4}"/>
              </a:ext>
            </a:extLst>
          </p:cNvPr>
          <p:cNvSpPr/>
          <p:nvPr/>
        </p:nvSpPr>
        <p:spPr>
          <a:xfrm>
            <a:off x="5984628" y="3094893"/>
            <a:ext cx="5536811" cy="3284806"/>
          </a:xfrm>
          <a:prstGeom prst="verticalScrol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Can we list the reason why the existing solution is not feasible for framer </a:t>
            </a:r>
            <a:endParaRPr lang="en-IN" sz="2800" dirty="0"/>
          </a:p>
        </p:txBody>
      </p:sp>
      <p:pic>
        <p:nvPicPr>
          <p:cNvPr id="1026" name="Picture 2" descr="Key to productivity: take more breaks | HRD America">
            <a:extLst>
              <a:ext uri="{FF2B5EF4-FFF2-40B4-BE49-F238E27FC236}">
                <a16:creationId xmlns:a16="http://schemas.microsoft.com/office/drawing/2014/main" id="{0A3CF082-F304-4DAC-B4A3-55949415A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542" y="1860746"/>
            <a:ext cx="2857500" cy="287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6832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F5D10-6453-4482-BD7F-DA8CE68CF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05977"/>
            <a:ext cx="9905998" cy="816387"/>
          </a:xfrm>
        </p:spPr>
        <p:txBody>
          <a:bodyPr>
            <a:normAutofit/>
          </a:bodyPr>
          <a:lstStyle/>
          <a:p>
            <a:r>
              <a:rPr lang="en-US" dirty="0"/>
              <a:t>Basic problem with remote controlled pump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A55F35-AB1E-4B0F-9762-EDC8A5305A38}"/>
              </a:ext>
            </a:extLst>
          </p:cNvPr>
          <p:cNvSpPr txBox="1"/>
          <p:nvPr/>
        </p:nvSpPr>
        <p:spPr>
          <a:xfrm>
            <a:off x="1143001" y="1510410"/>
            <a:ext cx="725541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Is the pump actually pumping water</a:t>
            </a:r>
          </a:p>
          <a:p>
            <a:pPr marL="342900" indent="-342900">
              <a:buAutoNum type="arabicPeriod"/>
            </a:pPr>
            <a:r>
              <a:rPr lang="en-US" dirty="0"/>
              <a:t> Is the water reaching the farms</a:t>
            </a:r>
          </a:p>
          <a:p>
            <a:pPr marL="342900" indent="-342900">
              <a:buAutoNum type="arabicPeriod"/>
            </a:pPr>
            <a:r>
              <a:rPr lang="en-US" dirty="0"/>
              <a:t> Is the pump pumping enough water to farms</a:t>
            </a:r>
          </a:p>
          <a:p>
            <a:pPr marL="342900" indent="-342900">
              <a:buAutoNum type="arabicPeriod"/>
            </a:pPr>
            <a:r>
              <a:rPr lang="en-US" dirty="0"/>
              <a:t> What is the temperature of the pump (is it getting heated up)</a:t>
            </a:r>
          </a:p>
          <a:p>
            <a:pPr marL="342900" indent="-342900">
              <a:buAutoNum type="arabicPeriod"/>
            </a:pPr>
            <a:r>
              <a:rPr lang="en-US" dirty="0"/>
              <a:t> Is the pump working normally without any mechanical issues</a:t>
            </a:r>
          </a:p>
          <a:p>
            <a:pPr marL="342900" indent="-342900">
              <a:buAutoNum type="arabicPeriod"/>
            </a:pPr>
            <a:r>
              <a:rPr lang="en-US" dirty="0"/>
              <a:t> What is the power consumed by pump</a:t>
            </a:r>
          </a:p>
          <a:p>
            <a:pPr marL="342900" indent="-342900">
              <a:buAutoNum type="arabicPeriod"/>
            </a:pPr>
            <a:r>
              <a:rPr lang="en-US" dirty="0"/>
              <a:t> Is  water in the storage/well enough to start the pump</a:t>
            </a:r>
          </a:p>
          <a:p>
            <a:pPr marL="342900" indent="-342900">
              <a:buAutoNum type="arabicPeriod"/>
            </a:pPr>
            <a:r>
              <a:rPr lang="en-US" dirty="0"/>
              <a:t> Should we pump water periodically ? Or only when it is needed ?</a:t>
            </a:r>
          </a:p>
          <a:p>
            <a:pPr marL="342900" indent="-342900">
              <a:buAutoNum type="arabicPeriod"/>
            </a:pPr>
            <a:r>
              <a:rPr lang="en-US" dirty="0"/>
              <a:t>What is the weather in the farm. (Temperature, Humidity and wind)</a:t>
            </a:r>
          </a:p>
          <a:p>
            <a:pPr marL="342900" indent="-342900">
              <a:buAutoNum type="arabicPeriod"/>
            </a:pPr>
            <a:r>
              <a:rPr lang="en-US" dirty="0"/>
              <a:t>Is there a potential chance of rain any time soon ?</a:t>
            </a:r>
          </a:p>
          <a:p>
            <a:pPr marL="342900" indent="-342900">
              <a:buAutoNum type="arabicPeriod"/>
            </a:pPr>
            <a:r>
              <a:rPr lang="en-US" dirty="0"/>
              <a:t> How is the soil, does it have enough water content or it is getting dry ?</a:t>
            </a:r>
          </a:p>
          <a:p>
            <a:pPr marL="342900" indent="-342900">
              <a:buAutoNum type="arabicPeriod"/>
            </a:pPr>
            <a:r>
              <a:rPr lang="en-US" dirty="0"/>
              <a:t> How is the power situation in farm, are there are any power failures</a:t>
            </a:r>
          </a:p>
          <a:p>
            <a:pPr marL="342900" indent="-342900">
              <a:buAutoNum type="arabicPeriod"/>
            </a:pPr>
            <a:r>
              <a:rPr lang="en-US" dirty="0"/>
              <a:t> Are there any intruders (wild animals pest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342900" indent="-342900">
              <a:buAutoNum type="arabicPeriod"/>
            </a:pPr>
            <a:r>
              <a:rPr lang="en-US" dirty="0"/>
              <a:t> Pollution in the farms</a:t>
            </a:r>
          </a:p>
          <a:p>
            <a:pPr marL="342900" indent="-342900">
              <a:buAutoNum type="arabicPeriod"/>
            </a:pPr>
            <a:r>
              <a:rPr lang="en-US" dirty="0"/>
              <a:t> ……………………</a:t>
            </a:r>
          </a:p>
          <a:p>
            <a:pPr marL="342900" indent="-342900">
              <a:buAutoNum type="arabicPeriod"/>
            </a:pPr>
            <a:r>
              <a:rPr lang="en-US" dirty="0"/>
              <a:t>……………………………</a:t>
            </a:r>
          </a:p>
          <a:p>
            <a:endParaRPr lang="en-IN" dirty="0"/>
          </a:p>
        </p:txBody>
      </p:sp>
      <p:pic>
        <p:nvPicPr>
          <p:cNvPr id="2050" name="Picture 2" descr="Outlook Photo Gallery : A farmer looks in the sky in hope of rain ...">
            <a:extLst>
              <a:ext uri="{FF2B5EF4-FFF2-40B4-BE49-F238E27FC236}">
                <a16:creationId xmlns:a16="http://schemas.microsoft.com/office/drawing/2014/main" id="{78C3E94F-D284-40CE-89E3-9F80488B3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570" y="1563418"/>
            <a:ext cx="2628900" cy="173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3086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2A970-2FA7-4E60-AE65-BA1E3E96A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6024" y="734581"/>
            <a:ext cx="3557196" cy="2318112"/>
          </a:xfrm>
        </p:spPr>
        <p:txBody>
          <a:bodyPr/>
          <a:lstStyle/>
          <a:p>
            <a:r>
              <a:rPr lang="en-US" dirty="0"/>
              <a:t>IT cannot be  a DIY Solution or a prototype </a:t>
            </a:r>
            <a:endParaRPr lang="en-IN" dirty="0"/>
          </a:p>
        </p:txBody>
      </p:sp>
      <p:pic>
        <p:nvPicPr>
          <p:cNvPr id="4098" name="Picture 2" descr="Crystal radios">
            <a:extLst>
              <a:ext uri="{FF2B5EF4-FFF2-40B4-BE49-F238E27FC236}">
                <a16:creationId xmlns:a16="http://schemas.microsoft.com/office/drawing/2014/main" id="{8890DB76-0632-4ECC-B7F4-9A7A08FE0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8539" y="245419"/>
            <a:ext cx="3966203" cy="2982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duino Projects - Instructables">
            <a:extLst>
              <a:ext uri="{FF2B5EF4-FFF2-40B4-BE49-F238E27FC236}">
                <a16:creationId xmlns:a16="http://schemas.microsoft.com/office/drawing/2014/main" id="{13FD76EA-A0B6-4809-BADF-6EDD6644F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826" y="3512299"/>
            <a:ext cx="3541845" cy="295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e Coolest Arduino Projects You Can Build at Home | Digital Trends">
            <a:extLst>
              <a:ext uri="{FF2B5EF4-FFF2-40B4-BE49-F238E27FC236}">
                <a16:creationId xmlns:a16="http://schemas.microsoft.com/office/drawing/2014/main" id="{411A952C-BDA0-49EC-9D0D-17C3D0E18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3465880"/>
            <a:ext cx="3934701" cy="295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2779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8 Ways to Become the Most Reliable Person in the Room | Inc.com">
            <a:extLst>
              <a:ext uri="{FF2B5EF4-FFF2-40B4-BE49-F238E27FC236}">
                <a16:creationId xmlns:a16="http://schemas.microsoft.com/office/drawing/2014/main" id="{B36DD3C4-C780-47D9-A7A2-F488DD2DB0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075" y="3643532"/>
            <a:ext cx="5387925" cy="3030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4 Keys of Personal Reliability">
            <a:extLst>
              <a:ext uri="{FF2B5EF4-FFF2-40B4-BE49-F238E27FC236}">
                <a16:creationId xmlns:a16="http://schemas.microsoft.com/office/drawing/2014/main" id="{7B31F9C5-6A29-48E0-A98A-E691E76BB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057" y="142876"/>
            <a:ext cx="4938164" cy="3286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2C23467A-3F12-4A67-B01A-A14171C4FF5B}"/>
              </a:ext>
            </a:extLst>
          </p:cNvPr>
          <p:cNvSpPr txBox="1">
            <a:spLocks/>
          </p:cNvSpPr>
          <p:nvPr/>
        </p:nvSpPr>
        <p:spPr>
          <a:xfrm>
            <a:off x="1441524" y="429715"/>
            <a:ext cx="4654476" cy="175892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It has to be 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2170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13BB761-3E61-468B-943B-D4CBE3050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82415"/>
            <a:ext cx="9905998" cy="760116"/>
          </a:xfrm>
        </p:spPr>
        <p:txBody>
          <a:bodyPr/>
          <a:lstStyle/>
          <a:p>
            <a:r>
              <a:rPr lang="en-US" dirty="0"/>
              <a:t>Is the pump pumping enough water  ?.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5D8E83-5A9C-40B0-939E-7544A0F04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445457"/>
            <a:ext cx="2293032" cy="22930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292C62-271B-4E20-8763-83848BA61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7559" y="1739779"/>
            <a:ext cx="2121684" cy="174160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527FB9-EB72-41C0-A212-E523BC557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617" y="1093764"/>
            <a:ext cx="5093958" cy="319336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63EB2AA-C6FD-45EC-A0B7-F0E63A1E42C6}"/>
              </a:ext>
            </a:extLst>
          </p:cNvPr>
          <p:cNvSpPr txBox="1"/>
          <p:nvPr/>
        </p:nvSpPr>
        <p:spPr>
          <a:xfrm>
            <a:off x="1364318" y="4965896"/>
            <a:ext cx="9572557" cy="1200329"/>
          </a:xfrm>
          <a:prstGeom prst="rect">
            <a:avLst/>
          </a:prstGeom>
          <a:noFill/>
          <a:ln w="31750">
            <a:solidFill>
              <a:srgbClr val="FFFF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Each time when the magnet a passes near the Hall effect sensor, the sensor produces  an electric pulse.</a:t>
            </a:r>
          </a:p>
          <a:p>
            <a:r>
              <a:rPr lang="en-US" dirty="0"/>
              <a:t>No of pulses is proportional to the volume of water/fluid flowing through the pipe.</a:t>
            </a:r>
          </a:p>
          <a:p>
            <a:r>
              <a:rPr lang="en-US" dirty="0"/>
              <a:t>We cut the pipe and insert it into the pipe which carries water..</a:t>
            </a:r>
          </a:p>
          <a:p>
            <a:r>
              <a:rPr lang="en-US" dirty="0"/>
              <a:t>All we need to do is just count the no of pulses per minute which give is the flow.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2977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E81A1-D1C7-450F-9881-D8636841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6146"/>
            <a:ext cx="9905998" cy="923331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How do we interface this  Sensor with ESP32</a:t>
            </a:r>
            <a:endParaRPr lang="en-IN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533802-FD29-4E14-9CA1-CD2F3EC833E4}"/>
              </a:ext>
            </a:extLst>
          </p:cNvPr>
          <p:cNvSpPr txBox="1"/>
          <p:nvPr/>
        </p:nvSpPr>
        <p:spPr>
          <a:xfrm>
            <a:off x="1109538" y="2386823"/>
            <a:ext cx="10533184" cy="2862322"/>
          </a:xfrm>
          <a:prstGeom prst="rect">
            <a:avLst/>
          </a:prstGeom>
          <a:noFill/>
          <a:ln w="82550">
            <a:solidFill>
              <a:srgbClr val="FFFF00"/>
            </a:solidFill>
          </a:ln>
        </p:spPr>
        <p:txBody>
          <a:bodyPr wrap="square" rtlCol="0">
            <a:spAutoFit/>
          </a:bodyPr>
          <a:lstStyle/>
          <a:p>
            <a:endParaRPr lang="en-US" dirty="0">
              <a:latin typeface="Courier New" panose="02070309020205020404" pitchFamily="49" charset="0"/>
            </a:endParaRPr>
          </a:p>
          <a:p>
            <a:r>
              <a:rPr lang="en-US" sz="1800" dirty="0">
                <a:latin typeface="Courier New" panose="02070309020205020404" pitchFamily="49" charset="0"/>
              </a:rPr>
              <a:t>const int   </a:t>
            </a:r>
            <a:r>
              <a:rPr lang="en-US" sz="1800" dirty="0" err="1">
                <a:latin typeface="Courier New" panose="02070309020205020404" pitchFamily="49" charset="0"/>
              </a:rPr>
              <a:t>inputPIN</a:t>
            </a:r>
            <a:r>
              <a:rPr lang="en-US" sz="1800" dirty="0">
                <a:latin typeface="Courier New" panose="02070309020205020404" pitchFamily="49" charset="0"/>
              </a:rPr>
              <a:t>  = 4 ; //GPIO 4</a:t>
            </a:r>
          </a:p>
          <a:p>
            <a:endParaRPr lang="en-US" sz="1800" dirty="0">
              <a:latin typeface="Courier New" panose="02070309020205020404" pitchFamily="49" charset="0"/>
            </a:endParaRPr>
          </a:p>
          <a:p>
            <a:r>
              <a:rPr lang="en-US" sz="1800" dirty="0">
                <a:latin typeface="Courier New" panose="02070309020205020404" pitchFamily="49" charset="0"/>
              </a:rPr>
              <a:t>void ICACHE_RAM_ATTR </a:t>
            </a:r>
            <a:r>
              <a:rPr lang="en-US" sz="1800" dirty="0" err="1">
                <a:latin typeface="Courier New" panose="02070309020205020404" pitchFamily="49" charset="0"/>
              </a:rPr>
              <a:t>pin_ISR</a:t>
            </a:r>
            <a:r>
              <a:rPr lang="en-US" sz="1800" dirty="0">
                <a:latin typeface="Courier New" panose="02070309020205020404" pitchFamily="49" charset="0"/>
              </a:rPr>
              <a:t>()</a:t>
            </a:r>
          </a:p>
          <a:p>
            <a:r>
              <a:rPr lang="en-US" sz="1800" dirty="0">
                <a:latin typeface="Courier New" panose="02070309020205020404" pitchFamily="49" charset="0"/>
              </a:rPr>
              <a:t>{</a:t>
            </a:r>
          </a:p>
          <a:p>
            <a:r>
              <a:rPr lang="en-US" sz="1800" dirty="0">
                <a:latin typeface="Courier New" panose="02070309020205020404" pitchFamily="49" charset="0"/>
              </a:rPr>
              <a:t>  ticks++;</a:t>
            </a:r>
          </a:p>
          <a:p>
            <a:r>
              <a:rPr lang="en-US" sz="1800" dirty="0">
                <a:latin typeface="Courier New" panose="02070309020205020404" pitchFamily="49" charset="0"/>
              </a:rPr>
              <a:t>}</a:t>
            </a:r>
          </a:p>
          <a:p>
            <a:endParaRPr lang="en-IN" dirty="0"/>
          </a:p>
          <a:p>
            <a:r>
              <a:rPr lang="en-US" sz="1800" dirty="0" err="1">
                <a:latin typeface="Courier New" panose="02070309020205020404" pitchFamily="49" charset="0"/>
              </a:rPr>
              <a:t>attachInterrupt</a:t>
            </a:r>
            <a:r>
              <a:rPr lang="en-US" sz="1800" dirty="0">
                <a:latin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</a:rPr>
              <a:t>digitalPinToInterrupt</a:t>
            </a:r>
            <a:r>
              <a:rPr lang="en-US" sz="1800" dirty="0">
                <a:latin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</a:rPr>
              <a:t>inputPIN</a:t>
            </a:r>
            <a:r>
              <a:rPr lang="en-US" sz="1800" dirty="0">
                <a:latin typeface="Courier New" panose="02070309020205020404" pitchFamily="49" charset="0"/>
              </a:rPr>
              <a:t>), </a:t>
            </a:r>
            <a:r>
              <a:rPr lang="en-US" sz="1800" dirty="0" err="1">
                <a:latin typeface="Courier New" panose="02070309020205020404" pitchFamily="49" charset="0"/>
              </a:rPr>
              <a:t>pin_ISR</a:t>
            </a:r>
            <a:r>
              <a:rPr lang="en-US" sz="1800" dirty="0">
                <a:latin typeface="Courier New" panose="02070309020205020404" pitchFamily="49" charset="0"/>
              </a:rPr>
              <a:t>, RISING);</a:t>
            </a:r>
            <a:endParaRPr lang="en-IN" dirty="0"/>
          </a:p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CD9611-C928-446D-946D-8F79830F6633}"/>
              </a:ext>
            </a:extLst>
          </p:cNvPr>
          <p:cNvSpPr txBox="1"/>
          <p:nvPr/>
        </p:nvSpPr>
        <p:spPr>
          <a:xfrm>
            <a:off x="1109539" y="1264429"/>
            <a:ext cx="10533184" cy="923330"/>
          </a:xfrm>
          <a:prstGeom prst="rect">
            <a:avLst/>
          </a:prstGeom>
          <a:noFill/>
          <a:ln w="50800">
            <a:solidFill>
              <a:srgbClr val="FFFF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In the previous code we discussed, all we need to do is :  Just add the following routine connect the sensors </a:t>
            </a:r>
          </a:p>
          <a:p>
            <a:r>
              <a:rPr lang="en-US" dirty="0"/>
              <a:t>data pin to GPIO 4 and power up the sensor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FF8A7B-2B5E-4311-90E8-403A6EA0195E}"/>
              </a:ext>
            </a:extLst>
          </p:cNvPr>
          <p:cNvSpPr txBox="1"/>
          <p:nvPr/>
        </p:nvSpPr>
        <p:spPr>
          <a:xfrm>
            <a:off x="1109538" y="5448209"/>
            <a:ext cx="10533184" cy="923330"/>
          </a:xfrm>
          <a:prstGeom prst="rect">
            <a:avLst/>
          </a:prstGeom>
          <a:noFill/>
          <a:ln w="73025">
            <a:solidFill>
              <a:srgbClr val="FFFF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All we need to do is periodically take the value in global variable ticks and calculate the volume through put and reset the variable ticks.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2069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479660-A4FE-4E59-A302-140CFACE586A}"/>
              </a:ext>
            </a:extLst>
          </p:cNvPr>
          <p:cNvSpPr/>
          <p:nvPr/>
        </p:nvSpPr>
        <p:spPr>
          <a:xfrm>
            <a:off x="2577380" y="2967335"/>
            <a:ext cx="70372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>
                <a:ln/>
                <a:solidFill>
                  <a:schemeClr val="accent3"/>
                </a:solidFill>
                <a:effectLst/>
              </a:rPr>
              <a:t>Let us Review the Code </a:t>
            </a:r>
          </a:p>
        </p:txBody>
      </p:sp>
    </p:spTree>
    <p:extLst>
      <p:ext uri="{BB962C8B-B14F-4D97-AF65-F5344CB8AC3E}">
        <p14:creationId xmlns:p14="http://schemas.microsoft.com/office/powerpoint/2010/main" val="3879529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7000"/>
              </a:schemeClr>
            </a:gs>
            <a:gs pos="48000">
              <a:schemeClr val="accent5">
                <a:lumMod val="97000"/>
                <a:lumOff val="3000"/>
              </a:schemeClr>
            </a:gs>
            <a:gs pos="100000">
              <a:schemeClr val="accent5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D47F-014E-43B8-8E18-B96C3E98D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184" y="187215"/>
            <a:ext cx="9905998" cy="852473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There are few problems  with this approach</a:t>
            </a:r>
            <a:endParaRPr lang="en-IN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6DCB46-CAF6-43FD-B183-E7B16C1CA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184" y="1391480"/>
            <a:ext cx="9713842" cy="5279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2703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0E131-2291-4AEA-BBB7-AEA7E8C91F92}"/>
              </a:ext>
            </a:extLst>
          </p:cNvPr>
          <p:cNvSpPr txBox="1">
            <a:spLocks/>
          </p:cNvSpPr>
          <p:nvPr/>
        </p:nvSpPr>
        <p:spPr>
          <a:xfrm>
            <a:off x="1143001" y="200047"/>
            <a:ext cx="9905998" cy="774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all use Internet provided by local ISP </a:t>
            </a:r>
            <a:endParaRPr lang="en-IN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5E03B204-BD3F-4A77-9DF6-BEE52D64F3FB}"/>
              </a:ext>
            </a:extLst>
          </p:cNvPr>
          <p:cNvSpPr/>
          <p:nvPr/>
        </p:nvSpPr>
        <p:spPr>
          <a:xfrm>
            <a:off x="2407505" y="1202789"/>
            <a:ext cx="2642796" cy="1871003"/>
          </a:xfrm>
          <a:prstGeom prst="cloud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Farm Network (ISP-1)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wifi</a:t>
            </a:r>
            <a:r>
              <a:rPr lang="en-US" dirty="0"/>
              <a:t> at Farm)</a:t>
            </a:r>
            <a:endParaRPr lang="en-IN" dirty="0"/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C865DE76-86E6-4FDC-B031-7C4784118731}"/>
              </a:ext>
            </a:extLst>
          </p:cNvPr>
          <p:cNvSpPr/>
          <p:nvPr/>
        </p:nvSpPr>
        <p:spPr>
          <a:xfrm>
            <a:off x="9157653" y="1392702"/>
            <a:ext cx="2642796" cy="1871003"/>
          </a:xfrm>
          <a:prstGeom prst="cloud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 network (ISP-2)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Wifi</a:t>
            </a:r>
            <a:r>
              <a:rPr lang="en-US" dirty="0"/>
              <a:t> at home)</a:t>
            </a:r>
            <a:endParaRPr lang="en-IN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DE9907D-9251-47B1-A458-307A9C46379C}"/>
              </a:ext>
            </a:extLst>
          </p:cNvPr>
          <p:cNvSpPr/>
          <p:nvPr/>
        </p:nvSpPr>
        <p:spPr>
          <a:xfrm>
            <a:off x="872196" y="2883878"/>
            <a:ext cx="1702191" cy="371223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2" descr="Agricultural Pump - Agriculture Pump Latest Price, Manufacturers ...">
            <a:extLst>
              <a:ext uri="{FF2B5EF4-FFF2-40B4-BE49-F238E27FC236}">
                <a16:creationId xmlns:a16="http://schemas.microsoft.com/office/drawing/2014/main" id="{80CE8266-7B4D-496E-8BAC-83392F20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199" y="3263705"/>
            <a:ext cx="774184" cy="774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Electromagnetic Relay |HUIMULTD">
            <a:extLst>
              <a:ext uri="{FF2B5EF4-FFF2-40B4-BE49-F238E27FC236}">
                <a16:creationId xmlns:a16="http://schemas.microsoft.com/office/drawing/2014/main" id="{65FEEE45-F120-4FDD-AF2C-208A547C6B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199" y="4100648"/>
            <a:ext cx="845455" cy="845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entiot ESP-WROOM-32 ESP32 ESP-32S Development Board Micro Controller Board Electronic Hobby Kit">
            <a:extLst>
              <a:ext uri="{FF2B5EF4-FFF2-40B4-BE49-F238E27FC236}">
                <a16:creationId xmlns:a16="http://schemas.microsoft.com/office/drawing/2014/main" id="{B87B19ED-C72F-437D-BE9A-AEF276353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6985" y="5223318"/>
            <a:ext cx="1003882" cy="547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A1F38932-F06C-4EC6-BB25-BBB805EDD5CD}"/>
              </a:ext>
            </a:extLst>
          </p:cNvPr>
          <p:cNvSpPr/>
          <p:nvPr/>
        </p:nvSpPr>
        <p:spPr>
          <a:xfrm>
            <a:off x="8278905" y="4038028"/>
            <a:ext cx="3521544" cy="181615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AD6D90-27D9-49C1-9DEF-0A44492A16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7400" y="4443537"/>
            <a:ext cx="1005122" cy="123521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9C5473-7A95-43A5-8CC3-5BA73AE5BB16}"/>
              </a:ext>
            </a:extLst>
          </p:cNvPr>
          <p:cNvCxnSpPr>
            <a:cxnSpLocks/>
          </p:cNvCxnSpPr>
          <p:nvPr/>
        </p:nvCxnSpPr>
        <p:spPr>
          <a:xfrm flipH="1" flipV="1">
            <a:off x="4759799" y="2611725"/>
            <a:ext cx="1174957" cy="924134"/>
          </a:xfrm>
          <a:prstGeom prst="straightConnector1">
            <a:avLst/>
          </a:prstGeom>
          <a:ln w="730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CEF9384-1CB5-43E3-980E-3A7A4D1710C6}"/>
              </a:ext>
            </a:extLst>
          </p:cNvPr>
          <p:cNvCxnSpPr>
            <a:cxnSpLocks/>
          </p:cNvCxnSpPr>
          <p:nvPr/>
        </p:nvCxnSpPr>
        <p:spPr>
          <a:xfrm flipH="1">
            <a:off x="7610622" y="2883422"/>
            <a:ext cx="1576792" cy="1217226"/>
          </a:xfrm>
          <a:prstGeom prst="straightConnector1">
            <a:avLst/>
          </a:prstGeom>
          <a:ln w="730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4ED412-6416-402B-B32E-3C217293E230}"/>
              </a:ext>
            </a:extLst>
          </p:cNvPr>
          <p:cNvCxnSpPr>
            <a:cxnSpLocks/>
          </p:cNvCxnSpPr>
          <p:nvPr/>
        </p:nvCxnSpPr>
        <p:spPr>
          <a:xfrm flipH="1">
            <a:off x="2698519" y="3073792"/>
            <a:ext cx="527266" cy="995705"/>
          </a:xfrm>
          <a:prstGeom prst="straightConnector1">
            <a:avLst/>
          </a:prstGeom>
          <a:ln w="730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loud 13">
            <a:extLst>
              <a:ext uri="{FF2B5EF4-FFF2-40B4-BE49-F238E27FC236}">
                <a16:creationId xmlns:a16="http://schemas.microsoft.com/office/drawing/2014/main" id="{EAA7DCE3-616B-4C31-9428-E854F624E2D9}"/>
              </a:ext>
            </a:extLst>
          </p:cNvPr>
          <p:cNvSpPr/>
          <p:nvPr/>
        </p:nvSpPr>
        <p:spPr>
          <a:xfrm>
            <a:off x="5347277" y="3681516"/>
            <a:ext cx="2245802" cy="2146731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Public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</a:rPr>
              <a:t>Internet</a:t>
            </a:r>
            <a:endParaRPr lang="en-IN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758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F6389-C260-4632-8A83-8DAC03541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60709"/>
            <a:ext cx="9905998" cy="892230"/>
          </a:xfrm>
        </p:spPr>
        <p:txBody>
          <a:bodyPr/>
          <a:lstStyle/>
          <a:p>
            <a:pPr algn="ctr"/>
            <a:r>
              <a:rPr lang="en-US" dirty="0"/>
              <a:t>Instantaneous  data is not enough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7AE1DE-8D36-4EC5-B9E4-24F7F7EC0C02}"/>
              </a:ext>
            </a:extLst>
          </p:cNvPr>
          <p:cNvSpPr txBox="1"/>
          <p:nvPr/>
        </p:nvSpPr>
        <p:spPr>
          <a:xfrm>
            <a:off x="642730" y="1417983"/>
            <a:ext cx="10906540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pitchFamily="2" charset="2"/>
              <a:buChar char="ü"/>
            </a:pPr>
            <a:r>
              <a:rPr lang="en-US" sz="3600" dirty="0"/>
              <a:t>Instantaneous data is not always sufficient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00B0F0"/>
                </a:solidFill>
              </a:rPr>
              <a:t>What was the max and min temperature for the last 10 days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00B0F0"/>
                </a:solidFill>
              </a:rPr>
              <a:t>Is the mean temperature changing ?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00B0F0"/>
                </a:solidFill>
              </a:rPr>
              <a:t>Is humidity dropping compared to last 10 days ?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00B0F0"/>
                </a:solidFill>
              </a:rPr>
              <a:t>What the pattern on rail fall during the last 10 days ?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00B0F0"/>
                </a:solidFill>
              </a:rPr>
              <a:t>How is soil retaining moisture in the last one month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00B0F0"/>
                </a:solidFill>
              </a:rPr>
              <a:t>Water levels in local well/ponds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00B0F0"/>
                </a:solidFill>
              </a:rPr>
              <a:t>Has the pH level of soil changed after the use of fertilizers.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sz="3200" dirty="0"/>
              <a:t>We need access to historic data to make decisions  </a:t>
            </a:r>
          </a:p>
          <a:p>
            <a:r>
              <a:rPr lang="en-US" sz="3200" dirty="0"/>
              <a:t>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0924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57EFBA-38AA-4292-A8A7-9744AF998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36" y="275544"/>
            <a:ext cx="3179758" cy="34397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7A86BC-79D7-4052-9F5D-3BEF91A7DCEC}"/>
              </a:ext>
            </a:extLst>
          </p:cNvPr>
          <p:cNvSpPr txBox="1"/>
          <p:nvPr/>
        </p:nvSpPr>
        <p:spPr>
          <a:xfrm>
            <a:off x="4015408" y="2939612"/>
            <a:ext cx="7447722" cy="1938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need to store data with time stamps  in a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need to have multiple database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Different types of data need to be stored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Data need to be retrieved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Presented to the farmer in a usable way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C74E13-E031-46C1-A341-E35BBDBEFFE8}"/>
              </a:ext>
            </a:extLst>
          </p:cNvPr>
          <p:cNvSpPr/>
          <p:nvPr/>
        </p:nvSpPr>
        <p:spPr>
          <a:xfrm>
            <a:off x="2311807" y="5426765"/>
            <a:ext cx="804547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Affordable and Deployable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D34E2-E7CC-4589-A9CA-FFEA4C094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295" y="550226"/>
            <a:ext cx="1857375" cy="1257300"/>
          </a:xfrm>
          <a:prstGeom prst="rect">
            <a:avLst/>
          </a:prstGeom>
        </p:spPr>
      </p:pic>
      <p:pic>
        <p:nvPicPr>
          <p:cNvPr id="3078" name="Picture 6" descr="Download Centralized Database - Centralized Database Icon - Full ...">
            <a:extLst>
              <a:ext uri="{FF2B5EF4-FFF2-40B4-BE49-F238E27FC236}">
                <a16:creationId xmlns:a16="http://schemas.microsoft.com/office/drawing/2014/main" id="{13B35D4F-4E25-44E5-A6FC-87D87D51D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5716" y="437390"/>
            <a:ext cx="2220567" cy="1900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63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What is the relationship between temperature and humidity ...">
            <a:extLst>
              <a:ext uri="{FF2B5EF4-FFF2-40B4-BE49-F238E27FC236}">
                <a16:creationId xmlns:a16="http://schemas.microsoft.com/office/drawing/2014/main" id="{2C7E7A38-FBBC-40A4-BBBC-93EF6A445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785" y="227812"/>
            <a:ext cx="10626429" cy="6402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44721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oil Moisture Analysis">
            <a:extLst>
              <a:ext uri="{FF2B5EF4-FFF2-40B4-BE49-F238E27FC236}">
                <a16:creationId xmlns:a16="http://schemas.microsoft.com/office/drawing/2014/main" id="{61DCAE8C-BBFF-4E8A-A7BF-49F67D183C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880" y="361049"/>
            <a:ext cx="9696239" cy="6135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4286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992EB9-AA60-4618-8695-EC46514D0E7C}"/>
              </a:ext>
            </a:extLst>
          </p:cNvPr>
          <p:cNvSpPr/>
          <p:nvPr/>
        </p:nvSpPr>
        <p:spPr>
          <a:xfrm>
            <a:off x="1353169" y="1509596"/>
            <a:ext cx="9777228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Presenting the data to farmer is a</a:t>
            </a:r>
          </a:p>
          <a:p>
            <a:pPr algn="ctr"/>
            <a:r>
              <a:rPr lang="en-US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Very critical aspect.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BE2CA3-3B14-41E5-B1A2-6BCB82E3951B}"/>
              </a:ext>
            </a:extLst>
          </p:cNvPr>
          <p:cNvSpPr/>
          <p:nvPr/>
        </p:nvSpPr>
        <p:spPr>
          <a:xfrm>
            <a:off x="2820814" y="4358813"/>
            <a:ext cx="6841938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Design Thinking comes</a:t>
            </a:r>
          </a:p>
          <a:p>
            <a:pPr algn="ctr"/>
            <a:r>
              <a:rPr lang="en-US" sz="54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into picture</a:t>
            </a:r>
            <a:endParaRPr lang="en-US" sz="5400" b="1" cap="none" spc="0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57347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D933F7-5A51-4D15-A500-7B61F4C4DF8D}"/>
              </a:ext>
            </a:extLst>
          </p:cNvPr>
          <p:cNvSpPr/>
          <p:nvPr/>
        </p:nvSpPr>
        <p:spPr>
          <a:xfrm>
            <a:off x="975887" y="2967335"/>
            <a:ext cx="10240239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Necessity it he mother of Invention</a:t>
            </a:r>
          </a:p>
          <a:p>
            <a:pPr algn="ctr"/>
            <a:endParaRPr lang="en-US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2023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838685-3CEF-48DE-B655-7AC42615EEF8}"/>
              </a:ext>
            </a:extLst>
          </p:cNvPr>
          <p:cNvSpPr/>
          <p:nvPr/>
        </p:nvSpPr>
        <p:spPr>
          <a:xfrm>
            <a:off x="418967" y="2397492"/>
            <a:ext cx="11354070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This is what leads us to the need of an</a:t>
            </a:r>
          </a:p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IoT platform</a:t>
            </a:r>
          </a:p>
        </p:txBody>
      </p:sp>
    </p:spTree>
    <p:extLst>
      <p:ext uri="{BB962C8B-B14F-4D97-AF65-F5344CB8AC3E}">
        <p14:creationId xmlns:p14="http://schemas.microsoft.com/office/powerpoint/2010/main" val="15823942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44172387-8734-49B7-A973-10FD6E982107}"/>
              </a:ext>
            </a:extLst>
          </p:cNvPr>
          <p:cNvSpPr/>
          <p:nvPr/>
        </p:nvSpPr>
        <p:spPr>
          <a:xfrm>
            <a:off x="463825" y="4903305"/>
            <a:ext cx="3154018" cy="1789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Collect Data</a:t>
            </a:r>
            <a:endParaRPr lang="en-IN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F0C9402-ADF2-4889-9829-464E1DC71387}"/>
              </a:ext>
            </a:extLst>
          </p:cNvPr>
          <p:cNvSpPr/>
          <p:nvPr/>
        </p:nvSpPr>
        <p:spPr>
          <a:xfrm>
            <a:off x="3458817" y="3578088"/>
            <a:ext cx="3154018" cy="1789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Store Data</a:t>
            </a:r>
            <a:endParaRPr lang="en-IN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C080313-BC37-4C43-86AC-68BACF7382F3}"/>
              </a:ext>
            </a:extLst>
          </p:cNvPr>
          <p:cNvSpPr/>
          <p:nvPr/>
        </p:nvSpPr>
        <p:spPr>
          <a:xfrm>
            <a:off x="8116955" y="583095"/>
            <a:ext cx="4075045" cy="1789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Present the information</a:t>
            </a:r>
            <a:endParaRPr lang="en-IN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DDB5FB1-6C0F-44EB-82A1-FEC813CCE1AA}"/>
              </a:ext>
            </a:extLst>
          </p:cNvPr>
          <p:cNvSpPr/>
          <p:nvPr/>
        </p:nvSpPr>
        <p:spPr>
          <a:xfrm>
            <a:off x="6251712" y="2226367"/>
            <a:ext cx="3154018" cy="1789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Analyze data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73837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8D1E14"/>
      </a:dk2>
      <a:lt2>
        <a:srgbClr val="FF744E"/>
      </a:lt2>
      <a:accent1>
        <a:srgbClr val="E9B758"/>
      </a:accent1>
      <a:accent2>
        <a:srgbClr val="FE8943"/>
      </a:accent2>
      <a:accent3>
        <a:srgbClr val="AEA27C"/>
      </a:accent3>
      <a:accent4>
        <a:srgbClr val="90B46E"/>
      </a:accent4>
      <a:accent5>
        <a:srgbClr val="71AEC1"/>
      </a:accent5>
      <a:accent6>
        <a:srgbClr val="C98DE7"/>
      </a:accent6>
      <a:hlink>
        <a:srgbClr val="FF7A22"/>
      </a:hlink>
      <a:folHlink>
        <a:srgbClr val="FDCD8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88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2000"/>
                <a:satMod val="150000"/>
                <a:lumMod val="15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971C58-AB76-4A2A-B231-5F8CA03CF49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2673</TotalTime>
  <Words>755</Words>
  <Application>Microsoft Office PowerPoint</Application>
  <PresentationFormat>Widescreen</PresentationFormat>
  <Paragraphs>93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Courier New</vt:lpstr>
      <vt:lpstr>Tw Cen MT</vt:lpstr>
      <vt:lpstr>Wingdings</vt:lpstr>
      <vt:lpstr>Circuit</vt:lpstr>
      <vt:lpstr>Dilemma of a modern day farmer </vt:lpstr>
      <vt:lpstr> Knowledgeable  and talented people  who understand the science of agriculture is getting into farming </vt:lpstr>
      <vt:lpstr>Modern Day Farmer</vt:lpstr>
      <vt:lpstr>Pumping water is a basic need and our solution will be not of much help to farmer. </vt:lpstr>
      <vt:lpstr>Basic problem with remote controlled pump</vt:lpstr>
      <vt:lpstr>IT cannot be  a DIY Solution or a prototype </vt:lpstr>
      <vt:lpstr>PowerPoint Presentation</vt:lpstr>
      <vt:lpstr>Is the pump pumping enough water  ?.</vt:lpstr>
      <vt:lpstr>How do we interface this  Sensor with ESP32</vt:lpstr>
      <vt:lpstr>PowerPoint Presentation</vt:lpstr>
      <vt:lpstr>There are few problems  with this approach</vt:lpstr>
      <vt:lpstr>PowerPoint Presentation</vt:lpstr>
      <vt:lpstr>Instantaneous  data is not enough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fundamentals</dc:title>
  <dc:creator>Girish Kumar</dc:creator>
  <cp:lastModifiedBy>Girish Kumar</cp:lastModifiedBy>
  <cp:revision>95</cp:revision>
  <dcterms:created xsi:type="dcterms:W3CDTF">2020-07-17T04:46:15Z</dcterms:created>
  <dcterms:modified xsi:type="dcterms:W3CDTF">2020-07-23T13:31:25Z</dcterms:modified>
</cp:coreProperties>
</file>